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3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tags/tag4_tf1.xml" ContentType="application/vnd.openxmlformats-officedocument.presentationml.tags+xml"/>
  <Override PartName="/ppt/tags/tag3_tf1.xml" ContentType="application/vnd.openxmlformats-officedocument.presentationml.tags+xml"/>
  <Override PartName="/ppt/tags/tag2_tf1.xml" ContentType="application/vnd.openxmlformats-officedocument.presentationml.tags+xml"/>
  <Override PartName="/ppt/tags/tag1_tf1.xml" ContentType="application/vnd.openxmlformats-officedocument.presentationml.tags+xml"/>
  <Override PartName="/ppt/tags/tag13_tf1.xml" ContentType="application/vnd.openxmlformats-officedocument.presentationml.tags+xml"/>
  <Override PartName="/ppt/tags/tag12_tf1.xml" ContentType="application/vnd.openxmlformats-officedocument.presentationml.tags+xml"/>
  <Override PartName="/ppt/tags/tag11_tf1.xml" ContentType="application/vnd.openxmlformats-officedocument.presentationml.tags+xml"/>
  <Override PartName="/ppt/tags/tag10_tf1.xml" ContentType="application/vnd.openxmlformats-officedocument.presentationml.tags+xml"/>
  <Override PartName="/ppt/tags/tag9_tf1.xml" ContentType="application/vnd.openxmlformats-officedocument.presentationml.tags+xml"/>
  <Override PartName="/ppt/tags/tag8_tf1.xml" ContentType="application/vnd.openxmlformats-officedocument.presentationml.tags+xml"/>
  <Override PartName="/ppt/tags/tag7_tf1.xml" ContentType="application/vnd.openxmlformats-officedocument.presentationml.tags+xml"/>
  <Override PartName="/ppt/tags/tag6_tf1.xml" ContentType="application/vnd.openxmlformats-officedocument.presentationml.tags+xml"/>
  <Override PartName="/ppt/tags/tag16_tf1.xml" ContentType="application/vnd.openxmlformats-officedocument.presentationml.tags+xml"/>
  <Override PartName="/ppt/tags/tag15_tf1.xml" ContentType="application/vnd.openxmlformats-officedocument.presentationml.tags+xml"/>
  <Override PartName="/ppt/tags/tag14_tf1.xml" ContentType="application/vnd.openxmlformats-officedocument.presentationml.tags+xml"/>
  <Override PartName="/ppt/tags/tag5_tf1.xml" ContentType="application/vnd.openxmlformats-officedocument.presentationml.tags+xml"/>
  <Override PartName="/ppt/tags/tag23_tf1.xml" ContentType="application/vnd.openxmlformats-officedocument.presentationml.tags+xml"/>
  <Override PartName="/ppt/tags/tag22_tf1.xml" ContentType="application/vnd.openxmlformats-officedocument.presentationml.tags+xml"/>
  <Override PartName="/ppt/tags/tag21_tf1.xml" ContentType="application/vnd.openxmlformats-officedocument.presentationml.tags+xml"/>
  <Override PartName="/ppt/tags/tag20_tf1.xml" ContentType="application/vnd.openxmlformats-officedocument.presentationml.tags+xml"/>
  <Override PartName="/ppt/tags/tag19_tf1.xml" ContentType="application/vnd.openxmlformats-officedocument.presentationml.tags+xml"/>
  <Override PartName="/ppt/tags/tag18_tf1.xml" ContentType="application/vnd.openxmlformats-officedocument.presentationml.tags+xml"/>
  <Override PartName="/ppt/tags/tag25_tf1.xml" ContentType="application/vnd.openxmlformats-officedocument.presentationml.tags+xml"/>
  <Override PartName="/ppt/tags/tag24_tf1.xml" ContentType="application/vnd.openxmlformats-officedocument.presentationml.tags+xml"/>
  <Override PartName="/ppt/tags/tag17_tf1.xml" ContentType="application/vnd.openxmlformats-officedocument.presentationml.tags+xml"/>
  <Override PartName="/ppt/tags/tag23_tf2.xml" ContentType="application/vnd.openxmlformats-officedocument.presentationml.tags+xml"/>
  <Override PartName="/ppt/tags/tag22_tf2.xml" ContentType="application/vnd.openxmlformats-officedocument.presentationml.tags+xml"/>
  <Override PartName="/ppt/tags/tag21_tf2.xml" ContentType="application/vnd.openxmlformats-officedocument.presentationml.tags+xml"/>
  <Override PartName="/ppt/tags/tag20_tf2.xml" ContentType="application/vnd.openxmlformats-officedocument.presentationml.tags+xml"/>
  <Override PartName="/ppt/tags/tag19_tf2.xml" ContentType="application/vnd.openxmlformats-officedocument.presentationml.tags+xml"/>
  <Override PartName="/ppt/tags/tag18_tf2.xml" ContentType="application/vnd.openxmlformats-officedocument.presentationml.tags+xml"/>
  <Override PartName="/ppt/tags/tag25_tf2.xml" ContentType="application/vnd.openxmlformats-officedocument.presentationml.tags+xml"/>
  <Override PartName="/ppt/tags/tag24_tf2.xml" ContentType="application/vnd.openxmlformats-officedocument.presentationml.tags+xml"/>
  <Override PartName="/ppt/tags/tag17_tf2.xml" ContentType="application/vnd.openxmlformats-officedocument.presentationml.tag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Slides/notesSlide1_tf1.xml" ContentType="application/vnd.openxmlformats-officedocument.presentationml.notesSlide+xml"/>
  <Override PartName="/ppt/tags/tag29_tf1.xml" ContentType="application/vnd.openxmlformats-officedocument.presentationml.tags+xml"/>
  <Override PartName="/ppt/tags/tag28_tf1.xml" ContentType="application/vnd.openxmlformats-officedocument.presentationml.tags+xml"/>
  <Override PartName="/ppt/tags/tag27_tf1.xml" ContentType="application/vnd.openxmlformats-officedocument.presentationml.tags+xml"/>
  <Override PartName="/ppt/tags/tag26_tf1.xml" ContentType="application/vnd.openxmlformats-officedocument.presentationml.tags+xml"/>
  <Override PartName="/ppt/slides/slide18.xml" ContentType="application/vnd.openxmlformats-officedocument.presentationml.slide+xml"/>
  <Override PartName="/ppt/charts/chart1201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76145"/>
    <a:srgbClr val="7F7F7F"/>
    <a:srgbClr val="D9D9D9"/>
    <a:srgbClr val="055E40"/>
    <a:srgbClr val="071F65"/>
    <a:srgbClr val="0B10CF"/>
    <a:srgbClr val="7B8FC7"/>
    <a:srgbClr val="3C518C"/>
    <a:srgbClr val="4C66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74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1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2" Type="http://schemas.openxmlformats.org/officeDocument/2006/relationships/theme" Target="theme/theme1.xml" /><Relationship Id="rId19" Type="http://schemas.openxmlformats.org/officeDocument/2006/relationships/tags" Target="tags/tag30.xml" /><Relationship Id="rId18" Type="http://schemas.openxmlformats.org/officeDocument/2006/relationships/tableStyles" Target="tableStyles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5" Type="http://schemas.openxmlformats.org/officeDocument/2006/relationships/handoutMaster" Target="handoutMasters/handoutMaster1.xml" /><Relationship Id="rId14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20" Type="http://schemas.openxmlformats.org/officeDocument/2006/relationships/slide" Target="slides/slide1.xml" /><Relationship Id="rId21" Type="http://schemas.openxmlformats.org/officeDocument/2006/relationships/slide" Target="slides/slide2.xml" /><Relationship Id="rId22" Type="http://schemas.openxmlformats.org/officeDocument/2006/relationships/slide" Target="slides/slide3.xml" /><Relationship Id="rId23" Type="http://schemas.openxmlformats.org/officeDocument/2006/relationships/slide" Target="slides/slide4.xml" /><Relationship Id="rId24" Type="http://schemas.openxmlformats.org/officeDocument/2006/relationships/slide" Target="slides/slide5.xml" /><Relationship Id="rId25" Type="http://schemas.openxmlformats.org/officeDocument/2006/relationships/slide" Target="slides/slide6.xml" /><Relationship Id="rId26" Type="http://schemas.openxmlformats.org/officeDocument/2006/relationships/slide" Target="slides/slide7.xml" /><Relationship Id="rId27" Type="http://schemas.openxmlformats.org/officeDocument/2006/relationships/slide" Target="slides/slide8.xml" /><Relationship Id="rId28" Type="http://schemas.openxmlformats.org/officeDocument/2006/relationships/slide" Target="slides/slide9.xml" /><Relationship Id="rId29" Type="http://schemas.openxmlformats.org/officeDocument/2006/relationships/slide" Target="slides/slide10.xml" /><Relationship Id="rId30" Type="http://schemas.openxmlformats.org/officeDocument/2006/relationships/slide" Target="slides/slide11.xml" /><Relationship Id="rId31" Type="http://schemas.openxmlformats.org/officeDocument/2006/relationships/slide" Target="slides/slide12.xml" /><Relationship Id="rId32" Type="http://schemas.openxmlformats.org/officeDocument/2006/relationships/slide" Target="slides/slide13.xml" /><Relationship Id="rId33" Type="http://schemas.openxmlformats.org/officeDocument/2006/relationships/slide" Target="slides/slide14.xml" /><Relationship Id="rId34" Type="http://schemas.openxmlformats.org/officeDocument/2006/relationships/slide" Target="slides/slide15.xml" /><Relationship Id="rId35" Type="http://schemas.openxmlformats.org/officeDocument/2006/relationships/slide" Target="slides/slide16.xml" /><Relationship Id="rId36" Type="http://schemas.openxmlformats.org/officeDocument/2006/relationships/slide" Target="slides/slide17.xml" /><Relationship Id="rId37" Type="http://schemas.openxmlformats.org/officeDocument/2006/relationships/slide" Target="slides/slide18.xml" /></Relationships>
</file>

<file path=ppt/charts/_rels/chart12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1201.xlsx"/>
</Relationships>
</file>

<file path=ppt/charts/chart12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活动单元数量</c:v>
                </c:pt>
              </c:strCache>
            </c:strRef>
          </c:tx>
          <c:spPr>
            <a:solidFill>
              <a:srgbClr val="076145"/>
            </a:solidFill>
            <a:ln>
              <a:solidFill>
                <a:srgbClr val="076145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独立对应型</c:v>
                </c:pt>
                <c:pt idx="1">
                  <c:v>内部多组型</c:v>
                </c:pt>
                <c:pt idx="2">
                  <c:v>独立跨界型</c:v>
                </c:pt>
                <c:pt idx="3">
                  <c:v>复合对应型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</c:v>
                </c:pt>
                <c:pt idx="1">
                  <c:v>75</c:v>
                </c:pt>
                <c:pt idx="2">
                  <c:v>22</c:v>
                </c:pt>
                <c:pt idx="3">
                  <c:v>25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lang="zh-CN" sz="1650">
                  <a:solidFill>
                    <a:srgbClr val="263D35"/>
                  </a:solidFill>
                  <a:latin typeface="Microsoft YaHei"/>
                  <a:ea typeface="Microsoft YaHei"/>
                  <a:cs typeface="Microsoft YaHei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 cap="flat" cmpd="sng" algn="ctr">
            <a:solidFill>
              <a:srgbClr val="AFC5B9"/>
            </a:solidFill>
            <a:round/>
          </a:ln>
        </c:spPr>
        <c:txPr>
          <a:bodyPr/>
          <a:lstStyle/>
          <a:p>
            <a:pPr>
              <a:defRPr lang="zh-CN" sz="165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80"/>
          <c:min val="0"/>
        </c:scaling>
        <c:delete val="0"/>
        <c:axPos val="b"/>
        <c:majorGridlines>
          <c:spPr>
            <a:ln w="6350" cap="flat" cmpd="sng" algn="ctr">
              <a:solidFill>
                <a:srgbClr val="DCE8E1"/>
              </a:solidFill>
              <a:round/>
            </a:ln>
          </c:spPr>
        </c:majorGridlines>
        <c:majorTickMark val="none"/>
        <c:minorTickMark val="none"/>
        <c:tickLblPos val="nextTo"/>
        <c:spPr>
          <a:ln w="9525" cap="flat" cmpd="sng" algn="ctr">
            <a:solidFill>
              <a:srgbClr val="AFC5B9"/>
            </a:solidFill>
            <a:round/>
          </a:ln>
        </c:spPr>
        <c:txPr>
          <a:bodyPr/>
          <a:lstStyle/>
          <a:p>
            <a:pPr>
              <a:defRPr lang="zh-CN" sz="165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068027336"/>
        <c:crosses val="max"/>
        <c:crossBetween val="between"/>
        <c:majorUnit val="20"/>
      </c:valAx>
      <c:spPr>
        <a:solidFill>
          <a:srgbClr val="FFFFFF"/>
        </a:solidFill>
        <a:ln>
          <a:noFill/>
        </a:ln>
      </c:spPr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pPr>
        <a:defRPr lang="zh-CN" sz="1650">
          <a:solidFill>
            <a:srgbClr val="263D35"/>
          </a:solidFill>
          <a:latin typeface="Microsoft YaHei"/>
          <a:ea typeface="Microsoft YaHei"/>
          <a:cs typeface="Microsoft YaHei"/>
        </a:defRPr>
      </a:pPr>
      <a:endParaRPr lang="zh-CN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14EB27-F56E-4B38-A64D-77E916C7E3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F0C2E0-DB0F-47C5-A43C-C8ACA6B3255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_tf1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18.xml" /></Relationships>
</file>

<file path=ppt/notesSlides/notesSlide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淘宝-想搞设计PPT(倒卖必究)-8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rgbClr val="0761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淘宝-想搞设计PPT(倒卖必究)-50"/>
          <p:cNvSpPr/>
          <p:nvPr userDrawn="1"/>
        </p:nvSpPr>
        <p:spPr bwMode="auto">
          <a:xfrm>
            <a:off x="1747495" y="1302963"/>
            <a:ext cx="842414" cy="1683242"/>
          </a:xfrm>
          <a:custGeom>
            <a:avLst/>
            <a:gdLst>
              <a:gd name="T0" fmla="*/ 1191 w 1191"/>
              <a:gd name="T1" fmla="*/ 2372 h 2372"/>
              <a:gd name="T2" fmla="*/ 0 w 1191"/>
              <a:gd name="T3" fmla="*/ 2372 h 2372"/>
              <a:gd name="T4" fmla="*/ 0 w 1191"/>
              <a:gd name="T5" fmla="*/ 0 h 2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91" h="2372">
                <a:moveTo>
                  <a:pt x="1191" y="2372"/>
                </a:moveTo>
                <a:lnTo>
                  <a:pt x="0" y="2372"/>
                </a:lnTo>
                <a:lnTo>
                  <a:pt x="0" y="0"/>
                </a:lnTo>
              </a:path>
            </a:pathLst>
          </a:custGeom>
          <a:noFill/>
          <a:ln w="12700" cap="flat">
            <a:solidFill>
              <a:srgbClr val="FFFFFF"/>
            </a:solidFill>
            <a:prstDash val="dash"/>
            <a:miter lim="800000"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80" tIns="45690" rIns="91380" bIns="45690" numCol="1" anchor="t" anchorCtr="0" compatLnSpc="1"/>
          <a:lstStyle/>
          <a:p>
            <a:endParaRPr lang="zh-CN" altLang="en-US" sz="1800">
              <a:solidFill>
                <a:srgbClr val="447A8D"/>
              </a:solidFill>
            </a:endParaRPr>
          </a:p>
        </p:txBody>
      </p:sp>
      <p:sp>
        <p:nvSpPr>
          <p:cNvPr id="51" name="淘宝-想搞设计PPT(倒卖必究)-51"/>
          <p:cNvSpPr/>
          <p:nvPr userDrawn="1"/>
        </p:nvSpPr>
        <p:spPr bwMode="auto">
          <a:xfrm>
            <a:off x="5439205" y="1302963"/>
            <a:ext cx="493392" cy="1683242"/>
          </a:xfrm>
          <a:custGeom>
            <a:avLst/>
            <a:gdLst>
              <a:gd name="T0" fmla="*/ 697 w 697"/>
              <a:gd name="T1" fmla="*/ 2372 h 2372"/>
              <a:gd name="T2" fmla="*/ 0 w 697"/>
              <a:gd name="T3" fmla="*/ 2372 h 2372"/>
              <a:gd name="T4" fmla="*/ 0 w 697"/>
              <a:gd name="T5" fmla="*/ 0 h 2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97" h="2372">
                <a:moveTo>
                  <a:pt x="697" y="2372"/>
                </a:moveTo>
                <a:lnTo>
                  <a:pt x="0" y="2372"/>
                </a:lnTo>
                <a:lnTo>
                  <a:pt x="0" y="0"/>
                </a:lnTo>
              </a:path>
            </a:pathLst>
          </a:custGeom>
          <a:noFill/>
          <a:ln w="9525" cap="flat">
            <a:solidFill>
              <a:srgbClr val="FFFFFF"/>
            </a:solidFill>
            <a:prstDash val="dash"/>
            <a:miter lim="800000"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80" tIns="45690" rIns="91380" bIns="45690" numCol="1" anchor="t" anchorCtr="0" compatLnSpc="1"/>
          <a:lstStyle/>
          <a:p>
            <a:endParaRPr lang="zh-CN" altLang="en-US" sz="1800">
              <a:solidFill>
                <a:srgbClr val="447A8D"/>
              </a:solidFill>
            </a:endParaRPr>
          </a:p>
        </p:txBody>
      </p:sp>
      <p:sp>
        <p:nvSpPr>
          <p:cNvPr id="52" name="淘宝-想搞设计PPT(倒卖必究)-52"/>
          <p:cNvSpPr/>
          <p:nvPr userDrawn="1"/>
        </p:nvSpPr>
        <p:spPr bwMode="auto">
          <a:xfrm>
            <a:off x="8756507" y="1302963"/>
            <a:ext cx="523534" cy="1683242"/>
          </a:xfrm>
          <a:custGeom>
            <a:avLst/>
            <a:gdLst>
              <a:gd name="T0" fmla="*/ 741 w 741"/>
              <a:gd name="T1" fmla="*/ 2372 h 2372"/>
              <a:gd name="T2" fmla="*/ 0 w 741"/>
              <a:gd name="T3" fmla="*/ 2372 h 2372"/>
              <a:gd name="T4" fmla="*/ 0 w 741"/>
              <a:gd name="T5" fmla="*/ 0 h 2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41" h="2372">
                <a:moveTo>
                  <a:pt x="741" y="2372"/>
                </a:moveTo>
                <a:lnTo>
                  <a:pt x="0" y="2372"/>
                </a:lnTo>
                <a:lnTo>
                  <a:pt x="0" y="0"/>
                </a:lnTo>
              </a:path>
            </a:pathLst>
          </a:custGeom>
          <a:noFill/>
          <a:ln w="9525" cap="flat">
            <a:solidFill>
              <a:srgbClr val="FFFFFF"/>
            </a:solidFill>
            <a:prstDash val="dash"/>
            <a:miter lim="800000"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80" tIns="45690" rIns="91380" bIns="45690" numCol="1" anchor="t" anchorCtr="0" compatLnSpc="1"/>
          <a:lstStyle/>
          <a:p>
            <a:endParaRPr lang="zh-CN" altLang="en-US" sz="1800">
              <a:solidFill>
                <a:srgbClr val="447A8D"/>
              </a:solidFill>
            </a:endParaRPr>
          </a:p>
        </p:txBody>
      </p:sp>
      <p:pic>
        <p:nvPicPr>
          <p:cNvPr id="95" name="Picture 94" descr="南京林业大学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732" y="427587"/>
            <a:ext cx="1470932" cy="370190"/>
          </a:xfrm>
          <a:prstGeom prst="rect">
            <a:avLst/>
          </a:prstGeom>
        </p:spPr>
      </p:pic>
      <p:graphicFrame>
        <p:nvGraphicFramePr>
          <p:cNvPr id="3" name="淘宝-想搞设计PPT(倒卖必究)-6"/>
          <p:cNvGraphicFramePr>
            <a:graphicFrameLocks noGrp="1"/>
          </p:cNvGraphicFramePr>
          <p:nvPr userDrawn="1"/>
        </p:nvGraphicFramePr>
        <p:xfrm>
          <a:off x="0" y="1268760"/>
          <a:ext cx="1691680" cy="475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dirty="0">
                          <a:solidFill>
                            <a:srgbClr val="0761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总体研究进度</a:t>
                      </a:r>
                      <a:endParaRPr lang="zh-CN" altLang="en-US" sz="1600" dirty="0">
                        <a:solidFill>
                          <a:srgbClr val="07614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数据采集情况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研究方法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论文提纲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阶段性研究结果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未来工作安排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淘宝-想搞设计PPT(倒卖必究)-8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rgbClr val="0761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Picture 94" descr="南京林业大学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732" y="427587"/>
            <a:ext cx="1470932" cy="370190"/>
          </a:xfrm>
          <a:prstGeom prst="rect">
            <a:avLst/>
          </a:prstGeom>
        </p:spPr>
      </p:pic>
      <p:graphicFrame>
        <p:nvGraphicFramePr>
          <p:cNvPr id="4" name="淘宝-想搞设计PPT(倒卖必究)-6"/>
          <p:cNvGraphicFramePr>
            <a:graphicFrameLocks noGrp="1"/>
          </p:cNvGraphicFramePr>
          <p:nvPr userDrawn="1"/>
        </p:nvGraphicFramePr>
        <p:xfrm>
          <a:off x="0" y="1268760"/>
          <a:ext cx="1691680" cy="475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总体研究进度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9200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dirty="0">
                          <a:solidFill>
                            <a:srgbClr val="0761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数据采集情况</a:t>
                      </a:r>
                      <a:endParaRPr lang="zh-CN" altLang="en-US" sz="1600" dirty="0">
                        <a:solidFill>
                          <a:srgbClr val="07614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研究方法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论文提纲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阶段性研究结果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未来工作安排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淘宝-想搞设计PPT(倒卖必究)-8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rgbClr val="0761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淘宝-想搞设计PPT(倒卖必究)-50"/>
          <p:cNvSpPr/>
          <p:nvPr userDrawn="1"/>
        </p:nvSpPr>
        <p:spPr bwMode="auto">
          <a:xfrm>
            <a:off x="1747495" y="1302963"/>
            <a:ext cx="842414" cy="1683242"/>
          </a:xfrm>
          <a:custGeom>
            <a:avLst/>
            <a:gdLst>
              <a:gd name="T0" fmla="*/ 1191 w 1191"/>
              <a:gd name="T1" fmla="*/ 2372 h 2372"/>
              <a:gd name="T2" fmla="*/ 0 w 1191"/>
              <a:gd name="T3" fmla="*/ 2372 h 2372"/>
              <a:gd name="T4" fmla="*/ 0 w 1191"/>
              <a:gd name="T5" fmla="*/ 0 h 2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91" h="2372">
                <a:moveTo>
                  <a:pt x="1191" y="2372"/>
                </a:moveTo>
                <a:lnTo>
                  <a:pt x="0" y="2372"/>
                </a:lnTo>
                <a:lnTo>
                  <a:pt x="0" y="0"/>
                </a:lnTo>
              </a:path>
            </a:pathLst>
          </a:custGeom>
          <a:noFill/>
          <a:ln w="12700" cap="flat">
            <a:solidFill>
              <a:srgbClr val="FFFFFF"/>
            </a:solidFill>
            <a:prstDash val="dash"/>
            <a:miter lim="800000"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80" tIns="45690" rIns="91380" bIns="45690" numCol="1" anchor="t" anchorCtr="0" compatLnSpc="1"/>
          <a:p>
            <a:endParaRPr lang="zh-CN" altLang="en-US" sz="1800">
              <a:solidFill>
                <a:srgbClr val="447A8D"/>
              </a:solidFill>
            </a:endParaRPr>
          </a:p>
        </p:txBody>
      </p:sp>
      <p:pic>
        <p:nvPicPr>
          <p:cNvPr id="95" name="Picture 94" descr="南京林业大学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732" y="427587"/>
            <a:ext cx="1470932" cy="370190"/>
          </a:xfrm>
          <a:prstGeom prst="rect">
            <a:avLst/>
          </a:prstGeom>
        </p:spPr>
      </p:pic>
      <p:graphicFrame>
        <p:nvGraphicFramePr>
          <p:cNvPr id="5" name="淘宝-想搞设计PPT(倒卖必究)-6"/>
          <p:cNvGraphicFramePr>
            <a:graphicFrameLocks noGrp="1"/>
          </p:cNvGraphicFramePr>
          <p:nvPr userDrawn="1"/>
        </p:nvGraphicFramePr>
        <p:xfrm>
          <a:off x="0" y="1268760"/>
          <a:ext cx="1691680" cy="475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总体研究进度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数据采集情况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rgbClr val="0761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研究方法</a:t>
                      </a:r>
                      <a:endParaRPr lang="zh-CN" altLang="en-US" sz="1600" dirty="0">
                        <a:solidFill>
                          <a:srgbClr val="07614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论文提纲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阶段性研究结果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未来工作安排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淘宝-想搞设计PPT(倒卖必究)-8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rgbClr val="0761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淘宝-想搞设计PPT(倒卖必究)-50"/>
          <p:cNvSpPr/>
          <p:nvPr userDrawn="1"/>
        </p:nvSpPr>
        <p:spPr bwMode="auto">
          <a:xfrm>
            <a:off x="1747495" y="1302963"/>
            <a:ext cx="842414" cy="1683242"/>
          </a:xfrm>
          <a:custGeom>
            <a:avLst/>
            <a:gdLst>
              <a:gd name="T0" fmla="*/ 1191 w 1191"/>
              <a:gd name="T1" fmla="*/ 2372 h 2372"/>
              <a:gd name="T2" fmla="*/ 0 w 1191"/>
              <a:gd name="T3" fmla="*/ 2372 h 2372"/>
              <a:gd name="T4" fmla="*/ 0 w 1191"/>
              <a:gd name="T5" fmla="*/ 0 h 2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91" h="2372">
                <a:moveTo>
                  <a:pt x="1191" y="2372"/>
                </a:moveTo>
                <a:lnTo>
                  <a:pt x="0" y="2372"/>
                </a:lnTo>
                <a:lnTo>
                  <a:pt x="0" y="0"/>
                </a:lnTo>
              </a:path>
            </a:pathLst>
          </a:custGeom>
          <a:noFill/>
          <a:ln w="12700" cap="flat">
            <a:solidFill>
              <a:srgbClr val="FFFFFF"/>
            </a:solidFill>
            <a:prstDash val="dash"/>
            <a:miter lim="800000"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80" tIns="45690" rIns="91380" bIns="45690" numCol="1" anchor="t" anchorCtr="0" compatLnSpc="1"/>
          <a:p>
            <a:endParaRPr lang="zh-CN" altLang="en-US" sz="1800">
              <a:solidFill>
                <a:srgbClr val="447A8D"/>
              </a:solidFill>
            </a:endParaRPr>
          </a:p>
        </p:txBody>
      </p:sp>
      <p:pic>
        <p:nvPicPr>
          <p:cNvPr id="10" name="Picture 94" descr="南京林业大学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732" y="427587"/>
            <a:ext cx="1470932" cy="370190"/>
          </a:xfrm>
          <a:prstGeom prst="rect">
            <a:avLst/>
          </a:prstGeom>
        </p:spPr>
      </p:pic>
      <p:graphicFrame>
        <p:nvGraphicFramePr>
          <p:cNvPr id="3" name="淘宝-想搞设计PPT(倒卖必究)-6"/>
          <p:cNvGraphicFramePr>
            <a:graphicFrameLocks noGrp="1"/>
          </p:cNvGraphicFramePr>
          <p:nvPr userDrawn="1"/>
        </p:nvGraphicFramePr>
        <p:xfrm>
          <a:off x="0" y="1268760"/>
          <a:ext cx="1691680" cy="475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总体研究进度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数据采集情况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研究方法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rgbClr val="0761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论文提纲</a:t>
                      </a:r>
                      <a:endParaRPr lang="zh-CN" altLang="en-US" sz="1600" dirty="0">
                        <a:solidFill>
                          <a:srgbClr val="07614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阶段性研究结果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未来工作安排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淘宝-想搞设计PPT(倒卖必究)-8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rgbClr val="0761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淘宝-想搞设计PPT(倒卖必究)-50"/>
          <p:cNvSpPr/>
          <p:nvPr userDrawn="1"/>
        </p:nvSpPr>
        <p:spPr bwMode="auto">
          <a:xfrm>
            <a:off x="1747495" y="1302963"/>
            <a:ext cx="842414" cy="1683242"/>
          </a:xfrm>
          <a:custGeom>
            <a:avLst/>
            <a:gdLst>
              <a:gd name="T0" fmla="*/ 1191 w 1191"/>
              <a:gd name="T1" fmla="*/ 2372 h 2372"/>
              <a:gd name="T2" fmla="*/ 0 w 1191"/>
              <a:gd name="T3" fmla="*/ 2372 h 2372"/>
              <a:gd name="T4" fmla="*/ 0 w 1191"/>
              <a:gd name="T5" fmla="*/ 0 h 2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91" h="2372">
                <a:moveTo>
                  <a:pt x="1191" y="2372"/>
                </a:moveTo>
                <a:lnTo>
                  <a:pt x="0" y="2372"/>
                </a:lnTo>
                <a:lnTo>
                  <a:pt x="0" y="0"/>
                </a:lnTo>
              </a:path>
            </a:pathLst>
          </a:custGeom>
          <a:noFill/>
          <a:ln w="12700" cap="flat">
            <a:solidFill>
              <a:srgbClr val="FFFFFF"/>
            </a:solidFill>
            <a:prstDash val="dash"/>
            <a:miter lim="800000"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80" tIns="45690" rIns="91380" bIns="45690" numCol="1" anchor="t" anchorCtr="0" compatLnSpc="1"/>
          <a:p>
            <a:endParaRPr lang="zh-CN" altLang="en-US" sz="1800">
              <a:solidFill>
                <a:srgbClr val="447A8D"/>
              </a:solidFill>
            </a:endParaRPr>
          </a:p>
        </p:txBody>
      </p:sp>
      <p:pic>
        <p:nvPicPr>
          <p:cNvPr id="10" name="Picture 94" descr="南京林业大学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732" y="427587"/>
            <a:ext cx="1470932" cy="370190"/>
          </a:xfrm>
          <a:prstGeom prst="rect">
            <a:avLst/>
          </a:prstGeom>
        </p:spPr>
      </p:pic>
      <p:graphicFrame>
        <p:nvGraphicFramePr>
          <p:cNvPr id="3" name="淘宝-想搞设计PPT(倒卖必究)-6"/>
          <p:cNvGraphicFramePr>
            <a:graphicFrameLocks noGrp="1"/>
          </p:cNvGraphicFramePr>
          <p:nvPr userDrawn="1"/>
        </p:nvGraphicFramePr>
        <p:xfrm>
          <a:off x="0" y="1268760"/>
          <a:ext cx="1691680" cy="475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总体研究进度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数据采集情况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研究方法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论文提纲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rgbClr val="0761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阶段性研究结果</a:t>
                      </a:r>
                      <a:endParaRPr lang="zh-CN" altLang="en-US" sz="1600" dirty="0">
                        <a:solidFill>
                          <a:srgbClr val="07614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92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未来工作安排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淘宝-想搞设计PPT(倒卖必究)-8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rgbClr val="0761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淘宝-想搞设计PPT(倒卖必究)-50"/>
          <p:cNvSpPr/>
          <p:nvPr userDrawn="1"/>
        </p:nvSpPr>
        <p:spPr bwMode="auto">
          <a:xfrm>
            <a:off x="1747495" y="1302963"/>
            <a:ext cx="842414" cy="1683242"/>
          </a:xfrm>
          <a:custGeom>
            <a:avLst/>
            <a:gdLst>
              <a:gd name="T0" fmla="*/ 1191 w 1191"/>
              <a:gd name="T1" fmla="*/ 2372 h 2372"/>
              <a:gd name="T2" fmla="*/ 0 w 1191"/>
              <a:gd name="T3" fmla="*/ 2372 h 2372"/>
              <a:gd name="T4" fmla="*/ 0 w 1191"/>
              <a:gd name="T5" fmla="*/ 0 h 2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91" h="2372">
                <a:moveTo>
                  <a:pt x="1191" y="2372"/>
                </a:moveTo>
                <a:lnTo>
                  <a:pt x="0" y="2372"/>
                </a:lnTo>
                <a:lnTo>
                  <a:pt x="0" y="0"/>
                </a:lnTo>
              </a:path>
            </a:pathLst>
          </a:custGeom>
          <a:noFill/>
          <a:ln w="12700" cap="flat">
            <a:solidFill>
              <a:srgbClr val="FFFFFF"/>
            </a:solidFill>
            <a:prstDash val="dash"/>
            <a:miter lim="800000"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80" tIns="45690" rIns="91380" bIns="45690" numCol="1" anchor="t" anchorCtr="0" compatLnSpc="1"/>
          <a:p>
            <a:endParaRPr lang="zh-CN" altLang="en-US" sz="1800">
              <a:solidFill>
                <a:srgbClr val="447A8D"/>
              </a:solidFill>
            </a:endParaRPr>
          </a:p>
        </p:txBody>
      </p:sp>
      <p:pic>
        <p:nvPicPr>
          <p:cNvPr id="4" name="Picture 94" descr="南京林业大学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732" y="427587"/>
            <a:ext cx="1470932" cy="370190"/>
          </a:xfrm>
          <a:prstGeom prst="rect">
            <a:avLst/>
          </a:prstGeom>
        </p:spPr>
      </p:pic>
      <p:graphicFrame>
        <p:nvGraphicFramePr>
          <p:cNvPr id="5" name="淘宝-想搞设计PPT(倒卖必究)-6"/>
          <p:cNvGraphicFramePr>
            <a:graphicFrameLocks noGrp="1"/>
          </p:cNvGraphicFramePr>
          <p:nvPr userDrawn="1"/>
        </p:nvGraphicFramePr>
        <p:xfrm>
          <a:off x="0" y="1268760"/>
          <a:ext cx="1691680" cy="475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总体研究进度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数据采集情况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研究方法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论文提纲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阶段性研究结果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dirty="0">
                          <a:solidFill>
                            <a:srgbClr val="0761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未来工作安排</a:t>
                      </a:r>
                      <a:endParaRPr lang="zh-CN" altLang="en-US" sz="1600" dirty="0">
                        <a:solidFill>
                          <a:srgbClr val="07614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6184">
        <p:random/>
      </p:transition>
    </mc:Choice>
    <mc:Fallback>
      <p:transition spd="slow" advTm="6184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6184">
        <p:random/>
      </p:transition>
    </mc:Choice>
    <mc:Fallback>
      <p:transition spd="slow" advTm="6184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451D52-2092-47CA-95C8-A980C030BF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4EEEE-F59F-4B6D-B007-3B73B55D0A5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6" Type="http://schemas.openxmlformats.org/officeDocument/2006/relationships/slideLayout" Target="../slideLayouts/slideLayout1.xml" /><Relationship Id="rId5" Type="http://schemas.openxmlformats.org/officeDocument/2006/relationships/tags" Target="../tags/tag4_tf1.xml" /><Relationship Id="rId4" Type="http://schemas.openxmlformats.org/officeDocument/2006/relationships/tags" Target="../tags/tag3_tf1.xml" /><Relationship Id="rId3" Type="http://schemas.openxmlformats.org/officeDocument/2006/relationships/tags" Target="../tags/tag2_tf1.xml" /><Relationship Id="rId2" Type="http://schemas.openxmlformats.org/officeDocument/2006/relationships/image" Target="../media/image2.png" /><Relationship Id="rId1" Type="http://schemas.openxmlformats.org/officeDocument/2006/relationships/tags" Target="../tags/tag1_tf1.xml" /></Relationships>
</file>

<file path=ppt/slides/_rels/slide2.xml.rels><?xml version='1.0' encoding='utf-8'?>
<Relationships xmlns="http://schemas.openxmlformats.org/package/2006/relationships"><Relationship Id="rId9" Type="http://schemas.openxmlformats.org/officeDocument/2006/relationships/tags" Target="../tags/tag13_tf1.xml" /><Relationship Id="rId8" Type="http://schemas.openxmlformats.org/officeDocument/2006/relationships/tags" Target="../tags/tag12_tf1.xml" /><Relationship Id="rId7" Type="http://schemas.openxmlformats.org/officeDocument/2006/relationships/tags" Target="../tags/tag11_tf1.xml" /><Relationship Id="rId6" Type="http://schemas.openxmlformats.org/officeDocument/2006/relationships/tags" Target="../tags/tag10_tf1.xml" /><Relationship Id="rId5" Type="http://schemas.openxmlformats.org/officeDocument/2006/relationships/tags" Target="../tags/tag9_tf1.xml" /><Relationship Id="rId4" Type="http://schemas.openxmlformats.org/officeDocument/2006/relationships/tags" Target="../tags/tag8_tf1.xml" /><Relationship Id="rId3" Type="http://schemas.openxmlformats.org/officeDocument/2006/relationships/tags" Target="../tags/tag7_tf1.xml" /><Relationship Id="rId2" Type="http://schemas.openxmlformats.org/officeDocument/2006/relationships/tags" Target="../tags/tag6_tf1.xml" /><Relationship Id="rId14" Type="http://schemas.openxmlformats.org/officeDocument/2006/relationships/slideLayout" Target="../slideLayouts/slideLayout15.xml" /><Relationship Id="rId13" Type="http://schemas.openxmlformats.org/officeDocument/2006/relationships/tags" Target="../tags/tag16_tf1.xml" /><Relationship Id="rId12" Type="http://schemas.openxmlformats.org/officeDocument/2006/relationships/tags" Target="../tags/tag15_tf1.xml" /><Relationship Id="rId11" Type="http://schemas.openxmlformats.org/officeDocument/2006/relationships/image" Target="../media/image1.png" /><Relationship Id="rId10" Type="http://schemas.openxmlformats.org/officeDocument/2006/relationships/tags" Target="../tags/tag14_tf1.xml" /><Relationship Id="rId1" Type="http://schemas.openxmlformats.org/officeDocument/2006/relationships/tags" Target="../tags/tag5_tf1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'1.0' encoding='utf-8'?>
<Relationships xmlns="http://schemas.openxmlformats.org/package/2006/relationships"><Relationship Id="rId9" Type="http://schemas.openxmlformats.org/officeDocument/2006/relationships/tags" Target="../tags/tag23_tf1.xml" /><Relationship Id="rId8" Type="http://schemas.openxmlformats.org/officeDocument/2006/relationships/image" Target="../media/image4.png" /><Relationship Id="rId7" Type="http://schemas.openxmlformats.org/officeDocument/2006/relationships/tags" Target="../tags/tag22_tf1.xml" /><Relationship Id="rId6" Type="http://schemas.openxmlformats.org/officeDocument/2006/relationships/tags" Target="../tags/tag21_tf1.xml" /><Relationship Id="rId5" Type="http://schemas.openxmlformats.org/officeDocument/2006/relationships/tags" Target="../tags/tag20_tf1.xml" /><Relationship Id="rId4" Type="http://schemas.openxmlformats.org/officeDocument/2006/relationships/tags" Target="../tags/tag19_tf1.xml" /><Relationship Id="rId3" Type="http://schemas.openxmlformats.org/officeDocument/2006/relationships/image" Target="../media/image3.png" /><Relationship Id="rId2" Type="http://schemas.openxmlformats.org/officeDocument/2006/relationships/tags" Target="../tags/tag18_tf1.xml" /><Relationship Id="rId12" Type="http://schemas.openxmlformats.org/officeDocument/2006/relationships/slideLayout" Target="../slideLayouts/slideLayout3.xml" /><Relationship Id="rId11" Type="http://schemas.openxmlformats.org/officeDocument/2006/relationships/tags" Target="../tags/tag25_tf1.xml" /><Relationship Id="rId10" Type="http://schemas.openxmlformats.org/officeDocument/2006/relationships/tags" Target="../tags/tag24_tf1.xml" /><Relationship Id="rId1" Type="http://schemas.openxmlformats.org/officeDocument/2006/relationships/tags" Target="../tags/tag17_tf1.xml" /></Relationships>
</file>

<file path=ppt/slides/_rels/slide5.xml.rels><?xml version='1.0' encoding='utf-8'?>
<Relationships xmlns="http://schemas.openxmlformats.org/package/2006/relationships"><Relationship Id="rId9" Type="http://schemas.openxmlformats.org/officeDocument/2006/relationships/tags" Target="../tags/tag23_tf2.xml" /><Relationship Id="rId7" Type="http://schemas.openxmlformats.org/officeDocument/2006/relationships/tags" Target="../tags/tag22_tf2.xml" /><Relationship Id="rId6" Type="http://schemas.openxmlformats.org/officeDocument/2006/relationships/tags" Target="../tags/tag21_tf2.xml" /><Relationship Id="rId5" Type="http://schemas.openxmlformats.org/officeDocument/2006/relationships/tags" Target="../tags/tag20_tf2.xml" /><Relationship Id="rId4" Type="http://schemas.openxmlformats.org/officeDocument/2006/relationships/tags" Target="../tags/tag19_tf2.xml" /><Relationship Id="rId2" Type="http://schemas.openxmlformats.org/officeDocument/2006/relationships/tags" Target="../tags/tag18_tf2.xml" /><Relationship Id="rId12" Type="http://schemas.openxmlformats.org/officeDocument/2006/relationships/slideLayout" Target="../slideLayouts/slideLayout3.xml" /><Relationship Id="rId11" Type="http://schemas.openxmlformats.org/officeDocument/2006/relationships/tags" Target="../tags/tag25_tf2.xml" /><Relationship Id="rId10" Type="http://schemas.openxmlformats.org/officeDocument/2006/relationships/tags" Target="../tags/tag24_tf2.xml" /><Relationship Id="rId1" Type="http://schemas.openxmlformats.org/officeDocument/2006/relationships/tags" Target="../tags/tag17_tf2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rId2" Type="http://schemas.openxmlformats.org/officeDocument/2006/relationships/chart" Target="../charts/chart1201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8.xml.rels><?xml version='1.0' encoding='utf-8'?>
<Relationships xmlns="http://schemas.openxmlformats.org/package/2006/relationships"><Relationship Id="rId7" Type="http://schemas.openxmlformats.org/officeDocument/2006/relationships/notesSlide" Target="../notesSlides/notesSlide1_tf1.xml" /><Relationship Id="rId6" Type="http://schemas.openxmlformats.org/officeDocument/2006/relationships/slideLayout" Target="../slideLayouts/slideLayout1.xml" /><Relationship Id="rId5" Type="http://schemas.openxmlformats.org/officeDocument/2006/relationships/tags" Target="../tags/tag29_tf1.xml" /><Relationship Id="rId4" Type="http://schemas.openxmlformats.org/officeDocument/2006/relationships/tags" Target="../tags/tag28_tf1.xml" /><Relationship Id="rId3" Type="http://schemas.openxmlformats.org/officeDocument/2006/relationships/tags" Target="../tags/tag27_tf1.xml" /><Relationship Id="rId2" Type="http://schemas.openxmlformats.org/officeDocument/2006/relationships/tags" Target="../tags/tag26_tf1.xml" /><Relationship Id="rId1" Type="http://schemas.openxmlformats.org/officeDocument/2006/relationships/image" Target="../media/image2.png" /></Relationships>
</file>

<file path=ppt/slides/slide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淘宝-想搞设计PPT(倒卖必究)-6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BD451D52-2092-47CA-95C8-A980C030BF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淘宝-想搞设计PPT(倒卖必究)-5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淘宝-想搞设计PPT(倒卖必究)-4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4D4EEEE-F59F-4B6D-B007-3B73B55D0A51}" type="slidenum">
              <a:rPr lang="zh-CN" altLang="en-US" smtClean="0"/>
            </a:fld>
            <a:endParaRPr lang="zh-CN" altLang="en-US"/>
          </a:p>
        </p:txBody>
      </p:sp>
      <p:sp>
        <p:nvSpPr>
          <p:cNvPr id="17" name="淘宝-想搞设计PPT(倒卖必究)-17"/>
          <p:cNvSpPr/>
          <p:nvPr/>
        </p:nvSpPr>
        <p:spPr>
          <a:xfrm>
            <a:off x="-444500" y="4914265"/>
            <a:ext cx="13081000" cy="2680335"/>
          </a:xfrm>
          <a:prstGeom prst="rect">
            <a:avLst/>
          </a:prstGeom>
          <a:solidFill>
            <a:srgbClr val="055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淘宝-想搞设计PPT(倒卖必究)-21"/>
          <p:cNvSpPr/>
          <p:nvPr/>
        </p:nvSpPr>
        <p:spPr>
          <a:xfrm>
            <a:off x="549307" y="1929098"/>
            <a:ext cx="11006423" cy="1231297"/>
          </a:xfrm>
          <a:prstGeom prst="rect">
            <a:avLst/>
          </a:prstGeom>
          <a:noFill/>
          <a:ln>
            <a:noFill/>
          </a:ln>
        </p:spPr>
        <p:txBody>
          <a:bodyPr wrap="none" lIns="10763" tIns="132588" rIns="0" bIns="0" anchor="t" anchorCtr="0">
            <a:noAutofit/>
          </a:bodyPr>
          <a:lstStyle/>
          <a:p>
            <a:pPr algn="ctr">
              <a:lnSpc>
                <a:spcPts val="4275"/>
              </a:lnSpc>
            </a:pPr>
            <a:r>
              <a:rPr lang="zh-CN" sz="322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基于活动人群的高密度社区绿地</a:t>
            </a:r>
            <a:br/>
            <a:r>
              <a:rPr lang="zh-CN" sz="322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空间特征识别与优化</a:t>
            </a:r>
          </a:p>
        </p:txBody>
      </p:sp>
      <p:sp>
        <p:nvSpPr>
          <p:cNvPr id="23" name="淘宝-想搞设计PPT(倒卖必究)-23"/>
          <p:cNvSpPr/>
          <p:nvPr/>
        </p:nvSpPr>
        <p:spPr>
          <a:xfrm>
            <a:off x="1099185" y="3134392"/>
            <a:ext cx="9906000" cy="706755"/>
          </a:xfrm>
          <a:prstGeom prst="rect">
            <a:avLst/>
          </a:prstGeom>
          <a:noFill/>
          <a:ln>
            <a:noFill/>
          </a:ln>
        </p:spPr>
        <p:txBody>
          <a:bodyPr wrap="none" lIns="11430" tIns="171260" rIns="0" bIns="0" anchor="t" anchorCtr="0">
            <a:noAutofit/>
          </a:bodyPr>
          <a:lstStyle/>
          <a:p>
            <a:pPr algn="ctr"/>
            <a:r>
              <a:rPr lang="zh-CN" sz="202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硕士学位论文中期检查汇报</a:t>
            </a:r>
          </a:p>
        </p:txBody>
      </p:sp>
      <p:sp>
        <p:nvSpPr>
          <p:cNvPr id="25" name="淘宝-想搞设计PPT(倒卖必究)-25"/>
          <p:cNvSpPr txBox="1"/>
          <p:nvPr>
            <p:custDataLst>
              <p:tags r:id="rId1"/>
            </p:custDataLst>
          </p:nvPr>
        </p:nvSpPr>
        <p:spPr>
          <a:xfrm>
            <a:off x="337820" y="5957570"/>
            <a:ext cx="26733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院：风景园林学院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7" name="Picture 56" descr="南京林业大学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828" y="701655"/>
            <a:ext cx="3380740" cy="850832"/>
          </a:xfrm>
          <a:prstGeom prst="rect">
            <a:avLst/>
          </a:prstGeom>
        </p:spPr>
      </p:pic>
      <p:sp>
        <p:nvSpPr>
          <p:cNvPr id="2" name="淘宝-想搞设计PPT(倒卖必究)-25"/>
          <p:cNvSpPr txBox="1"/>
          <p:nvPr>
            <p:custDataLst>
              <p:tags r:id="rId3"/>
            </p:custDataLst>
          </p:nvPr>
        </p:nvSpPr>
        <p:spPr>
          <a:xfrm>
            <a:off x="3647440" y="5957570"/>
            <a:ext cx="22682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业：风景园林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淘宝-想搞设计PPT(倒卖必究)-25"/>
          <p:cNvSpPr txBox="1"/>
          <p:nvPr>
            <p:custDataLst>
              <p:tags r:id="rId4"/>
            </p:custDataLst>
          </p:nvPr>
        </p:nvSpPr>
        <p:spPr>
          <a:xfrm>
            <a:off x="6551930" y="5957570"/>
            <a:ext cx="22682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答辩人：汤若堃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淘宝-想搞设计PPT(倒卖必究)-25"/>
          <p:cNvSpPr txBox="1"/>
          <p:nvPr>
            <p:custDataLst>
              <p:tags r:id="rId5"/>
            </p:custDataLst>
          </p:nvPr>
        </p:nvSpPr>
        <p:spPr>
          <a:xfrm>
            <a:off x="9281795" y="5957570"/>
            <a:ext cx="25253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师：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陈硕蕾老师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>
    <mc:Choice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a14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3" name="淘宝-想搞设计PPT(倒卖必究)-2151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816394" y="1874145"/>
            <a:ext cx="8613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>
                <a:solidFill>
                  <a:srgbClr val="FFFFFF"/>
                </a:solidFill>
              </a14:hiddenFill>
            </a:ext>
            <a:ext uri="{91240B29-F687-4F45-9708-019B960494DF}">
              <a14:hiddenLine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76145"/>
                </a:solidFill>
                <a:latin typeface="微软雅黑" panose="020B0503020204020204" pitchFamily="34" charset="-122"/>
              </a:rPr>
              <a:t>Part 1</a:t>
            </a:r>
            <a:endParaRPr lang="zh-CN" altLang="en-US" sz="2400" dirty="0">
              <a:solidFill>
                <a:srgbClr val="0761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514" name="淘宝-想搞设计PPT(倒卖必究)-2151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850684" y="3510467"/>
            <a:ext cx="8613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>
                <a:solidFill>
                  <a:srgbClr val="FFFFFF"/>
                </a:solidFill>
              </a14:hiddenFill>
            </a:ext>
            <a:ext uri="{91240B29-F687-4F45-9708-019B960494DF}">
              <a14:hiddenLine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76145"/>
                </a:solidFill>
                <a:latin typeface="微软雅黑" panose="020B0503020204020204" pitchFamily="34" charset="-122"/>
              </a:rPr>
              <a:t>Part 2</a:t>
            </a:r>
            <a:endParaRPr lang="zh-CN" altLang="en-US" sz="2400" dirty="0">
              <a:solidFill>
                <a:srgbClr val="0761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515" name="淘宝-想搞设计PPT(倒卖必究)-2151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816394" y="5107419"/>
            <a:ext cx="8613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>
                <a:solidFill>
                  <a:srgbClr val="FFFFFF"/>
                </a:solidFill>
              </a14:hiddenFill>
            </a:ext>
            <a:ext uri="{91240B29-F687-4F45-9708-019B960494DF}">
              <a14:hiddenLine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76145"/>
                </a:solidFill>
                <a:latin typeface="微软雅黑" panose="020B0503020204020204" pitchFamily="34" charset="-122"/>
              </a:rPr>
              <a:t>Part 3</a:t>
            </a:r>
            <a:endParaRPr lang="zh-CN" altLang="en-US" sz="2400" dirty="0">
              <a:solidFill>
                <a:srgbClr val="0761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516" name="淘宝-想搞设计PPT(倒卖必究)-2151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138839" y="1873926"/>
            <a:ext cx="8613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>
                <a:solidFill>
                  <a:srgbClr val="FFFFFF"/>
                </a:solidFill>
              </a14:hiddenFill>
            </a:ext>
            <a:ext uri="{91240B29-F687-4F45-9708-019B960494DF}">
              <a14:hiddenLine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76145"/>
                </a:solidFill>
                <a:latin typeface="微软雅黑" panose="020B0503020204020204" pitchFamily="34" charset="-122"/>
              </a:rPr>
              <a:t>Part 4</a:t>
            </a:r>
            <a:endParaRPr lang="zh-CN" altLang="en-US" sz="2400" dirty="0">
              <a:solidFill>
                <a:srgbClr val="0761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517" name="淘宝-想搞设计PPT(倒卖必究)-2151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173129" y="3510248"/>
            <a:ext cx="8613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>
                <a:solidFill>
                  <a:srgbClr val="FFFFFF"/>
                </a:solidFill>
              </a14:hiddenFill>
            </a:ext>
            <a:ext uri="{91240B29-F687-4F45-9708-019B960494DF}">
              <a14:hiddenLine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76145"/>
                </a:solidFill>
                <a:latin typeface="微软雅黑" panose="020B0503020204020204" pitchFamily="34" charset="-122"/>
              </a:rPr>
              <a:t>Part 5</a:t>
            </a:r>
            <a:endParaRPr lang="zh-CN" altLang="en-US" sz="2400" dirty="0">
              <a:solidFill>
                <a:srgbClr val="0761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9232" name="淘宝-想搞设计PPT(倒卖必究)-9232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772025" y="3395980"/>
            <a:ext cx="2971800" cy="55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>
                <a:solidFill>
                  <a:srgbClr val="FFFFFF"/>
                </a:solidFill>
              </a14:hiddenFill>
            </a:ext>
            <a:ext uri="{91240B29-F687-4F45-9708-019B960494DF}">
              <a14:hiddenLine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000" b="1" dirty="0">
                <a:solidFill>
                  <a:srgbClr val="076145"/>
                </a:solidFill>
                <a:latin typeface="微软雅黑" panose="020B0503020204020204" pitchFamily="34" charset="-122"/>
              </a:rPr>
              <a:t>数据采集情况</a:t>
            </a:r>
            <a:endParaRPr lang="zh-CN" altLang="en-US" sz="3000" b="1" dirty="0">
              <a:solidFill>
                <a:srgbClr val="0761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9233" name="淘宝-想搞设计PPT(倒卖必究)-9233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737735" y="1781810"/>
            <a:ext cx="2549525" cy="55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>
                <a:solidFill>
                  <a:srgbClr val="FFFFFF"/>
                </a:solidFill>
              </a14:hiddenFill>
            </a:ext>
            <a:ext uri="{91240B29-F687-4F45-9708-019B960494DF}">
              <a14:hiddenLine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000" b="1" dirty="0">
                <a:solidFill>
                  <a:srgbClr val="076145"/>
                </a:solidFill>
                <a:latin typeface="微软雅黑" panose="020B0503020204020204" pitchFamily="34" charset="-122"/>
              </a:rPr>
              <a:t>总体</a:t>
            </a:r>
            <a:r>
              <a:rPr lang="zh-CN" sz="3000" b="1" dirty="0">
                <a:solidFill>
                  <a:srgbClr val="076145"/>
                </a:solidFill>
                <a:latin typeface="微软雅黑" panose="020B0503020204020204" pitchFamily="34" charset="-122"/>
              </a:rPr>
              <a:t>研究进度</a:t>
            </a:r>
            <a:endParaRPr lang="zh-CN" sz="3000" b="1" dirty="0">
              <a:solidFill>
                <a:srgbClr val="0761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9234" name="淘宝-想搞设计PPT(倒卖必究)-9234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737735" y="5010785"/>
            <a:ext cx="3303270" cy="55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>
                <a:solidFill>
                  <a:srgbClr val="FFFFFF"/>
                </a:solidFill>
              </a14:hiddenFill>
            </a:ext>
            <a:ext uri="{91240B29-F687-4F45-9708-019B960494DF}">
              <a14:hiddenLine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000" b="1" dirty="0">
                <a:solidFill>
                  <a:srgbClr val="076145"/>
                </a:solidFill>
                <a:latin typeface="微软雅黑" panose="020B0503020204020204" pitchFamily="34" charset="-122"/>
              </a:rPr>
              <a:t>研究方法</a:t>
            </a:r>
            <a:endParaRPr lang="zh-CN" altLang="en-US" sz="3000" b="1" dirty="0">
              <a:solidFill>
                <a:srgbClr val="0761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9235" name="淘宝-想搞设计PPT(倒卖必究)-9235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9180830" y="1783080"/>
            <a:ext cx="2209800" cy="55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>
                <a:solidFill>
                  <a:srgbClr val="FFFFFF"/>
                </a:solidFill>
              </a14:hiddenFill>
            </a:ext>
            <a:ext uri="{91240B29-F687-4F45-9708-019B960494DF}">
              <a14:hiddenLine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000" b="1" dirty="0">
                <a:solidFill>
                  <a:srgbClr val="076145"/>
                </a:solidFill>
                <a:latin typeface="微软雅黑" panose="020B0503020204020204" pitchFamily="34" charset="-122"/>
              </a:rPr>
              <a:t>论文提纲</a:t>
            </a:r>
            <a:endParaRPr lang="zh-CN" altLang="en-US" sz="3000" b="1" dirty="0">
              <a:solidFill>
                <a:srgbClr val="0761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9236" name="淘宝-想搞设计PPT(倒卖必究)-9236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9215120" y="3396615"/>
            <a:ext cx="2875915" cy="55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>
                <a:solidFill>
                  <a:srgbClr val="FFFFFF"/>
                </a:solidFill>
              </a14:hiddenFill>
            </a:ext>
            <a:ext uri="{91240B29-F687-4F45-9708-019B960494DF}">
              <a14:hiddenLine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000" b="1" dirty="0">
                <a:solidFill>
                  <a:srgbClr val="076145"/>
                </a:solidFill>
                <a:latin typeface="微软雅黑" panose="020B0503020204020204" pitchFamily="34" charset="-122"/>
              </a:rPr>
              <a:t>阶段性研究结果</a:t>
            </a:r>
            <a:endParaRPr lang="zh-CN" altLang="en-US" sz="3000" b="1" dirty="0">
              <a:solidFill>
                <a:srgbClr val="0761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淘宝-想搞设计PPT(倒卖必究)-26"/>
          <p:cNvSpPr/>
          <p:nvPr/>
        </p:nvSpPr>
        <p:spPr>
          <a:xfrm rot="16200000">
            <a:off x="-5406906" y="1330569"/>
            <a:ext cx="13081000" cy="4196862"/>
          </a:xfrm>
          <a:prstGeom prst="rect">
            <a:avLst/>
          </a:prstGeom>
          <a:solidFill>
            <a:srgbClr val="055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37" name="淘宝-想搞设计PPT(倒卖必究)-9237"/>
          <p:cNvSpPr txBox="1">
            <a:spLocks noChangeArrowheads="1"/>
          </p:cNvSpPr>
          <p:nvPr/>
        </p:nvSpPr>
        <p:spPr bwMode="auto">
          <a:xfrm>
            <a:off x="660527" y="3036376"/>
            <a:ext cx="1791065" cy="601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>
                <a:solidFill>
                  <a:srgbClr val="FFFFFF"/>
                </a:solidFill>
              </a14:hiddenFill>
            </a:ext>
            <a:ext uri="{91240B29-F687-4F45-9708-019B960494DF}">
              <a14:hiddenLine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dist" eaLnBrk="1" hangingPunct="1">
              <a:spcBef>
                <a:spcPct val="0"/>
              </a:spcBef>
              <a:buFontTx/>
              <a:buNone/>
            </a:pPr>
            <a:r>
              <a:rPr lang="zh-CN" altLang="en-US" sz="80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目</a:t>
            </a:r>
            <a:endParaRPr lang="en-US" altLang="zh-CN" sz="80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  <a:p>
            <a:pPr algn="dist" eaLnBrk="1" hangingPunct="1">
              <a:spcBef>
                <a:spcPct val="0"/>
              </a:spcBef>
              <a:buFontTx/>
              <a:buNone/>
            </a:pPr>
            <a:r>
              <a:rPr lang="zh-CN" altLang="en-US" sz="80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录</a:t>
            </a:r>
            <a:endParaRPr lang="zh-CN" altLang="en-US" sz="80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238" name="淘宝-想搞设计PPT(倒卖必究)-9238"/>
          <p:cNvSpPr txBox="1">
            <a:spLocks noChangeArrowheads="1"/>
          </p:cNvSpPr>
          <p:nvPr/>
        </p:nvSpPr>
        <p:spPr bwMode="auto">
          <a:xfrm>
            <a:off x="436031" y="5497448"/>
            <a:ext cx="19723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>
                <a:solidFill>
                  <a:srgbClr val="FFFFFF"/>
                </a:solidFill>
              </a14:hiddenFill>
            </a:ext>
            <a:ext uri="{91240B29-F687-4F45-9708-019B960494DF}">
              <a14:hiddenLine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</a:rPr>
              <a:t>ontents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淘宝-想搞设计PPT(倒卖必究)-2"/>
          <p:cNvSpPr/>
          <p:nvPr/>
        </p:nvSpPr>
        <p:spPr>
          <a:xfrm>
            <a:off x="5162162" y="523505"/>
            <a:ext cx="1130107" cy="1130107"/>
          </a:xfrm>
          <a:prstGeom prst="ellipse">
            <a:avLst/>
          </a:prstGeom>
          <a:noFill/>
          <a:ln>
            <a:noFill/>
          </a:ln>
          <a:effectLst>
            <a:innerShdw blurRad="114300">
              <a:srgbClr val="447A8D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520" name="Picture 21519" descr="南京林业大学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0960" y="855720"/>
            <a:ext cx="2749901" cy="692068"/>
          </a:xfrm>
          <a:prstGeom prst="rect">
            <a:avLst/>
          </a:prstGeom>
        </p:spPr>
      </p:pic>
      <p:sp>
        <p:nvSpPr>
          <p:cNvPr id="3" name="淘宝-想搞设计PPT(倒卖必究)-21517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8139474" y="5108543"/>
            <a:ext cx="851535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>
                <a:solidFill>
                  <a:srgbClr val="FFFFFF"/>
                </a:solidFill>
              </a14:hiddenFill>
            </a:ext>
            <a:ext uri="{91240B29-F687-4F45-9708-019B960494DF}">
              <a14:hiddenLine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76145"/>
                </a:solidFill>
                <a:latin typeface="微软雅黑" panose="020B0503020204020204" pitchFamily="34" charset="-122"/>
              </a:rPr>
              <a:t>Part </a:t>
            </a:r>
            <a:r>
              <a:rPr lang="en-US" altLang="zh-CN" sz="2400" dirty="0">
                <a:solidFill>
                  <a:srgbClr val="076145"/>
                </a:solidFill>
                <a:latin typeface="微软雅黑" panose="020B0503020204020204" pitchFamily="34" charset="-122"/>
              </a:rPr>
              <a:t>6</a:t>
            </a:r>
            <a:endParaRPr lang="en-US" altLang="zh-CN" sz="2400" dirty="0">
              <a:solidFill>
                <a:srgbClr val="0761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淘宝-想搞设计PPT(倒卖必究)-9235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9181465" y="5010785"/>
            <a:ext cx="2699385" cy="55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>
                <a:solidFill>
                  <a:srgbClr val="FFFFFF"/>
                </a:solidFill>
              </a14:hiddenFill>
            </a:ext>
            <a:ext uri="{91240B29-F687-4F45-9708-019B960494DF}">
              <a14:hiddenLine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000" b="1" dirty="0">
                <a:solidFill>
                  <a:srgbClr val="076145"/>
                </a:solidFill>
                <a:latin typeface="微软雅黑" panose="020B0503020204020204" pitchFamily="34" charset="-122"/>
              </a:rPr>
              <a:t>未来工作安排</a:t>
            </a:r>
            <a:endParaRPr lang="zh-CN" altLang="en-US" sz="3000" b="1" dirty="0">
              <a:solidFill>
                <a:srgbClr val="076145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  <p:bldLst>
      <p:bldP spid="21513" grpId="0"/>
      <p:bldP spid="21514" grpId="0"/>
      <p:bldP spid="21515" grpId="0"/>
      <p:bldP spid="21516" grpId="0"/>
      <p:bldP spid="21517" grpId="0"/>
      <p:bldP spid="9232" grpId="0"/>
      <p:bldP spid="9233" grpId="0"/>
      <p:bldP spid="9234" grpId="0"/>
      <p:bldP spid="9235" grpId="0"/>
      <p:bldP spid="9236" grpId="0"/>
      <p:bldP spid="26" grpId="0" bldLvl="0" animBg="1"/>
      <p:bldP spid="9237" grpId="0"/>
      <p:bldP spid="9238" grpId="0"/>
    </p:bldLst>
  </p:timing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" name="淘宝-想搞设计PPT(倒卖必究)-43"/>
          <p:cNvSpPr txBox="1"/>
          <p:nvPr/>
        </p:nvSpPr>
        <p:spPr>
          <a:xfrm>
            <a:off x="2381681" y="655345"/>
            <a:ext cx="3647469" cy="49212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spAutoFit/>
          </a:bodyPr>
          <a:lstStyle>
            <a:defPPr>
              <a:defRPr lang="zh-CN"/>
            </a:defPPr>
            <a:lvl1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defRPr kumimoji="0" sz="2800" b="1" i="0" u="none" strike="noStrike" cap="none" normalizeH="0" baseline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defRPr>
            </a:lvl1pPr>
          </a:lstStyle>
          <a:p>
            <a:r>
              <a:rPr lang="zh-CN" altLang="en-US" sz="3200" dirty="0">
                <a:solidFill>
                  <a:srgbClr val="076145"/>
                </a:solidFill>
              </a:rPr>
              <a:t>总体研究进度</a:t>
            </a:r>
            <a:endParaRPr lang="zh-CN" altLang="en-US" sz="3200" dirty="0">
              <a:solidFill>
                <a:srgbClr val="076145"/>
              </a:solidFill>
            </a:endParaRPr>
          </a:p>
        </p:txBody>
      </p:sp>
      <p:grpSp>
        <p:nvGrpSpPr>
          <p:cNvPr id="38" name="powerpoint template design by DAJU_PPT正版来源小红书大橘PPT微信DAJU_PPT请勿抄袭搬运！盗版必究！"/>
          <p:cNvGrpSpPr/>
          <p:nvPr/>
        </p:nvGrpSpPr>
        <p:grpSpPr>
          <a:xfrm>
            <a:off x="1860550" y="3397250"/>
            <a:ext cx="10099675" cy="408940"/>
            <a:chOff x="974771" y="3225691"/>
            <a:chExt cx="10242457" cy="406689"/>
          </a:xfrm>
        </p:grpSpPr>
        <p:sp>
          <p:nvSpPr>
            <p:cNvPr id="2" name="淘宝-想搞设计PPT(倒卖必究)-4"/>
            <p:cNvSpPr/>
            <p:nvPr/>
          </p:nvSpPr>
          <p:spPr>
            <a:xfrm>
              <a:off x="7052628" y="3225691"/>
              <a:ext cx="1962842" cy="406689"/>
            </a:xfrm>
            <a:prstGeom prst="chevron">
              <a:avLst>
                <a:gd name="adj" fmla="val 32323"/>
              </a:avLst>
            </a:prstGeom>
            <a:solidFill>
              <a:schemeClr val="bg1">
                <a:lumMod val="50000"/>
              </a:schemeClr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16" name="淘宝-想搞设计PPT(倒卖必究)-6"/>
            <p:cNvSpPr/>
            <p:nvPr/>
          </p:nvSpPr>
          <p:spPr>
            <a:xfrm>
              <a:off x="2819024" y="3225800"/>
              <a:ext cx="2127437" cy="406400"/>
            </a:xfrm>
            <a:prstGeom prst="chevron">
              <a:avLst>
                <a:gd name="adj" fmla="val 32323"/>
              </a:avLst>
            </a:prstGeom>
            <a:solidFill>
              <a:srgbClr val="7F7F7F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17" name="淘宝-想搞设计PPT(倒卖必究)-11"/>
            <p:cNvSpPr/>
            <p:nvPr/>
          </p:nvSpPr>
          <p:spPr>
            <a:xfrm>
              <a:off x="974771" y="3225691"/>
              <a:ext cx="3393760" cy="406689"/>
            </a:xfrm>
            <a:prstGeom prst="chevron">
              <a:avLst>
                <a:gd name="adj" fmla="val 32323"/>
              </a:avLst>
            </a:prstGeom>
            <a:solidFill>
              <a:srgbClr val="076145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18" name="淘宝-想搞设计PPT(倒卖必究)-3"/>
            <p:cNvSpPr/>
            <p:nvPr/>
          </p:nvSpPr>
          <p:spPr>
            <a:xfrm>
              <a:off x="7983819" y="3225691"/>
              <a:ext cx="3233409" cy="406689"/>
            </a:xfrm>
            <a:prstGeom prst="chevron">
              <a:avLst>
                <a:gd name="adj" fmla="val 32323"/>
              </a:avLst>
            </a:prstGeom>
            <a:solidFill>
              <a:srgbClr val="076145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19" name="淘宝-想搞设计PPT(倒卖必究)-5"/>
            <p:cNvSpPr/>
            <p:nvPr/>
          </p:nvSpPr>
          <p:spPr>
            <a:xfrm>
              <a:off x="4368531" y="3225691"/>
              <a:ext cx="3615288" cy="406689"/>
            </a:xfrm>
            <a:prstGeom prst="chevron">
              <a:avLst>
                <a:gd name="adj" fmla="val 32323"/>
              </a:avLst>
            </a:prstGeom>
            <a:solidFill>
              <a:srgbClr val="076145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2010410" y="3368675"/>
            <a:ext cx="28949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bg1"/>
                </a:solidFill>
              </a:rPr>
              <a:t>数据采集与整理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44" name="淘宝-想搞设计PPT(倒卖必究)-36"/>
          <p:cNvSpPr txBox="1"/>
          <p:nvPr/>
        </p:nvSpPr>
        <p:spPr>
          <a:xfrm flipH="1">
            <a:off x="2270760" y="1334770"/>
            <a:ext cx="2443480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076145"/>
                </a:solidFill>
                <a:latin typeface="+mj-ea"/>
                <a:ea typeface="+mj-ea"/>
              </a:rPr>
              <a:t>调研阶段</a:t>
            </a:r>
            <a:endParaRPr lang="zh-CN" altLang="en-US" sz="2000" b="1" dirty="0">
              <a:solidFill>
                <a:srgbClr val="076145"/>
              </a:solidFill>
              <a:latin typeface="+mj-ea"/>
              <a:ea typeface="+mj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541645" y="3368675"/>
            <a:ext cx="28949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bg1"/>
                </a:solidFill>
              </a:rPr>
              <a:t>数据处理与分析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918575" y="3368675"/>
            <a:ext cx="28949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bg1"/>
                </a:solidFill>
              </a:rPr>
              <a:t>论文撰写与完善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5" name="淘宝-想搞设计PPT(倒卖必究)-36"/>
          <p:cNvSpPr txBox="1"/>
          <p:nvPr/>
        </p:nvSpPr>
        <p:spPr>
          <a:xfrm flipH="1">
            <a:off x="2270760" y="4054475"/>
            <a:ext cx="2443480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076145"/>
                </a:solidFill>
                <a:latin typeface="+mj-ea"/>
                <a:ea typeface="+mj-ea"/>
              </a:rPr>
              <a:t>已完成</a:t>
            </a:r>
            <a:endParaRPr lang="zh-CN" altLang="en-US" sz="2000" b="1" dirty="0">
              <a:solidFill>
                <a:srgbClr val="076145"/>
              </a:solidFill>
              <a:latin typeface="+mj-ea"/>
              <a:ea typeface="+mj-ea"/>
            </a:endParaRPr>
          </a:p>
        </p:txBody>
      </p:sp>
      <p:sp>
        <p:nvSpPr>
          <p:cNvPr id="26" name="淘宝-想搞设计PPT(倒卖必究)-36"/>
          <p:cNvSpPr txBox="1"/>
          <p:nvPr/>
        </p:nvSpPr>
        <p:spPr>
          <a:xfrm flipH="1">
            <a:off x="5688330" y="1337945"/>
            <a:ext cx="2443480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076145"/>
                </a:solidFill>
                <a:latin typeface="+mj-ea"/>
                <a:ea typeface="+mj-ea"/>
              </a:rPr>
              <a:t>分析阶段</a:t>
            </a:r>
            <a:endParaRPr lang="zh-CN" altLang="en-US" sz="2000" b="1" dirty="0">
              <a:solidFill>
                <a:srgbClr val="076145"/>
              </a:solidFill>
              <a:latin typeface="+mj-ea"/>
              <a:ea typeface="+mj-ea"/>
            </a:endParaRPr>
          </a:p>
        </p:txBody>
      </p:sp>
      <p:sp>
        <p:nvSpPr>
          <p:cNvPr id="28" name="淘宝-想搞设计PPT(倒卖必究)-36"/>
          <p:cNvSpPr txBox="1"/>
          <p:nvPr/>
        </p:nvSpPr>
        <p:spPr>
          <a:xfrm flipH="1">
            <a:off x="9105900" y="1337945"/>
            <a:ext cx="2443480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076145"/>
                </a:solidFill>
                <a:latin typeface="+mj-ea"/>
                <a:ea typeface="+mj-ea"/>
              </a:rPr>
              <a:t>写作阶段</a:t>
            </a:r>
            <a:endParaRPr lang="zh-CN" altLang="en-US" sz="2000" b="1" dirty="0">
              <a:solidFill>
                <a:srgbClr val="076145"/>
              </a:solidFill>
              <a:latin typeface="+mj-ea"/>
              <a:ea typeface="+mj-ea"/>
            </a:endParaRPr>
          </a:p>
        </p:txBody>
      </p:sp>
      <p:grpSp>
        <p:nvGrpSpPr>
          <p:cNvPr id="13" name="淘宝-想搞设计PPT(倒卖必究)-36"/>
          <p:cNvGrpSpPr/>
          <p:nvPr/>
        </p:nvGrpSpPr>
        <p:grpSpPr>
          <a:xfrm>
            <a:off x="5688425" y="4054475"/>
            <a:ext cx="2443448" cy="391209"/>
            <a:chOff x="5688425" y="4054475"/>
            <a:chExt cx="2443448" cy="391209"/>
          </a:xfrm>
        </p:grpSpPr>
        <p:sp>
          <p:nvSpPr>
            <p:cNvPr id="11" name="Freeform 11"/>
            <p:cNvSpPr/>
            <p:nvPr/>
          </p:nvSpPr>
          <p:spPr>
            <a:xfrm>
              <a:off x="5688425" y="4054507"/>
              <a:ext cx="2443448" cy="307276"/>
            </a:xfrm>
            <a:custGeom>
              <a:avLst/>
              <a:gdLst/>
              <a:ahLst/>
              <a:cxnLst/>
              <a:rect l="l" t="t" r="r" b="b"/>
              <a:pathLst>
                <a:path w="2443448" h="307276">
                  <a:moveTo>
                    <a:pt x="2443448" y="0"/>
                  </a:moveTo>
                  <a:lnTo>
                    <a:pt x="0" y="0"/>
                  </a:lnTo>
                  <a:lnTo>
                    <a:pt x="0" y="307276"/>
                  </a:lnTo>
                  <a:lnTo>
                    <a:pt x="2443448" y="307276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361460" y="4054475"/>
              <a:ext cx="1097283" cy="391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b="1" dirty="0">
                  <a:solidFill>
                    <a:srgbClr val="076145"/>
                  </a:solidFill>
                  <a:latin typeface="等线 Light"/>
                  <a:ea typeface="Microsoft YaHei"/>
                  <a:cs typeface="等线 Light"/>
                </a:rPr>
                <a:t>已有成果</a:t>
              </a:r>
            </a:p>
          </p:txBody>
        </p:sp>
      </p:grpSp>
      <p:sp>
        <p:nvSpPr>
          <p:cNvPr id="33" name="淘宝-想搞设计PPT(倒卖必究)-36"/>
          <p:cNvSpPr txBox="1"/>
          <p:nvPr/>
        </p:nvSpPr>
        <p:spPr>
          <a:xfrm flipH="1">
            <a:off x="9105900" y="4054475"/>
            <a:ext cx="2443480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076145"/>
                </a:solidFill>
                <a:latin typeface="+mj-ea"/>
                <a:ea typeface="+mj-ea"/>
              </a:rPr>
              <a:t>持续推进</a:t>
            </a:r>
            <a:endParaRPr lang="zh-CN" altLang="en-US" sz="2000" b="1" dirty="0">
              <a:solidFill>
                <a:srgbClr val="076145"/>
              </a:solidFill>
              <a:latin typeface="+mj-ea"/>
              <a:ea typeface="+mj-e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2380615" y="1782445"/>
            <a:ext cx="2297430" cy="1360805"/>
          </a:xfrm>
          <a:prstGeom prst="roundRect">
            <a:avLst/>
          </a:prstGeom>
          <a:noFill/>
          <a:ln w="28575" cmpd="sng">
            <a:solidFill>
              <a:srgbClr val="076145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圆角矩形 34"/>
          <p:cNvSpPr/>
          <p:nvPr/>
        </p:nvSpPr>
        <p:spPr>
          <a:xfrm>
            <a:off x="2378075" y="4518660"/>
            <a:ext cx="2299970" cy="1699895"/>
          </a:xfrm>
          <a:prstGeom prst="roundRect">
            <a:avLst/>
          </a:prstGeom>
          <a:noFill/>
          <a:ln w="28575" cmpd="sng">
            <a:solidFill>
              <a:srgbClr val="076145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圆角矩形 35"/>
          <p:cNvSpPr/>
          <p:nvPr/>
        </p:nvSpPr>
        <p:spPr>
          <a:xfrm>
            <a:off x="5802630" y="1782445"/>
            <a:ext cx="2297430" cy="1360805"/>
          </a:xfrm>
          <a:prstGeom prst="roundRect">
            <a:avLst/>
          </a:prstGeom>
          <a:noFill/>
          <a:ln w="28575" cmpd="sng">
            <a:solidFill>
              <a:srgbClr val="076145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圆角矩形 36"/>
          <p:cNvSpPr/>
          <p:nvPr/>
        </p:nvSpPr>
        <p:spPr>
          <a:xfrm>
            <a:off x="5948045" y="4518660"/>
            <a:ext cx="2006600" cy="1699895"/>
          </a:xfrm>
          <a:prstGeom prst="roundRect">
            <a:avLst/>
          </a:prstGeom>
          <a:noFill/>
          <a:ln w="28575" cmpd="sng">
            <a:solidFill>
              <a:srgbClr val="076145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圆角矩形 38"/>
          <p:cNvSpPr/>
          <p:nvPr/>
        </p:nvSpPr>
        <p:spPr>
          <a:xfrm>
            <a:off x="9366250" y="4518660"/>
            <a:ext cx="2006600" cy="1699895"/>
          </a:xfrm>
          <a:prstGeom prst="roundRect">
            <a:avLst/>
          </a:prstGeom>
          <a:noFill/>
          <a:ln w="28575" cmpd="sng">
            <a:solidFill>
              <a:srgbClr val="076145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圆角矩形 39"/>
          <p:cNvSpPr/>
          <p:nvPr/>
        </p:nvSpPr>
        <p:spPr>
          <a:xfrm>
            <a:off x="9224645" y="1782445"/>
            <a:ext cx="2297430" cy="1360805"/>
          </a:xfrm>
          <a:prstGeom prst="roundRect">
            <a:avLst/>
          </a:prstGeom>
          <a:noFill/>
          <a:ln w="28575" cmpd="sng">
            <a:solidFill>
              <a:srgbClr val="076145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2533650" y="1822450"/>
            <a:ext cx="19335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等线"/>
                <a:ea typeface="Microsoft YaHei"/>
                <a:cs typeface="等线"/>
              </a:rPr>
              <a:t>人群活动影像采集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533650" y="2222500"/>
            <a:ext cx="19335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等线"/>
                <a:ea typeface="Microsoft YaHei"/>
                <a:cs typeface="等线"/>
              </a:rPr>
              <a:t>独立功能分区划定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533650" y="2622550"/>
            <a:ext cx="19335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等线"/>
                <a:ea typeface="Microsoft YaHei"/>
                <a:cs typeface="等线"/>
              </a:rPr>
              <a:t>绿地点云扫描建构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962650" y="1822450"/>
            <a:ext cx="19335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等线"/>
                <a:ea typeface="Microsoft YaHei"/>
                <a:cs typeface="等线"/>
              </a:rPr>
              <a:t>人群检测与空间投影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962650" y="2222500"/>
            <a:ext cx="19335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等线"/>
                <a:ea typeface="Microsoft YaHei"/>
                <a:cs typeface="等线"/>
              </a:rPr>
              <a:t>活动单元识别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962650" y="2622550"/>
            <a:ext cx="19335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等线"/>
                <a:ea typeface="Microsoft YaHei"/>
                <a:cs typeface="等线"/>
              </a:rPr>
              <a:t>六指标量化与建模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382125" y="1822450"/>
            <a:ext cx="19335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等线"/>
                <a:ea typeface="Microsoft YaHei"/>
                <a:cs typeface="等线"/>
              </a:rPr>
              <a:t>研究框架与方法整理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382125" y="2222500"/>
            <a:ext cx="19335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等线"/>
                <a:ea typeface="Microsoft YaHei"/>
                <a:cs typeface="等线"/>
              </a:rPr>
              <a:t>阶段性结果归纳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382125" y="2622550"/>
            <a:ext cx="19335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等线"/>
                <a:ea typeface="Microsoft YaHei"/>
                <a:cs typeface="等线"/>
              </a:rPr>
              <a:t>优化策略初步论证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533650" y="4651375"/>
            <a:ext cx="19335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等线"/>
                <a:ea typeface="Microsoft YaHei"/>
                <a:cs typeface="等线"/>
              </a:rPr>
              <a:t>约81.7小时视频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533650" y="5051425"/>
            <a:ext cx="19335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等线"/>
                <a:ea typeface="Microsoft YaHei"/>
                <a:cs typeface="等线"/>
              </a:rPr>
              <a:t>118个功能分区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533650" y="5451475"/>
            <a:ext cx="19335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等线"/>
                <a:ea typeface="Microsoft YaHei"/>
                <a:cs typeface="等线"/>
              </a:rPr>
              <a:t>31个公园点云数据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134100" y="4651375"/>
            <a:ext cx="17526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等线"/>
                <a:ea typeface="Microsoft YaHei"/>
                <a:cs typeface="等线"/>
              </a:rPr>
              <a:t>133个活动单元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134100" y="5051425"/>
            <a:ext cx="17526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等线"/>
                <a:ea typeface="Microsoft YaHei"/>
                <a:cs typeface="等线"/>
              </a:rPr>
              <a:t>两组NB-GLMM结果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134100" y="5451475"/>
            <a:ext cx="17526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等线"/>
                <a:ea typeface="Microsoft YaHei"/>
                <a:cs typeface="等线"/>
              </a:rPr>
              <a:t>完整验证统计待补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553575" y="4651375"/>
            <a:ext cx="17526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等线"/>
                <a:ea typeface="Microsoft YaHei"/>
                <a:cs typeface="等线"/>
              </a:rPr>
              <a:t>章节稿持续完善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553575" y="5051425"/>
            <a:ext cx="17526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等线"/>
                <a:ea typeface="Microsoft YaHei"/>
                <a:cs typeface="等线"/>
              </a:rPr>
              <a:t>真实研究图件待补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553575" y="5451475"/>
            <a:ext cx="17526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等线"/>
                <a:ea typeface="Microsoft YaHei"/>
                <a:cs typeface="等线"/>
              </a:rPr>
              <a:t>论文整合与修改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095500" y="6489700"/>
            <a:ext cx="85725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等线"/>
                <a:ea typeface="Microsoft YaHei"/>
                <a:cs typeface="等线"/>
              </a:rPr>
              <a:t>资料：1010数据采集、Results；大论文提纲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715625" y="6477000"/>
            <a:ext cx="10001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3766E"/>
                </a:solidFill>
                <a:latin typeface="等线"/>
                <a:ea typeface="等线"/>
                <a:cs typeface="等线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淘宝-想搞设计PPT(倒卖必究)-43"/>
          <p:cNvSpPr txBox="1"/>
          <p:nvPr/>
        </p:nvSpPr>
        <p:spPr>
          <a:xfrm>
            <a:off x="2381681" y="655345"/>
            <a:ext cx="3647469" cy="49212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spAutoFit/>
          </a:bodyPr>
          <a:lstStyle>
            <a:defPPr>
              <a:defRPr lang="zh-CN"/>
            </a:defPPr>
            <a:lvl1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defRPr kumimoji="0" sz="2800" b="1" i="0" u="none" strike="noStrike" cap="none" normalizeH="0" baseline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defRPr>
            </a:lvl1pPr>
          </a:lstStyle>
          <a:p>
            <a:r>
              <a:rPr lang="zh-CN" altLang="en-US" sz="3200" dirty="0">
                <a:solidFill>
                  <a:srgbClr val="076145"/>
                </a:solidFill>
              </a:rPr>
              <a:t>数据采集情况</a:t>
            </a:r>
            <a:endParaRPr lang="zh-CN" altLang="en-US" sz="3200" dirty="0">
              <a:solidFill>
                <a:srgbClr val="076145"/>
              </a:solidFill>
            </a:endParaRPr>
          </a:p>
        </p:txBody>
      </p:sp>
      <p:grpSp>
        <p:nvGrpSpPr>
          <p:cNvPr id="12" name="组合 11"/>
          <p:cNvGrpSpPr/>
          <p:nvPr/>
        </p:nvGrpSpPr>
        <p:grpSpPr>
          <a:xfrm rot="0">
            <a:off x="1907540" y="1702435"/>
            <a:ext cx="700405" cy="700405"/>
            <a:chOff x="4820276" y="1139378"/>
            <a:chExt cx="792088" cy="792088"/>
          </a:xfrm>
        </p:grpSpPr>
        <p:sp>
          <p:nvSpPr>
            <p:cNvPr id="13" name="淘宝-想搞设计PPT(倒卖必究)-26"/>
            <p:cNvSpPr/>
            <p:nvPr>
              <p:custDataLst>
                <p:tags r:id="rId1"/>
              </p:custDataLst>
            </p:nvPr>
          </p:nvSpPr>
          <p:spPr>
            <a:xfrm>
              <a:off x="4820276" y="1139378"/>
              <a:ext cx="792088" cy="792088"/>
            </a:xfrm>
            <a:prstGeom prst="ellipse">
              <a:avLst/>
            </a:prstGeom>
            <a:solidFill>
              <a:srgbClr val="0761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36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4" name="淘宝-想搞设计PPT(倒卖必究)-27"/>
            <p:cNvPicPr>
              <a:picLocks noChangeArrowheads="1"/>
            </p:cNvPicPr>
            <p:nvPr>
              <p:custDataLst>
                <p:tags r:id="rId2"/>
              </p:custDataLst>
            </p:nvPr>
          </p:nvPicPr>
          <p:blipFill>
            <a:blip r:embed="rId3" cstate="print">
              <a:extLst>
                <a:ext uri="{28A0092B-C50C-407E-A947-70E740481C1C}">
                  <a14:useLocalDpi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3874" y="1283394"/>
              <a:ext cx="324892" cy="43735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" name="组合 32"/>
          <p:cNvGrpSpPr/>
          <p:nvPr/>
        </p:nvGrpSpPr>
        <p:grpSpPr>
          <a:xfrm rot="0">
            <a:off x="1907540" y="3423920"/>
            <a:ext cx="700405" cy="694055"/>
            <a:chOff x="4764253" y="2104249"/>
            <a:chExt cx="792088" cy="785164"/>
          </a:xfrm>
        </p:grpSpPr>
        <p:sp>
          <p:nvSpPr>
            <p:cNvPr id="34" name="淘宝-想搞设计PPT(倒卖必究)-31"/>
            <p:cNvSpPr/>
            <p:nvPr>
              <p:custDataLst>
                <p:tags r:id="rId4"/>
              </p:custDataLst>
            </p:nvPr>
          </p:nvSpPr>
          <p:spPr>
            <a:xfrm>
              <a:off x="4764253" y="2104249"/>
              <a:ext cx="792088" cy="785164"/>
            </a:xfrm>
            <a:prstGeom prst="ellipse">
              <a:avLst/>
            </a:prstGeom>
            <a:solidFill>
              <a:srgbClr val="0761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6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淘宝-想搞设计PPT(倒卖必究)-32"/>
            <p:cNvSpPr/>
            <p:nvPr>
              <p:custDataLst>
                <p:tags r:id="rId5"/>
              </p:custDataLst>
            </p:nvPr>
          </p:nvSpPr>
          <p:spPr bwMode="auto">
            <a:xfrm>
              <a:off x="4905521" y="2321647"/>
              <a:ext cx="509553" cy="311041"/>
            </a:xfrm>
            <a:custGeom>
              <a:avLst/>
              <a:gdLst>
                <a:gd name="T0" fmla="*/ 535 w 684"/>
                <a:gd name="T1" fmla="*/ 120 h 418"/>
                <a:gd name="T2" fmla="*/ 528 w 684"/>
                <a:gd name="T3" fmla="*/ 121 h 418"/>
                <a:gd name="T4" fmla="*/ 367 w 684"/>
                <a:gd name="T5" fmla="*/ 0 h 418"/>
                <a:gd name="T6" fmla="*/ 208 w 684"/>
                <a:gd name="T7" fmla="*/ 114 h 418"/>
                <a:gd name="T8" fmla="*/ 167 w 684"/>
                <a:gd name="T9" fmla="*/ 101 h 418"/>
                <a:gd name="T10" fmla="*/ 96 w 684"/>
                <a:gd name="T11" fmla="*/ 171 h 418"/>
                <a:gd name="T12" fmla="*/ 0 w 684"/>
                <a:gd name="T13" fmla="*/ 293 h 418"/>
                <a:gd name="T14" fmla="*/ 125 w 684"/>
                <a:gd name="T15" fmla="*/ 418 h 418"/>
                <a:gd name="T16" fmla="*/ 128 w 684"/>
                <a:gd name="T17" fmla="*/ 418 h 418"/>
                <a:gd name="T18" fmla="*/ 131 w 684"/>
                <a:gd name="T19" fmla="*/ 418 h 418"/>
                <a:gd name="T20" fmla="*/ 535 w 684"/>
                <a:gd name="T21" fmla="*/ 418 h 418"/>
                <a:gd name="T22" fmla="*/ 684 w 684"/>
                <a:gd name="T23" fmla="*/ 269 h 418"/>
                <a:gd name="T24" fmla="*/ 535 w 684"/>
                <a:gd name="T25" fmla="*/ 120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4" h="418">
                  <a:moveTo>
                    <a:pt x="535" y="120"/>
                  </a:moveTo>
                  <a:cubicBezTo>
                    <a:pt x="533" y="120"/>
                    <a:pt x="531" y="121"/>
                    <a:pt x="528" y="121"/>
                  </a:cubicBezTo>
                  <a:cubicBezTo>
                    <a:pt x="508" y="51"/>
                    <a:pt x="443" y="0"/>
                    <a:pt x="367" y="0"/>
                  </a:cubicBezTo>
                  <a:cubicBezTo>
                    <a:pt x="293" y="0"/>
                    <a:pt x="230" y="48"/>
                    <a:pt x="208" y="114"/>
                  </a:cubicBezTo>
                  <a:cubicBezTo>
                    <a:pt x="196" y="106"/>
                    <a:pt x="182" y="101"/>
                    <a:pt x="167" y="101"/>
                  </a:cubicBezTo>
                  <a:cubicBezTo>
                    <a:pt x="128" y="101"/>
                    <a:pt x="96" y="132"/>
                    <a:pt x="96" y="171"/>
                  </a:cubicBezTo>
                  <a:cubicBezTo>
                    <a:pt x="41" y="185"/>
                    <a:pt x="0" y="234"/>
                    <a:pt x="0" y="293"/>
                  </a:cubicBezTo>
                  <a:cubicBezTo>
                    <a:pt x="0" y="362"/>
                    <a:pt x="56" y="418"/>
                    <a:pt x="125" y="418"/>
                  </a:cubicBezTo>
                  <a:cubicBezTo>
                    <a:pt x="126" y="418"/>
                    <a:pt x="126" y="418"/>
                    <a:pt x="128" y="418"/>
                  </a:cubicBezTo>
                  <a:cubicBezTo>
                    <a:pt x="129" y="418"/>
                    <a:pt x="130" y="418"/>
                    <a:pt x="131" y="418"/>
                  </a:cubicBezTo>
                  <a:lnTo>
                    <a:pt x="535" y="418"/>
                  </a:lnTo>
                  <a:cubicBezTo>
                    <a:pt x="618" y="418"/>
                    <a:pt x="684" y="351"/>
                    <a:pt x="684" y="269"/>
                  </a:cubicBezTo>
                  <a:cubicBezTo>
                    <a:pt x="684" y="187"/>
                    <a:pt x="618" y="120"/>
                    <a:pt x="535" y="1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216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rot="0">
            <a:off x="1907540" y="5139690"/>
            <a:ext cx="700405" cy="700405"/>
            <a:chOff x="4820276" y="2798267"/>
            <a:chExt cx="792088" cy="792088"/>
          </a:xfrm>
        </p:grpSpPr>
        <p:sp>
          <p:nvSpPr>
            <p:cNvPr id="40" name="淘宝-想搞设计PPT(倒卖必究)-36"/>
            <p:cNvSpPr/>
            <p:nvPr>
              <p:custDataLst>
                <p:tags r:id="rId6"/>
              </p:custDataLst>
            </p:nvPr>
          </p:nvSpPr>
          <p:spPr>
            <a:xfrm>
              <a:off x="4820276" y="2798267"/>
              <a:ext cx="792088" cy="792088"/>
            </a:xfrm>
            <a:prstGeom prst="ellipse">
              <a:avLst/>
            </a:prstGeom>
            <a:solidFill>
              <a:srgbClr val="0761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36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1" name="淘宝-想搞设计PPT(倒卖必究)-37"/>
            <p:cNvPicPr>
              <a:picLocks noChangeArrowheads="1"/>
            </p:cNvPicPr>
            <p:nvPr>
              <p:custDataLst>
                <p:tags r:id="rId7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9929" y="2954894"/>
              <a:ext cx="352660" cy="3812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淘宝-想搞设计PPT(倒卖必究)-39"/>
          <p:cNvSpPr txBox="1"/>
          <p:nvPr>
            <p:custDataLst>
              <p:tags r:id="rId9"/>
            </p:custDataLst>
          </p:nvPr>
        </p:nvSpPr>
        <p:spPr>
          <a:xfrm flipH="1">
            <a:off x="2657475" y="1492885"/>
            <a:ext cx="41268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07614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隶书" panose="02010800040101010101" pitchFamily="2" charset="-122"/>
              </a:rPr>
              <a:t>数据</a:t>
            </a:r>
            <a:r>
              <a:rPr lang="en-US" altLang="zh-CN" sz="2000" b="1" dirty="0">
                <a:solidFill>
                  <a:srgbClr val="07614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隶书" panose="02010800040101010101" pitchFamily="2" charset="-122"/>
              </a:rPr>
              <a:t>1</a:t>
            </a:r>
            <a:r>
              <a:rPr lang="zh-CN" altLang="en-US" sz="2000" b="1" dirty="0">
                <a:solidFill>
                  <a:srgbClr val="07614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隶书" panose="02010800040101010101" pitchFamily="2" charset="-122"/>
              </a:rPr>
              <a:t>：人群活动数据</a:t>
            </a:r>
            <a:endParaRPr lang="zh-CN" altLang="en-US" sz="2000" b="1" dirty="0">
              <a:solidFill>
                <a:srgbClr val="07614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华文隶书" panose="02010800040101010101" pitchFamily="2" charset="-122"/>
            </a:endParaRPr>
          </a:p>
        </p:txBody>
      </p:sp>
      <p:sp>
        <p:nvSpPr>
          <p:cNvPr id="48" name="淘宝-想搞设计PPT(倒卖必究)-39"/>
          <p:cNvSpPr txBox="1"/>
          <p:nvPr>
            <p:custDataLst>
              <p:tags r:id="rId10"/>
            </p:custDataLst>
          </p:nvPr>
        </p:nvSpPr>
        <p:spPr>
          <a:xfrm flipH="1">
            <a:off x="2657475" y="3137535"/>
            <a:ext cx="42779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000" b="1" dirty="0">
                <a:solidFill>
                  <a:srgbClr val="07614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隶书" panose="02010800040101010101" pitchFamily="2" charset="-122"/>
              </a:rPr>
              <a:t>数据</a:t>
            </a:r>
            <a:r>
              <a:rPr lang="en-US" altLang="zh-CN" sz="2000" b="1" dirty="0">
                <a:solidFill>
                  <a:srgbClr val="07614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隶书" panose="02010800040101010101" pitchFamily="2" charset="-122"/>
              </a:rPr>
              <a:t>2</a:t>
            </a:r>
            <a:r>
              <a:rPr lang="zh-CN" altLang="en-US" sz="2000" b="1" dirty="0">
                <a:solidFill>
                  <a:srgbClr val="07614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隶书" panose="02010800040101010101" pitchFamily="2" charset="-122"/>
              </a:rPr>
              <a:t>：绿地分区数据</a:t>
            </a:r>
            <a:endParaRPr lang="zh-CN" altLang="en-US" sz="2000" b="1" dirty="0">
              <a:solidFill>
                <a:srgbClr val="07614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华文隶书" panose="02010800040101010101" pitchFamily="2" charset="-122"/>
            </a:endParaRPr>
          </a:p>
        </p:txBody>
      </p:sp>
      <p:sp>
        <p:nvSpPr>
          <p:cNvPr id="49" name="淘宝-想搞设计PPT(倒卖必究)-39"/>
          <p:cNvSpPr txBox="1"/>
          <p:nvPr>
            <p:custDataLst>
              <p:tags r:id="rId11"/>
            </p:custDataLst>
          </p:nvPr>
        </p:nvSpPr>
        <p:spPr>
          <a:xfrm flipH="1">
            <a:off x="2657475" y="4782185"/>
            <a:ext cx="41268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000" b="1" dirty="0">
                <a:solidFill>
                  <a:srgbClr val="07614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隶书" panose="02010800040101010101" pitchFamily="2" charset="-122"/>
              </a:rPr>
              <a:t>数据3：绿地点云数据</a:t>
            </a:r>
            <a:endParaRPr lang="zh-CN" altLang="en-US" sz="2000" b="1" dirty="0">
              <a:solidFill>
                <a:srgbClr val="07614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华文隶书" panose="02010800040101010101" pitchFamily="2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752725" y="1863725"/>
            <a:ext cx="600075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冬春两季；工作日与周末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52725" y="2178050"/>
            <a:ext cx="600075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08–11／14–17／18–21时；累计约81.7小时</a:t>
            </a:r>
          </a:p>
        </p:txBody>
      </p:sp>
      <p:sp>
        <p:nvSpPr>
          <p:cNvPr id="84" name="Rectangle 13"/>
          <p:cNvSpPr/>
          <p:nvPr/>
        </p:nvSpPr>
        <p:spPr>
          <a:xfrm>
            <a:off x="9391650" y="1752600"/>
            <a:ext cx="2124075" cy="118110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85" name="Rectangle 14"/>
          <p:cNvSpPr/>
          <p:nvPr/>
        </p:nvSpPr>
        <p:spPr>
          <a:xfrm>
            <a:off x="9667875" y="2047875"/>
            <a:ext cx="209550" cy="419100"/>
          </a:xfrm>
          <a:prstGeom prst="rect">
            <a:avLst/>
          </a:prstGeom>
          <a:noFill/>
          <a:ln w="19050">
            <a:solidFill>
              <a:srgbClr val="076145"/>
            </a:solidFill>
          </a:ln>
        </p:spPr>
      </p:sp>
      <p:sp>
        <p:nvSpPr>
          <p:cNvPr id="15" name="Ellipse 15"/>
          <p:cNvSpPr/>
          <p:nvPr/>
        </p:nvSpPr>
        <p:spPr>
          <a:xfrm>
            <a:off x="9696450" y="1914525"/>
            <a:ext cx="152400" cy="15240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10296525" y="2047875"/>
            <a:ext cx="209550" cy="419100"/>
          </a:xfrm>
          <a:prstGeom prst="rect">
            <a:avLst/>
          </a:prstGeom>
          <a:noFill/>
          <a:ln w="19050">
            <a:solidFill>
              <a:srgbClr val="076145"/>
            </a:solidFill>
          </a:ln>
        </p:spPr>
      </p:sp>
      <p:sp>
        <p:nvSpPr>
          <p:cNvPr id="17" name="Ellipse 17"/>
          <p:cNvSpPr/>
          <p:nvPr/>
        </p:nvSpPr>
        <p:spPr>
          <a:xfrm>
            <a:off x="10325100" y="1914525"/>
            <a:ext cx="152400" cy="15240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0925175" y="2047875"/>
            <a:ext cx="209550" cy="419100"/>
          </a:xfrm>
          <a:prstGeom prst="rect">
            <a:avLst/>
          </a:prstGeom>
          <a:noFill/>
          <a:ln w="19050">
            <a:solidFill>
              <a:srgbClr val="076145"/>
            </a:solidFill>
          </a:ln>
        </p:spPr>
      </p:sp>
      <p:sp>
        <p:nvSpPr>
          <p:cNvPr id="19" name="Ellipse 19"/>
          <p:cNvSpPr/>
          <p:nvPr/>
        </p:nvSpPr>
        <p:spPr>
          <a:xfrm>
            <a:off x="10953750" y="1914525"/>
            <a:ext cx="152400" cy="15240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9639300" y="2619375"/>
            <a:ext cx="1609725" cy="9525"/>
          </a:xfrm>
          <a:custGeom>
            <a:avLst/>
            <a:gdLst/>
            <a:ahLst/>
            <a:cxnLst/>
            <a:rect l="l" t="t" r="r" b="b"/>
            <a:pathLst>
              <a:path w="1609725" h="9525">
                <a:moveTo>
                  <a:pt x="0" y="0"/>
                </a:moveTo>
                <a:lnTo>
                  <a:pt x="1609725" y="0"/>
                </a:lnTo>
              </a:path>
            </a:pathLst>
          </a:custGeom>
          <a:noFill/>
          <a:ln w="19050">
            <a:solidFill>
              <a:srgbClr val="07614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0225" y="3003550"/>
            <a:ext cx="206692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人群采集示意（非实测）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752725" y="3521075"/>
            <a:ext cx="600075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南京老城区31个口袋公园；面积0.4–1.2公顷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752725" y="3835400"/>
            <a:ext cx="600075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百度地图底图与ArcGIS矢量化；118个功能分区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391650" y="3409950"/>
            <a:ext cx="2124075" cy="118110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9553575" y="3533775"/>
            <a:ext cx="1762125" cy="885825"/>
          </a:xfrm>
          <a:prstGeom prst="rect">
            <a:avLst/>
          </a:prstGeom>
          <a:noFill/>
          <a:ln w="19050">
            <a:solidFill>
              <a:srgbClr val="076145"/>
            </a:solidFill>
          </a:ln>
        </p:spPr>
      </p:sp>
      <p:sp>
        <p:nvSpPr>
          <p:cNvPr id="26" name="Line 26"/>
          <p:cNvSpPr/>
          <p:nvPr/>
        </p:nvSpPr>
        <p:spPr>
          <a:xfrm>
            <a:off x="10420350" y="3533775"/>
            <a:ext cx="9525" cy="885825"/>
          </a:xfrm>
          <a:custGeom>
            <a:avLst/>
            <a:gdLst/>
            <a:ahLst/>
            <a:cxnLst/>
            <a:rect l="l" t="t" r="r" b="b"/>
            <a:pathLst>
              <a:path w="9525" h="885825">
                <a:moveTo>
                  <a:pt x="0" y="0"/>
                </a:moveTo>
                <a:lnTo>
                  <a:pt x="0" y="885825"/>
                </a:lnTo>
              </a:path>
            </a:pathLst>
          </a:custGeom>
          <a:noFill/>
          <a:ln w="19050">
            <a:solidFill>
              <a:srgbClr val="076145"/>
            </a:solidFill>
          </a:ln>
        </p:spPr>
      </p:sp>
      <p:sp>
        <p:nvSpPr>
          <p:cNvPr id="27" name="Line 27"/>
          <p:cNvSpPr/>
          <p:nvPr/>
        </p:nvSpPr>
        <p:spPr>
          <a:xfrm>
            <a:off x="9553575" y="3971925"/>
            <a:ext cx="1762125" cy="9525"/>
          </a:xfrm>
          <a:custGeom>
            <a:avLst/>
            <a:gdLst/>
            <a:ahLst/>
            <a:cxnLst/>
            <a:rect l="l" t="t" r="r" b="b"/>
            <a:pathLst>
              <a:path w="1762125" h="9525">
                <a:moveTo>
                  <a:pt x="0" y="0"/>
                </a:moveTo>
                <a:lnTo>
                  <a:pt x="1762125" y="0"/>
                </a:lnTo>
              </a:path>
            </a:pathLst>
          </a:custGeom>
          <a:noFill/>
          <a:ln w="19050">
            <a:solidFill>
              <a:srgbClr val="076145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9629775" y="3600450"/>
            <a:ext cx="657225" cy="276225"/>
          </a:xfrm>
          <a:prstGeom prst="rect">
            <a:avLst/>
          </a:prstGeom>
          <a:solidFill>
            <a:srgbClr val="B9D2C4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10515600" y="4067175"/>
            <a:ext cx="666750" cy="276225"/>
          </a:xfrm>
          <a:prstGeom prst="rect">
            <a:avLst/>
          </a:prstGeom>
          <a:solidFill>
            <a:srgbClr val="B9D2C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420225" y="4660900"/>
            <a:ext cx="206692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分区示意（非真实地图）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752725" y="5178425"/>
            <a:ext cx="600075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31个公园扫描；Trimble RealWorks配准分类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752725" y="5492750"/>
            <a:ext cx="600075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植物／地面／建筑／设施／其他，共五类</a:t>
            </a:r>
          </a:p>
        </p:txBody>
      </p:sp>
      <p:sp>
        <p:nvSpPr>
          <p:cNvPr id="86" name="Rectangle 34"/>
          <p:cNvSpPr/>
          <p:nvPr/>
        </p:nvSpPr>
        <p:spPr>
          <a:xfrm>
            <a:off x="9391650" y="5067300"/>
            <a:ext cx="2124075" cy="118110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87" name="Ellipse 35"/>
          <p:cNvSpPr/>
          <p:nvPr/>
        </p:nvSpPr>
        <p:spPr>
          <a:xfrm>
            <a:off x="9572625" y="5248275"/>
            <a:ext cx="57150" cy="57150"/>
          </a:xfrm>
          <a:prstGeom prst="ellipse">
            <a:avLst/>
          </a:prstGeom>
          <a:solidFill>
            <a:srgbClr val="A6BCAE"/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9829800" y="5248275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37" name="Ellipse 37"/>
          <p:cNvSpPr/>
          <p:nvPr/>
        </p:nvSpPr>
        <p:spPr>
          <a:xfrm>
            <a:off x="10086975" y="5248275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10344150" y="5248275"/>
            <a:ext cx="57150" cy="57150"/>
          </a:xfrm>
          <a:prstGeom prst="ellipse">
            <a:avLst/>
          </a:prstGeom>
          <a:solidFill>
            <a:srgbClr val="A6BCAE"/>
          </a:solidFill>
          <a:ln>
            <a:noFill/>
          </a:ln>
        </p:spPr>
      </p:sp>
      <p:sp>
        <p:nvSpPr>
          <p:cNvPr id="88" name="Ellipse 40"/>
          <p:cNvSpPr/>
          <p:nvPr/>
        </p:nvSpPr>
        <p:spPr>
          <a:xfrm>
            <a:off x="10601325" y="5248275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89" name="Ellipse 41"/>
          <p:cNvSpPr/>
          <p:nvPr/>
        </p:nvSpPr>
        <p:spPr>
          <a:xfrm>
            <a:off x="10858500" y="5248275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42" name="Ellipse 42"/>
          <p:cNvSpPr/>
          <p:nvPr/>
        </p:nvSpPr>
        <p:spPr>
          <a:xfrm>
            <a:off x="11115675" y="5248275"/>
            <a:ext cx="57150" cy="57150"/>
          </a:xfrm>
          <a:prstGeom prst="ellipse">
            <a:avLst/>
          </a:prstGeom>
          <a:solidFill>
            <a:srgbClr val="A6BCAE"/>
          </a:solidFill>
          <a:ln>
            <a:noFill/>
          </a:ln>
        </p:spPr>
      </p:sp>
      <p:sp>
        <p:nvSpPr>
          <p:cNvPr id="43" name="Ellipse 43"/>
          <p:cNvSpPr/>
          <p:nvPr/>
        </p:nvSpPr>
        <p:spPr>
          <a:xfrm>
            <a:off x="9572625" y="539115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44" name="Ellipse 44"/>
          <p:cNvSpPr/>
          <p:nvPr/>
        </p:nvSpPr>
        <p:spPr>
          <a:xfrm>
            <a:off x="9829800" y="539115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45" name="Ellipse 45"/>
          <p:cNvSpPr/>
          <p:nvPr/>
        </p:nvSpPr>
        <p:spPr>
          <a:xfrm>
            <a:off x="10086975" y="5391150"/>
            <a:ext cx="57150" cy="57150"/>
          </a:xfrm>
          <a:prstGeom prst="ellipse">
            <a:avLst/>
          </a:prstGeom>
          <a:solidFill>
            <a:srgbClr val="A6BCAE"/>
          </a:solidFill>
          <a:ln>
            <a:noFill/>
          </a:ln>
        </p:spPr>
      </p:sp>
      <p:sp>
        <p:nvSpPr>
          <p:cNvPr id="46" name="Ellipse 46"/>
          <p:cNvSpPr/>
          <p:nvPr/>
        </p:nvSpPr>
        <p:spPr>
          <a:xfrm>
            <a:off x="10344150" y="539115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50" name="Ellipse 50"/>
          <p:cNvSpPr/>
          <p:nvPr/>
        </p:nvSpPr>
        <p:spPr>
          <a:xfrm>
            <a:off x="10601325" y="539115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51" name="Ellipse 51"/>
          <p:cNvSpPr/>
          <p:nvPr/>
        </p:nvSpPr>
        <p:spPr>
          <a:xfrm>
            <a:off x="10858500" y="5391150"/>
            <a:ext cx="57150" cy="57150"/>
          </a:xfrm>
          <a:prstGeom prst="ellipse">
            <a:avLst/>
          </a:prstGeom>
          <a:solidFill>
            <a:srgbClr val="A6BCAE"/>
          </a:solidFill>
          <a:ln>
            <a:noFill/>
          </a:ln>
        </p:spPr>
      </p:sp>
      <p:sp>
        <p:nvSpPr>
          <p:cNvPr id="52" name="Ellipse 52"/>
          <p:cNvSpPr/>
          <p:nvPr/>
        </p:nvSpPr>
        <p:spPr>
          <a:xfrm>
            <a:off x="11115675" y="539115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53" name="Ellipse 53"/>
          <p:cNvSpPr/>
          <p:nvPr/>
        </p:nvSpPr>
        <p:spPr>
          <a:xfrm>
            <a:off x="9572625" y="5534025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54" name="Ellipse 54"/>
          <p:cNvSpPr/>
          <p:nvPr/>
        </p:nvSpPr>
        <p:spPr>
          <a:xfrm>
            <a:off x="9829800" y="5534025"/>
            <a:ext cx="57150" cy="57150"/>
          </a:xfrm>
          <a:prstGeom prst="ellipse">
            <a:avLst/>
          </a:prstGeom>
          <a:solidFill>
            <a:srgbClr val="A6BCAE"/>
          </a:solidFill>
          <a:ln>
            <a:noFill/>
          </a:ln>
        </p:spPr>
      </p:sp>
      <p:sp>
        <p:nvSpPr>
          <p:cNvPr id="55" name="Ellipse 55"/>
          <p:cNvSpPr/>
          <p:nvPr/>
        </p:nvSpPr>
        <p:spPr>
          <a:xfrm>
            <a:off x="10086975" y="5534025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56" name="Ellipse 56"/>
          <p:cNvSpPr/>
          <p:nvPr/>
        </p:nvSpPr>
        <p:spPr>
          <a:xfrm>
            <a:off x="10344150" y="5534025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57" name="Ellipse 57"/>
          <p:cNvSpPr/>
          <p:nvPr/>
        </p:nvSpPr>
        <p:spPr>
          <a:xfrm>
            <a:off x="10601325" y="5534025"/>
            <a:ext cx="57150" cy="57150"/>
          </a:xfrm>
          <a:prstGeom prst="ellipse">
            <a:avLst/>
          </a:prstGeom>
          <a:solidFill>
            <a:srgbClr val="A6BCAE"/>
          </a:solidFill>
          <a:ln>
            <a:noFill/>
          </a:ln>
        </p:spPr>
      </p:sp>
      <p:sp>
        <p:nvSpPr>
          <p:cNvPr id="58" name="Ellipse 58"/>
          <p:cNvSpPr/>
          <p:nvPr/>
        </p:nvSpPr>
        <p:spPr>
          <a:xfrm>
            <a:off x="10858500" y="5534025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59" name="Ellipse 59"/>
          <p:cNvSpPr/>
          <p:nvPr/>
        </p:nvSpPr>
        <p:spPr>
          <a:xfrm>
            <a:off x="11115675" y="5534025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60" name="Ellipse 60"/>
          <p:cNvSpPr/>
          <p:nvPr/>
        </p:nvSpPr>
        <p:spPr>
          <a:xfrm>
            <a:off x="9572625" y="5676900"/>
            <a:ext cx="57150" cy="57150"/>
          </a:xfrm>
          <a:prstGeom prst="ellipse">
            <a:avLst/>
          </a:prstGeom>
          <a:solidFill>
            <a:srgbClr val="A6BCAE"/>
          </a:solidFill>
          <a:ln>
            <a:noFill/>
          </a:ln>
        </p:spPr>
      </p:sp>
      <p:sp>
        <p:nvSpPr>
          <p:cNvPr id="61" name="Ellipse 61"/>
          <p:cNvSpPr/>
          <p:nvPr/>
        </p:nvSpPr>
        <p:spPr>
          <a:xfrm>
            <a:off x="9829800" y="567690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62" name="Ellipse 62"/>
          <p:cNvSpPr/>
          <p:nvPr/>
        </p:nvSpPr>
        <p:spPr>
          <a:xfrm>
            <a:off x="10086975" y="567690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63" name="Ellipse 63"/>
          <p:cNvSpPr/>
          <p:nvPr/>
        </p:nvSpPr>
        <p:spPr>
          <a:xfrm>
            <a:off x="10344150" y="5676900"/>
            <a:ext cx="57150" cy="57150"/>
          </a:xfrm>
          <a:prstGeom prst="ellipse">
            <a:avLst/>
          </a:prstGeom>
          <a:solidFill>
            <a:srgbClr val="A6BCAE"/>
          </a:solidFill>
          <a:ln>
            <a:noFill/>
          </a:ln>
        </p:spPr>
      </p:sp>
      <p:sp>
        <p:nvSpPr>
          <p:cNvPr id="64" name="Ellipse 64"/>
          <p:cNvSpPr/>
          <p:nvPr/>
        </p:nvSpPr>
        <p:spPr>
          <a:xfrm>
            <a:off x="10601325" y="567690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65" name="Ellipse 65"/>
          <p:cNvSpPr/>
          <p:nvPr/>
        </p:nvSpPr>
        <p:spPr>
          <a:xfrm>
            <a:off x="10858500" y="567690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66" name="Ellipse 66"/>
          <p:cNvSpPr/>
          <p:nvPr/>
        </p:nvSpPr>
        <p:spPr>
          <a:xfrm>
            <a:off x="11115675" y="5676900"/>
            <a:ext cx="57150" cy="57150"/>
          </a:xfrm>
          <a:prstGeom prst="ellipse">
            <a:avLst/>
          </a:prstGeom>
          <a:solidFill>
            <a:srgbClr val="A6BCAE"/>
          </a:solidFill>
          <a:ln>
            <a:noFill/>
          </a:ln>
        </p:spPr>
      </p:sp>
      <p:sp>
        <p:nvSpPr>
          <p:cNvPr id="67" name="Ellipse 67"/>
          <p:cNvSpPr/>
          <p:nvPr/>
        </p:nvSpPr>
        <p:spPr>
          <a:xfrm>
            <a:off x="9572625" y="5819775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68" name="Ellipse 68"/>
          <p:cNvSpPr/>
          <p:nvPr/>
        </p:nvSpPr>
        <p:spPr>
          <a:xfrm>
            <a:off x="9829800" y="5819775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69" name="Ellipse 69"/>
          <p:cNvSpPr/>
          <p:nvPr/>
        </p:nvSpPr>
        <p:spPr>
          <a:xfrm>
            <a:off x="10086975" y="5819775"/>
            <a:ext cx="57150" cy="57150"/>
          </a:xfrm>
          <a:prstGeom prst="ellipse">
            <a:avLst/>
          </a:prstGeom>
          <a:solidFill>
            <a:srgbClr val="A6BCAE"/>
          </a:solidFill>
          <a:ln>
            <a:noFill/>
          </a:ln>
        </p:spPr>
      </p:sp>
      <p:sp>
        <p:nvSpPr>
          <p:cNvPr id="70" name="Ellipse 70"/>
          <p:cNvSpPr/>
          <p:nvPr/>
        </p:nvSpPr>
        <p:spPr>
          <a:xfrm>
            <a:off x="10344150" y="5819775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71" name="Ellipse 71"/>
          <p:cNvSpPr/>
          <p:nvPr/>
        </p:nvSpPr>
        <p:spPr>
          <a:xfrm>
            <a:off x="10601325" y="5819775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72" name="Ellipse 72"/>
          <p:cNvSpPr/>
          <p:nvPr/>
        </p:nvSpPr>
        <p:spPr>
          <a:xfrm>
            <a:off x="10858500" y="5819775"/>
            <a:ext cx="57150" cy="57150"/>
          </a:xfrm>
          <a:prstGeom prst="ellipse">
            <a:avLst/>
          </a:prstGeom>
          <a:solidFill>
            <a:srgbClr val="A6BCAE"/>
          </a:solidFill>
          <a:ln>
            <a:noFill/>
          </a:ln>
        </p:spPr>
      </p:sp>
      <p:sp>
        <p:nvSpPr>
          <p:cNvPr id="73" name="Ellipse 73"/>
          <p:cNvSpPr/>
          <p:nvPr/>
        </p:nvSpPr>
        <p:spPr>
          <a:xfrm>
            <a:off x="11115675" y="5819775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74" name="Ellipse 74"/>
          <p:cNvSpPr/>
          <p:nvPr/>
        </p:nvSpPr>
        <p:spPr>
          <a:xfrm>
            <a:off x="9572625" y="596265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75" name="Ellipse 75"/>
          <p:cNvSpPr/>
          <p:nvPr/>
        </p:nvSpPr>
        <p:spPr>
          <a:xfrm>
            <a:off x="9829800" y="5962650"/>
            <a:ext cx="57150" cy="57150"/>
          </a:xfrm>
          <a:prstGeom prst="ellipse">
            <a:avLst/>
          </a:prstGeom>
          <a:solidFill>
            <a:srgbClr val="A6BCAE"/>
          </a:solidFill>
          <a:ln>
            <a:noFill/>
          </a:ln>
        </p:spPr>
      </p:sp>
      <p:sp>
        <p:nvSpPr>
          <p:cNvPr id="76" name="Ellipse 76"/>
          <p:cNvSpPr/>
          <p:nvPr/>
        </p:nvSpPr>
        <p:spPr>
          <a:xfrm>
            <a:off x="10086975" y="596265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77" name="Ellipse 77"/>
          <p:cNvSpPr/>
          <p:nvPr/>
        </p:nvSpPr>
        <p:spPr>
          <a:xfrm>
            <a:off x="10344150" y="596265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78" name="Ellipse 78"/>
          <p:cNvSpPr/>
          <p:nvPr/>
        </p:nvSpPr>
        <p:spPr>
          <a:xfrm>
            <a:off x="10601325" y="5962650"/>
            <a:ext cx="57150" cy="57150"/>
          </a:xfrm>
          <a:prstGeom prst="ellipse">
            <a:avLst/>
          </a:prstGeom>
          <a:solidFill>
            <a:srgbClr val="A6BCAE"/>
          </a:solidFill>
          <a:ln>
            <a:noFill/>
          </a:ln>
        </p:spPr>
      </p:sp>
      <p:sp>
        <p:nvSpPr>
          <p:cNvPr id="79" name="Ellipse 79"/>
          <p:cNvSpPr/>
          <p:nvPr/>
        </p:nvSpPr>
        <p:spPr>
          <a:xfrm>
            <a:off x="10858500" y="596265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80" name="Ellipse 80"/>
          <p:cNvSpPr/>
          <p:nvPr/>
        </p:nvSpPr>
        <p:spPr>
          <a:xfrm>
            <a:off x="11115675" y="596265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9420225" y="6318250"/>
            <a:ext cx="206692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点云示意（非实测）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2095500" y="6489700"/>
            <a:ext cx="85725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资料：1010 Study areas、Data collection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0715625" y="6477000"/>
            <a:ext cx="10001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2095500" y="330200"/>
            <a:ext cx="94297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PART 02 / 数据采集情况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95500" y="701675"/>
            <a:ext cx="971550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视频采集实施与空间数据组织</a:t>
            </a:r>
          </a:p>
        </p:txBody>
      </p:sp>
      <p:sp>
        <p:nvSpPr>
          <p:cNvPr id="4" name="Line 4"/>
          <p:cNvSpPr/>
          <p:nvPr/>
        </p:nvSpPr>
        <p:spPr>
          <a:xfrm>
            <a:off x="2095500" y="1304925"/>
            <a:ext cx="9620250" cy="9525"/>
          </a:xfrm>
          <a:custGeom>
            <a:avLst/>
            <a:gdLst/>
            <a:ahLst/>
            <a:cxnLst/>
            <a:rect l="l" t="t" r="r" b="b"/>
            <a:pathLst>
              <a:path w="9620250" h="9525">
                <a:moveTo>
                  <a:pt x="0" y="0"/>
                </a:moveTo>
                <a:lnTo>
                  <a:pt x="9620250" y="0"/>
                </a:lnTo>
              </a:path>
            </a:pathLst>
          </a:custGeom>
          <a:noFill/>
          <a:ln w="9525">
            <a:solidFill>
              <a:srgbClr val="CADBCF"/>
            </a:solidFill>
          </a:ln>
        </p:spPr>
      </p:sp>
      <p:graphicFrame>
        <p:nvGraphicFramePr>
          <p:cNvPr id="5" name="data-table"/>
          <p:cNvGraphicFramePr>
            <a:graphicFrameLocks noGrp="1"/>
          </p:cNvGraphicFramePr>
          <p:nvPr/>
        </p:nvGraphicFramePr>
        <p:xfrm>
          <a:off x="2095500" y="1809750"/>
          <a:ext cx="5524500" cy="330993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762250"/>
                <a:gridCol w="2762250"/>
              </a:tblGrid>
              <a:tr h="452438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采集条件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07614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实际材料记录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076145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采集季节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冬季、春季；工作日与周末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观察时段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08–11／14–17／18–21时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机位与规格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高度1.60m；1920×1080；30帧/s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视频规模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每段3–4分钟；累计约81.7小时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6"/>
          <p:cNvSpPr/>
          <p:nvPr/>
        </p:nvSpPr>
        <p:spPr>
          <a:xfrm>
            <a:off x="8029575" y="1809750"/>
            <a:ext cx="3686175" cy="3429000"/>
          </a:xfrm>
          <a:prstGeom prst="rect">
            <a:avLst/>
          </a:prstGeom>
          <a:solidFill>
            <a:srgbClr val="F3F7F5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229600" y="1936750"/>
            <a:ext cx="3286125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视频—地图—点云配准</a:t>
            </a:r>
          </a:p>
        </p:txBody>
      </p:sp>
      <p:sp>
        <p:nvSpPr>
          <p:cNvPr id="8" name="Polygon 8"/>
          <p:cNvSpPr/>
          <p:nvPr/>
        </p:nvSpPr>
        <p:spPr>
          <a:xfrm>
            <a:off x="8334375" y="3228975"/>
            <a:ext cx="2952750" cy="1857375"/>
          </a:xfrm>
          <a:custGeom>
            <a:avLst/>
            <a:gdLst/>
            <a:ahLst/>
            <a:cxnLst/>
            <a:rect l="l" t="t" r="r" b="b"/>
            <a:pathLst>
              <a:path w="2952750" h="1857375">
                <a:moveTo>
                  <a:pt x="0" y="1419225"/>
                </a:moveTo>
                <a:lnTo>
                  <a:pt x="1428750" y="0"/>
                </a:lnTo>
                <a:lnTo>
                  <a:pt x="2952750" y="1323975"/>
                </a:lnTo>
                <a:lnTo>
                  <a:pt x="1524000" y="1857375"/>
                </a:lnTo>
                <a:close/>
              </a:path>
            </a:pathLst>
          </a:custGeom>
          <a:solidFill>
            <a:srgbClr val="C8DED2"/>
          </a:solidFill>
          <a:ln w="19050">
            <a:solidFill>
              <a:srgbClr val="076145"/>
            </a:solidFill>
          </a:ln>
        </p:spPr>
      </p:sp>
      <p:sp>
        <p:nvSpPr>
          <p:cNvPr id="9" name="Ellipse 9"/>
          <p:cNvSpPr/>
          <p:nvPr/>
        </p:nvSpPr>
        <p:spPr>
          <a:xfrm>
            <a:off x="9182100" y="4191000"/>
            <a:ext cx="114300" cy="11430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629775" y="4352925"/>
            <a:ext cx="114300" cy="11430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0277475" y="4276725"/>
            <a:ext cx="114300" cy="11430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8562975" y="2990850"/>
            <a:ext cx="371475" cy="257175"/>
          </a:xfrm>
          <a:prstGeom prst="rect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13" name="Polygon 13"/>
          <p:cNvSpPr/>
          <p:nvPr/>
        </p:nvSpPr>
        <p:spPr>
          <a:xfrm>
            <a:off x="8934450" y="2971800"/>
            <a:ext cx="142875" cy="304800"/>
          </a:xfrm>
          <a:custGeom>
            <a:avLst/>
            <a:gdLst/>
            <a:ahLst/>
            <a:cxnLst/>
            <a:rect l="l" t="t" r="r" b="b"/>
            <a:pathLst>
              <a:path w="142875" h="304800">
                <a:moveTo>
                  <a:pt x="0" y="66675"/>
                </a:moveTo>
                <a:lnTo>
                  <a:pt x="142875" y="0"/>
                </a:lnTo>
                <a:lnTo>
                  <a:pt x="142875" y="304800"/>
                </a:lnTo>
                <a:lnTo>
                  <a:pt x="0" y="228600"/>
                </a:lnTo>
                <a:close/>
              </a:path>
            </a:pathLst>
          </a:custGeom>
          <a:solidFill>
            <a:srgbClr val="076145"/>
          </a:solidFill>
          <a:ln>
            <a:noFill/>
          </a:ln>
        </p:spPr>
      </p:sp>
      <p:sp>
        <p:nvSpPr>
          <p:cNvPr id="14" name="Line 14"/>
          <p:cNvSpPr/>
          <p:nvPr/>
        </p:nvSpPr>
        <p:spPr>
          <a:xfrm>
            <a:off x="8667750" y="3248025"/>
            <a:ext cx="95250" cy="466725"/>
          </a:xfrm>
          <a:custGeom>
            <a:avLst/>
            <a:gdLst/>
            <a:ahLst/>
            <a:cxnLst/>
            <a:rect l="l" t="t" r="r" b="b"/>
            <a:pathLst>
              <a:path w="95250" h="466725">
                <a:moveTo>
                  <a:pt x="95250" y="0"/>
                </a:moveTo>
                <a:lnTo>
                  <a:pt x="0" y="466725"/>
                </a:lnTo>
              </a:path>
            </a:pathLst>
          </a:custGeom>
          <a:noFill/>
          <a:ln w="28575">
            <a:solidFill>
              <a:srgbClr val="076145"/>
            </a:solidFill>
          </a:ln>
        </p:spPr>
      </p:sp>
      <p:sp>
        <p:nvSpPr>
          <p:cNvPr id="15" name="Line 15"/>
          <p:cNvSpPr/>
          <p:nvPr/>
        </p:nvSpPr>
        <p:spPr>
          <a:xfrm>
            <a:off x="8763000" y="3248025"/>
            <a:ext cx="180975" cy="466725"/>
          </a:xfrm>
          <a:custGeom>
            <a:avLst/>
            <a:gdLst/>
            <a:ahLst/>
            <a:cxnLst/>
            <a:rect l="l" t="t" r="r" b="b"/>
            <a:pathLst>
              <a:path w="180975" h="466725">
                <a:moveTo>
                  <a:pt x="0" y="0"/>
                </a:moveTo>
                <a:lnTo>
                  <a:pt x="180975" y="466725"/>
                </a:lnTo>
              </a:path>
            </a:pathLst>
          </a:custGeom>
          <a:noFill/>
          <a:ln w="28575">
            <a:solidFill>
              <a:srgbClr val="076145"/>
            </a:solidFill>
          </a:ln>
        </p:spPr>
      </p:sp>
      <p:sp>
        <p:nvSpPr>
          <p:cNvPr id="16" name="Line 16"/>
          <p:cNvSpPr/>
          <p:nvPr/>
        </p:nvSpPr>
        <p:spPr>
          <a:xfrm>
            <a:off x="9010650" y="3248025"/>
            <a:ext cx="1466850" cy="1162050"/>
          </a:xfrm>
          <a:custGeom>
            <a:avLst/>
            <a:gdLst/>
            <a:ahLst/>
            <a:cxnLst/>
            <a:rect l="l" t="t" r="r" b="b"/>
            <a:pathLst>
              <a:path w="1466850" h="1162050">
                <a:moveTo>
                  <a:pt x="0" y="0"/>
                </a:moveTo>
                <a:lnTo>
                  <a:pt x="1466850" y="1162050"/>
                </a:lnTo>
              </a:path>
            </a:pathLst>
          </a:custGeom>
          <a:noFill/>
          <a:ln w="19050">
            <a:solidFill>
              <a:srgbClr val="8DAB9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181975" y="5448300"/>
            <a:ext cx="3495675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概念采集场景 · 非真实场地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095500" y="5905500"/>
            <a:ext cx="9620250" cy="4762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2266950" y="6010275"/>
            <a:ext cx="92583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已完成冬春多时段数据采集；实证范围限定于31个样本，不代表全年全市。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95500" y="6489700"/>
            <a:ext cx="85725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资料：1010数据采集与研究局限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715625" y="6477000"/>
            <a:ext cx="10001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淘宝-想搞设计PPT(倒卖必究)-36"/>
          <p:cNvSpPr txBox="1"/>
          <p:nvPr/>
        </p:nvSpPr>
        <p:spPr>
          <a:xfrm>
            <a:off x="2358407" y="664089"/>
            <a:ext cx="3647469" cy="49212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spAutoFit/>
          </a:bodyPr>
          <a:lstStyle>
            <a:defPPr>
              <a:defRPr lang="zh-CN"/>
            </a:defPPr>
            <a:lvl1pPr marR="0" lvl="0" indent="0">
              <a:lnSpc>
                <a:spcPct val="100000"/>
              </a:lnSpc>
              <a:buClrTx/>
              <a:buSzTx/>
              <a:buFontTx/>
              <a:buNone/>
              <a:defRPr kumimoji="0" sz="3200" b="1" i="0" u="none" strike="noStrike" cap="none" normalizeH="0" baseline="0">
                <a:ln>
                  <a:noFill/>
                </a:ln>
                <a:solidFill>
                  <a:srgbClr val="447A8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defRPr>
            </a:lvl1pPr>
          </a:lstStyle>
          <a:p>
            <a:r>
              <a:rPr lang="zh-CN" altLang="en-US" dirty="0">
                <a:solidFill>
                  <a:srgbClr val="076145"/>
                </a:solidFill>
              </a:rPr>
              <a:t>研究方法</a:t>
            </a:r>
            <a:endParaRPr lang="zh-CN" altLang="en-US" dirty="0">
              <a:solidFill>
                <a:srgbClr val="076145"/>
              </a:solidFill>
            </a:endParaRPr>
          </a:p>
        </p:txBody>
      </p:sp>
      <p:sp>
        <p:nvSpPr>
          <p:cNvPr id="35" name="淘宝-想搞设计PPT(倒卖必究)-35"/>
          <p:cNvSpPr txBox="1"/>
          <p:nvPr/>
        </p:nvSpPr>
        <p:spPr>
          <a:xfrm>
            <a:off x="8504576" y="2306306"/>
            <a:ext cx="2266134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761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现场实地调研法</a:t>
            </a:r>
            <a:endParaRPr lang="zh-CN" altLang="en-US" sz="2000" b="1" dirty="0">
              <a:solidFill>
                <a:srgbClr val="07614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淘宝-想搞设计PPT(倒卖必究)-40"/>
          <p:cNvSpPr txBox="1"/>
          <p:nvPr/>
        </p:nvSpPr>
        <p:spPr>
          <a:xfrm>
            <a:off x="3161514" y="2315139"/>
            <a:ext cx="261851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defRPr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dirty="0">
                <a:solidFill>
                  <a:srgbClr val="076145"/>
                </a:solidFill>
              </a:rPr>
              <a:t>文献综述法</a:t>
            </a:r>
            <a:endParaRPr lang="zh-CN" altLang="en-US" sz="2000" dirty="0">
              <a:solidFill>
                <a:srgbClr val="076145"/>
              </a:solidFill>
            </a:endParaRPr>
          </a:p>
        </p:txBody>
      </p:sp>
      <p:sp>
        <p:nvSpPr>
          <p:cNvPr id="42" name="淘宝-想搞设计PPT(倒卖必究)-42"/>
          <p:cNvSpPr txBox="1"/>
          <p:nvPr/>
        </p:nvSpPr>
        <p:spPr>
          <a:xfrm>
            <a:off x="8504555" y="4593590"/>
            <a:ext cx="33375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761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基于深度学习的计算机视觉</a:t>
            </a:r>
            <a:endParaRPr lang="zh-CN" altLang="en-US" sz="2000" b="1" dirty="0">
              <a:solidFill>
                <a:srgbClr val="07614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淘宝-想搞设计PPT(倒卖必究)-44"/>
          <p:cNvSpPr txBox="1"/>
          <p:nvPr/>
        </p:nvSpPr>
        <p:spPr>
          <a:xfrm>
            <a:off x="2802521" y="4683965"/>
            <a:ext cx="291960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b="1" dirty="0">
                <a:solidFill>
                  <a:srgbClr val="0761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三维模型构建法</a:t>
            </a:r>
            <a:endParaRPr lang="zh-CN" altLang="en-US" sz="2000" b="1" dirty="0">
              <a:solidFill>
                <a:srgbClr val="07614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淘宝-想搞设计PPT(倒卖必究)-46"/>
          <p:cNvSpPr/>
          <p:nvPr/>
        </p:nvSpPr>
        <p:spPr>
          <a:xfrm rot="8239334">
            <a:off x="7041739" y="4021466"/>
            <a:ext cx="1503912" cy="723424"/>
          </a:xfrm>
          <a:custGeom>
            <a:avLst/>
            <a:gdLst>
              <a:gd name="connsiteX0" fmla="*/ 0 w 1503912"/>
              <a:gd name="connsiteY0" fmla="*/ 487471 h 723424"/>
              <a:gd name="connsiteX1" fmla="*/ 546441 w 1503912"/>
              <a:gd name="connsiteY1" fmla="*/ 194123 h 723424"/>
              <a:gd name="connsiteX2" fmla="*/ 622201 w 1503912"/>
              <a:gd name="connsiteY2" fmla="*/ 182561 h 723424"/>
              <a:gd name="connsiteX3" fmla="*/ 759473 w 1503912"/>
              <a:gd name="connsiteY3" fmla="*/ 0 h 723424"/>
              <a:gd name="connsiteX4" fmla="*/ 896982 w 1503912"/>
              <a:gd name="connsiteY4" fmla="*/ 182876 h 723424"/>
              <a:gd name="connsiteX5" fmla="*/ 951826 w 1503912"/>
              <a:gd name="connsiteY5" fmla="*/ 190149 h 723424"/>
              <a:gd name="connsiteX6" fmla="*/ 1503912 w 1503912"/>
              <a:gd name="connsiteY6" fmla="*/ 472727 h 723424"/>
              <a:gd name="connsiteX7" fmla="*/ 1272630 w 1503912"/>
              <a:gd name="connsiteY7" fmla="*/ 713261 h 723424"/>
              <a:gd name="connsiteX8" fmla="*/ 235953 w 1503912"/>
              <a:gd name="connsiteY8" fmla="*/ 723424 h 723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03912" h="723424">
                <a:moveTo>
                  <a:pt x="0" y="487471"/>
                </a:moveTo>
                <a:cubicBezTo>
                  <a:pt x="155116" y="332355"/>
                  <a:pt x="346085" y="234486"/>
                  <a:pt x="546441" y="194123"/>
                </a:cubicBezTo>
                <a:lnTo>
                  <a:pt x="622201" y="182561"/>
                </a:lnTo>
                <a:lnTo>
                  <a:pt x="759473" y="0"/>
                </a:lnTo>
                <a:lnTo>
                  <a:pt x="896982" y="182876"/>
                </a:lnTo>
                <a:lnTo>
                  <a:pt x="951826" y="190149"/>
                </a:lnTo>
                <a:cubicBezTo>
                  <a:pt x="1152934" y="226576"/>
                  <a:pt x="1345785" y="320682"/>
                  <a:pt x="1503912" y="472727"/>
                </a:cubicBezTo>
                <a:lnTo>
                  <a:pt x="1272630" y="713261"/>
                </a:lnTo>
                <a:cubicBezTo>
                  <a:pt x="981963" y="433774"/>
                  <a:pt x="521086" y="438291"/>
                  <a:pt x="235953" y="723424"/>
                </a:cubicBezTo>
                <a:close/>
              </a:path>
            </a:pathLst>
          </a:custGeom>
          <a:solidFill>
            <a:srgbClr val="0761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淘宝-想搞设计PPT(倒卖必究)-47"/>
          <p:cNvSpPr/>
          <p:nvPr/>
        </p:nvSpPr>
        <p:spPr>
          <a:xfrm rot="139334">
            <a:off x="6073923" y="2548196"/>
            <a:ext cx="1059543" cy="1073851"/>
          </a:xfrm>
          <a:custGeom>
            <a:avLst/>
            <a:gdLst>
              <a:gd name="connsiteX0" fmla="*/ 1053001 w 1059543"/>
              <a:gd name="connsiteY0" fmla="*/ 0 h 1073851"/>
              <a:gd name="connsiteX1" fmla="*/ 1059543 w 1059543"/>
              <a:gd name="connsiteY1" fmla="*/ 333624 h 1073851"/>
              <a:gd name="connsiteX2" fmla="*/ 333688 w 1059543"/>
              <a:gd name="connsiteY2" fmla="*/ 1073851 h 1073851"/>
              <a:gd name="connsiteX3" fmla="*/ 0 w 1059543"/>
              <a:gd name="connsiteY3" fmla="*/ 1073851 h 1073851"/>
              <a:gd name="connsiteX4" fmla="*/ 178963 w 1059543"/>
              <a:gd name="connsiteY4" fmla="*/ 480031 h 1073851"/>
              <a:gd name="connsiteX5" fmla="*/ 224358 w 1059543"/>
              <a:gd name="connsiteY5" fmla="*/ 418287 h 1073851"/>
              <a:gd name="connsiteX6" fmla="*/ 192333 w 1059543"/>
              <a:gd name="connsiteY6" fmla="*/ 192129 h 1073851"/>
              <a:gd name="connsiteX7" fmla="*/ 418880 w 1059543"/>
              <a:gd name="connsiteY7" fmla="*/ 224209 h 1073851"/>
              <a:gd name="connsiteX8" fmla="*/ 462804 w 1059543"/>
              <a:gd name="connsiteY8" fmla="*/ 190570 h 1073851"/>
              <a:gd name="connsiteX9" fmla="*/ 1053001 w 1059543"/>
              <a:gd name="connsiteY9" fmla="*/ 0 h 1073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59543" h="1073851">
                <a:moveTo>
                  <a:pt x="1053001" y="0"/>
                </a:moveTo>
                <a:lnTo>
                  <a:pt x="1059543" y="333624"/>
                </a:lnTo>
                <a:cubicBezTo>
                  <a:pt x="656383" y="341529"/>
                  <a:pt x="333688" y="670613"/>
                  <a:pt x="333688" y="1073851"/>
                </a:cubicBezTo>
                <a:lnTo>
                  <a:pt x="0" y="1073851"/>
                </a:lnTo>
                <a:cubicBezTo>
                  <a:pt x="0" y="854484"/>
                  <a:pt x="65832" y="650244"/>
                  <a:pt x="178963" y="480031"/>
                </a:cubicBezTo>
                <a:lnTo>
                  <a:pt x="224358" y="418287"/>
                </a:lnTo>
                <a:lnTo>
                  <a:pt x="192333" y="192129"/>
                </a:lnTo>
                <a:lnTo>
                  <a:pt x="418880" y="224209"/>
                </a:lnTo>
                <a:lnTo>
                  <a:pt x="462804" y="190570"/>
                </a:lnTo>
                <a:cubicBezTo>
                  <a:pt x="630767" y="74123"/>
                  <a:pt x="833676" y="4301"/>
                  <a:pt x="1053001" y="0"/>
                </a:cubicBezTo>
                <a:close/>
              </a:path>
            </a:pathLst>
          </a:custGeom>
          <a:solidFill>
            <a:srgbClr val="0761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8" name="淘宝-想搞设计PPT(倒卖必究)-48"/>
          <p:cNvSpPr/>
          <p:nvPr/>
        </p:nvSpPr>
        <p:spPr>
          <a:xfrm rot="139334" flipV="1">
            <a:off x="6027197" y="3715859"/>
            <a:ext cx="1059543" cy="1073851"/>
          </a:xfrm>
          <a:custGeom>
            <a:avLst/>
            <a:gdLst>
              <a:gd name="connsiteX0" fmla="*/ 333688 w 1059543"/>
              <a:gd name="connsiteY0" fmla="*/ 1073851 h 1073851"/>
              <a:gd name="connsiteX1" fmla="*/ 1059543 w 1059543"/>
              <a:gd name="connsiteY1" fmla="*/ 333624 h 1073851"/>
              <a:gd name="connsiteX2" fmla="*/ 1053001 w 1059543"/>
              <a:gd name="connsiteY2" fmla="*/ 0 h 1073851"/>
              <a:gd name="connsiteX3" fmla="*/ 462804 w 1059543"/>
              <a:gd name="connsiteY3" fmla="*/ 190570 h 1073851"/>
              <a:gd name="connsiteX4" fmla="*/ 418881 w 1059543"/>
              <a:gd name="connsiteY4" fmla="*/ 224208 h 1073851"/>
              <a:gd name="connsiteX5" fmla="*/ 192334 w 1059543"/>
              <a:gd name="connsiteY5" fmla="*/ 192128 h 1073851"/>
              <a:gd name="connsiteX6" fmla="*/ 224359 w 1059543"/>
              <a:gd name="connsiteY6" fmla="*/ 418285 h 1073851"/>
              <a:gd name="connsiteX7" fmla="*/ 178964 w 1059543"/>
              <a:gd name="connsiteY7" fmla="*/ 480031 h 1073851"/>
              <a:gd name="connsiteX8" fmla="*/ 0 w 1059543"/>
              <a:gd name="connsiteY8" fmla="*/ 1073851 h 1073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9543" h="1073851">
                <a:moveTo>
                  <a:pt x="333688" y="1073851"/>
                </a:moveTo>
                <a:cubicBezTo>
                  <a:pt x="333688" y="670613"/>
                  <a:pt x="656383" y="341529"/>
                  <a:pt x="1059543" y="333624"/>
                </a:cubicBezTo>
                <a:lnTo>
                  <a:pt x="1053001" y="0"/>
                </a:lnTo>
                <a:cubicBezTo>
                  <a:pt x="833676" y="4300"/>
                  <a:pt x="630767" y="74123"/>
                  <a:pt x="462804" y="190570"/>
                </a:cubicBezTo>
                <a:lnTo>
                  <a:pt x="418881" y="224208"/>
                </a:lnTo>
                <a:lnTo>
                  <a:pt x="192334" y="192128"/>
                </a:lnTo>
                <a:lnTo>
                  <a:pt x="224359" y="418285"/>
                </a:lnTo>
                <a:lnTo>
                  <a:pt x="178964" y="480031"/>
                </a:lnTo>
                <a:cubicBezTo>
                  <a:pt x="65832" y="650245"/>
                  <a:pt x="0" y="854484"/>
                  <a:pt x="0" y="1073851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淘宝-想搞设计PPT(倒卖必究)-53"/>
          <p:cNvSpPr/>
          <p:nvPr/>
        </p:nvSpPr>
        <p:spPr>
          <a:xfrm rot="5539334">
            <a:off x="7230875" y="2580087"/>
            <a:ext cx="1059543" cy="1073851"/>
          </a:xfrm>
          <a:custGeom>
            <a:avLst/>
            <a:gdLst>
              <a:gd name="connsiteX0" fmla="*/ 219275 w 1059543"/>
              <a:gd name="connsiteY0" fmla="*/ 192128 h 1073851"/>
              <a:gd name="connsiteX1" fmla="*/ 423085 w 1059543"/>
              <a:gd name="connsiteY1" fmla="*/ 220989 h 1073851"/>
              <a:gd name="connsiteX2" fmla="*/ 462804 w 1059543"/>
              <a:gd name="connsiteY2" fmla="*/ 190570 h 1073851"/>
              <a:gd name="connsiteX3" fmla="*/ 1053001 w 1059543"/>
              <a:gd name="connsiteY3" fmla="*/ 0 h 1073851"/>
              <a:gd name="connsiteX4" fmla="*/ 1059543 w 1059543"/>
              <a:gd name="connsiteY4" fmla="*/ 333624 h 1073851"/>
              <a:gd name="connsiteX5" fmla="*/ 333688 w 1059543"/>
              <a:gd name="connsiteY5" fmla="*/ 1073851 h 1073851"/>
              <a:gd name="connsiteX6" fmla="*/ 0 w 1059543"/>
              <a:gd name="connsiteY6" fmla="*/ 1073851 h 1073851"/>
              <a:gd name="connsiteX7" fmla="*/ 239386 w 1059543"/>
              <a:gd name="connsiteY7" fmla="*/ 397847 h 1073851"/>
              <a:gd name="connsiteX8" fmla="*/ 247170 w 1059543"/>
              <a:gd name="connsiteY8" fmla="*/ 389121 h 1073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9543" h="1073851">
                <a:moveTo>
                  <a:pt x="219275" y="192128"/>
                </a:moveTo>
                <a:lnTo>
                  <a:pt x="423085" y="220989"/>
                </a:lnTo>
                <a:lnTo>
                  <a:pt x="462804" y="190570"/>
                </a:lnTo>
                <a:cubicBezTo>
                  <a:pt x="630767" y="74123"/>
                  <a:pt x="833676" y="4301"/>
                  <a:pt x="1053001" y="0"/>
                </a:cubicBezTo>
                <a:lnTo>
                  <a:pt x="1059543" y="333624"/>
                </a:lnTo>
                <a:cubicBezTo>
                  <a:pt x="656383" y="341529"/>
                  <a:pt x="333688" y="670613"/>
                  <a:pt x="333688" y="1073851"/>
                </a:cubicBezTo>
                <a:lnTo>
                  <a:pt x="0" y="1073851"/>
                </a:lnTo>
                <a:cubicBezTo>
                  <a:pt x="0" y="817923"/>
                  <a:pt x="89604" y="582585"/>
                  <a:pt x="239386" y="397847"/>
                </a:cubicBezTo>
                <a:lnTo>
                  <a:pt x="247170" y="389121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4" name="淘宝-想搞设计PPT(倒卖必究)-54"/>
          <p:cNvSpPr/>
          <p:nvPr/>
        </p:nvSpPr>
        <p:spPr>
          <a:xfrm rot="21307521">
            <a:off x="8140970" y="2490647"/>
            <a:ext cx="351692" cy="293077"/>
          </a:xfrm>
          <a:prstGeom prst="hear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8088567" y="4593533"/>
            <a:ext cx="224872" cy="564609"/>
            <a:chOff x="8088567" y="4458278"/>
            <a:chExt cx="224872" cy="564609"/>
          </a:xfrm>
        </p:grpSpPr>
        <p:sp>
          <p:nvSpPr>
            <p:cNvPr id="56" name="淘宝-想搞设计PPT(倒卖必究)-56"/>
            <p:cNvSpPr/>
            <p:nvPr/>
          </p:nvSpPr>
          <p:spPr>
            <a:xfrm>
              <a:off x="8158479" y="4458278"/>
              <a:ext cx="90487" cy="90487"/>
            </a:xfrm>
            <a:prstGeom prst="ellipse">
              <a:avLst/>
            </a:prstGeom>
            <a:solidFill>
              <a:srgbClr val="0761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7" name="淘宝-想搞设计PPT(倒卖必究)-57"/>
            <p:cNvSpPr/>
            <p:nvPr/>
          </p:nvSpPr>
          <p:spPr>
            <a:xfrm>
              <a:off x="8088836" y="4558126"/>
              <a:ext cx="224603" cy="6314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761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8" name="淘宝-想搞设计PPT(倒卖必究)-58"/>
            <p:cNvSpPr/>
            <p:nvPr/>
          </p:nvSpPr>
          <p:spPr>
            <a:xfrm>
              <a:off x="8144756" y="4621275"/>
              <a:ext cx="112763" cy="154601"/>
            </a:xfrm>
            <a:prstGeom prst="rect">
              <a:avLst/>
            </a:prstGeom>
            <a:solidFill>
              <a:srgbClr val="0761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9" name="淘宝-想搞设计PPT(倒卖必究)-59"/>
            <p:cNvSpPr/>
            <p:nvPr/>
          </p:nvSpPr>
          <p:spPr>
            <a:xfrm rot="10800000">
              <a:off x="8144756" y="4765712"/>
              <a:ext cx="45719" cy="2571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761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0" name="淘宝-想搞设计PPT(倒卖必究)-60"/>
            <p:cNvSpPr/>
            <p:nvPr/>
          </p:nvSpPr>
          <p:spPr>
            <a:xfrm rot="10800000">
              <a:off x="8211387" y="4765712"/>
              <a:ext cx="45719" cy="2571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761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1" name="淘宝-想搞设计PPT(倒卖必究)-61"/>
            <p:cNvSpPr/>
            <p:nvPr/>
          </p:nvSpPr>
          <p:spPr>
            <a:xfrm rot="10800000">
              <a:off x="8088567" y="4605843"/>
              <a:ext cx="31089" cy="180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761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2" name="淘宝-想搞设计PPT(倒卖必究)-62"/>
            <p:cNvSpPr/>
            <p:nvPr/>
          </p:nvSpPr>
          <p:spPr>
            <a:xfrm rot="10800000">
              <a:off x="8281052" y="4605843"/>
              <a:ext cx="31089" cy="180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761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 rot="251637">
            <a:off x="5841590" y="2333150"/>
            <a:ext cx="439857" cy="318893"/>
            <a:chOff x="5841590" y="2197895"/>
            <a:chExt cx="439857" cy="318893"/>
          </a:xfrm>
          <a:solidFill>
            <a:srgbClr val="071F65"/>
          </a:solidFill>
        </p:grpSpPr>
        <p:grpSp>
          <p:nvGrpSpPr>
            <p:cNvPr id="64" name="组合 63"/>
            <p:cNvGrpSpPr/>
            <p:nvPr/>
          </p:nvGrpSpPr>
          <p:grpSpPr>
            <a:xfrm rot="21307521">
              <a:off x="5841590" y="2248281"/>
              <a:ext cx="439857" cy="268507"/>
              <a:chOff x="4975778" y="3669385"/>
              <a:chExt cx="439857" cy="268507"/>
            </a:xfrm>
            <a:grpFill/>
          </p:grpSpPr>
          <p:grpSp>
            <p:nvGrpSpPr>
              <p:cNvPr id="66" name="组合 65"/>
              <p:cNvGrpSpPr/>
              <p:nvPr/>
            </p:nvGrpSpPr>
            <p:grpSpPr>
              <a:xfrm>
                <a:off x="4975778" y="3689944"/>
                <a:ext cx="439857" cy="24689"/>
                <a:chOff x="4902784" y="3688900"/>
                <a:chExt cx="439857" cy="24689"/>
              </a:xfrm>
              <a:grpFill/>
            </p:grpSpPr>
            <p:sp>
              <p:nvSpPr>
                <p:cNvPr id="70" name="淘宝-想搞设计PPT(倒卖必究)-70"/>
                <p:cNvSpPr/>
                <p:nvPr/>
              </p:nvSpPr>
              <p:spPr>
                <a:xfrm rot="19380000">
                  <a:off x="4902784" y="3688900"/>
                  <a:ext cx="252000" cy="2468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71" name="淘宝-想搞设计PPT(倒卖必究)-71"/>
                <p:cNvSpPr/>
                <p:nvPr/>
              </p:nvSpPr>
              <p:spPr>
                <a:xfrm rot="2220000" flipH="1">
                  <a:off x="5090641" y="3688901"/>
                  <a:ext cx="252000" cy="2468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p:grpSp>
          <p:sp>
            <p:nvSpPr>
              <p:cNvPr id="67" name="淘宝-想搞设计PPT(倒卖必究)-67"/>
              <p:cNvSpPr/>
              <p:nvPr/>
            </p:nvSpPr>
            <p:spPr>
              <a:xfrm>
                <a:off x="5044333" y="3669385"/>
                <a:ext cx="302746" cy="12780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68" name="淘宝-想搞设计PPT(倒卖必究)-68"/>
              <p:cNvSpPr/>
              <p:nvPr/>
            </p:nvSpPr>
            <p:spPr>
              <a:xfrm>
                <a:off x="5043860" y="3797191"/>
                <a:ext cx="106784" cy="14070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69" name="淘宝-想搞设计PPT(倒卖必究)-69"/>
              <p:cNvSpPr/>
              <p:nvPr/>
            </p:nvSpPr>
            <p:spPr>
              <a:xfrm>
                <a:off x="5238624" y="3797191"/>
                <a:ext cx="106784" cy="14070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sp>
          <p:nvSpPr>
            <p:cNvPr id="65" name="淘宝-想搞设计PPT(倒卖必究)-65"/>
            <p:cNvSpPr/>
            <p:nvPr/>
          </p:nvSpPr>
          <p:spPr>
            <a:xfrm rot="21307521" flipH="1" flipV="1">
              <a:off x="6116514" y="2197895"/>
              <a:ext cx="45719" cy="88107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5728774" y="4592114"/>
            <a:ext cx="462435" cy="424585"/>
            <a:chOff x="5728774" y="4456859"/>
            <a:chExt cx="462435" cy="424585"/>
          </a:xfrm>
        </p:grpSpPr>
        <p:grpSp>
          <p:nvGrpSpPr>
            <p:cNvPr id="73" name="组合 72"/>
            <p:cNvGrpSpPr/>
            <p:nvPr/>
          </p:nvGrpSpPr>
          <p:grpSpPr>
            <a:xfrm rot="21307521">
              <a:off x="5728774" y="4462988"/>
              <a:ext cx="460390" cy="418456"/>
              <a:chOff x="10760386" y="4041158"/>
              <a:chExt cx="460390" cy="418456"/>
            </a:xfrm>
            <a:solidFill>
              <a:srgbClr val="7F7F7F"/>
            </a:solidFill>
          </p:grpSpPr>
          <p:sp>
            <p:nvSpPr>
              <p:cNvPr id="76" name="淘宝-想搞设计PPT(倒卖必究)-76"/>
              <p:cNvSpPr/>
              <p:nvPr/>
            </p:nvSpPr>
            <p:spPr>
              <a:xfrm>
                <a:off x="10813541" y="4041158"/>
                <a:ext cx="407235" cy="357637"/>
              </a:xfrm>
              <a:custGeom>
                <a:avLst/>
                <a:gdLst>
                  <a:gd name="connsiteX0" fmla="*/ 6665 w 406232"/>
                  <a:gd name="connsiteY0" fmla="*/ 305095 h 348959"/>
                  <a:gd name="connsiteX1" fmla="*/ 6665 w 406232"/>
                  <a:gd name="connsiteY1" fmla="*/ 226514 h 348959"/>
                  <a:gd name="connsiteX2" fmla="*/ 73340 w 406232"/>
                  <a:gd name="connsiteY2" fmla="*/ 128882 h 348959"/>
                  <a:gd name="connsiteX3" fmla="*/ 244790 w 406232"/>
                  <a:gd name="connsiteY3" fmla="*/ 43157 h 348959"/>
                  <a:gd name="connsiteX4" fmla="*/ 401952 w 406232"/>
                  <a:gd name="connsiteY4" fmla="*/ 295 h 348959"/>
                  <a:gd name="connsiteX5" fmla="*/ 359090 w 406232"/>
                  <a:gd name="connsiteY5" fmla="*/ 26489 h 348959"/>
                  <a:gd name="connsiteX6" fmla="*/ 330515 w 406232"/>
                  <a:gd name="connsiteY6" fmla="*/ 69351 h 348959"/>
                  <a:gd name="connsiteX7" fmla="*/ 304321 w 406232"/>
                  <a:gd name="connsiteY7" fmla="*/ 114595 h 348959"/>
                  <a:gd name="connsiteX8" fmla="*/ 278127 w 406232"/>
                  <a:gd name="connsiteY8" fmla="*/ 209845 h 348959"/>
                  <a:gd name="connsiteX9" fmla="*/ 211452 w 406232"/>
                  <a:gd name="connsiteY9" fmla="*/ 305095 h 348959"/>
                  <a:gd name="connsiteX10" fmla="*/ 128108 w 406232"/>
                  <a:gd name="connsiteY10" fmla="*/ 345576 h 348959"/>
                  <a:gd name="connsiteX11" fmla="*/ 44765 w 406232"/>
                  <a:gd name="connsiteY11" fmla="*/ 345576 h 348959"/>
                  <a:gd name="connsiteX12" fmla="*/ 6665 w 406232"/>
                  <a:gd name="connsiteY12" fmla="*/ 305095 h 348959"/>
                  <a:gd name="connsiteX0-1" fmla="*/ 6665 w 406232"/>
                  <a:gd name="connsiteY0-2" fmla="*/ 305095 h 348959"/>
                  <a:gd name="connsiteX1-3" fmla="*/ 6665 w 406232"/>
                  <a:gd name="connsiteY1-4" fmla="*/ 226514 h 348959"/>
                  <a:gd name="connsiteX2-5" fmla="*/ 73340 w 406232"/>
                  <a:gd name="connsiteY2-6" fmla="*/ 128882 h 348959"/>
                  <a:gd name="connsiteX3-7" fmla="*/ 244790 w 406232"/>
                  <a:gd name="connsiteY3-8" fmla="*/ 43157 h 348959"/>
                  <a:gd name="connsiteX4-9" fmla="*/ 401952 w 406232"/>
                  <a:gd name="connsiteY4-10" fmla="*/ 295 h 348959"/>
                  <a:gd name="connsiteX5-11" fmla="*/ 359090 w 406232"/>
                  <a:gd name="connsiteY5-12" fmla="*/ 26489 h 348959"/>
                  <a:gd name="connsiteX6-13" fmla="*/ 330515 w 406232"/>
                  <a:gd name="connsiteY6-14" fmla="*/ 69351 h 348959"/>
                  <a:gd name="connsiteX7-15" fmla="*/ 278127 w 406232"/>
                  <a:gd name="connsiteY7-16" fmla="*/ 209845 h 348959"/>
                  <a:gd name="connsiteX8-17" fmla="*/ 211452 w 406232"/>
                  <a:gd name="connsiteY8-18" fmla="*/ 305095 h 348959"/>
                  <a:gd name="connsiteX9-19" fmla="*/ 128108 w 406232"/>
                  <a:gd name="connsiteY9-20" fmla="*/ 345576 h 348959"/>
                  <a:gd name="connsiteX10-21" fmla="*/ 44765 w 406232"/>
                  <a:gd name="connsiteY10-22" fmla="*/ 345576 h 348959"/>
                  <a:gd name="connsiteX11-23" fmla="*/ 6665 w 406232"/>
                  <a:gd name="connsiteY11-24" fmla="*/ 305095 h 348959"/>
                  <a:gd name="connsiteX0-25" fmla="*/ 6665 w 406232"/>
                  <a:gd name="connsiteY0-26" fmla="*/ 305095 h 357637"/>
                  <a:gd name="connsiteX1-27" fmla="*/ 6665 w 406232"/>
                  <a:gd name="connsiteY1-28" fmla="*/ 226514 h 357637"/>
                  <a:gd name="connsiteX2-29" fmla="*/ 73340 w 406232"/>
                  <a:gd name="connsiteY2-30" fmla="*/ 128882 h 357637"/>
                  <a:gd name="connsiteX3-31" fmla="*/ 244790 w 406232"/>
                  <a:gd name="connsiteY3-32" fmla="*/ 43157 h 357637"/>
                  <a:gd name="connsiteX4-33" fmla="*/ 401952 w 406232"/>
                  <a:gd name="connsiteY4-34" fmla="*/ 295 h 357637"/>
                  <a:gd name="connsiteX5-35" fmla="*/ 359090 w 406232"/>
                  <a:gd name="connsiteY5-36" fmla="*/ 26489 h 357637"/>
                  <a:gd name="connsiteX6-37" fmla="*/ 330515 w 406232"/>
                  <a:gd name="connsiteY6-38" fmla="*/ 69351 h 357637"/>
                  <a:gd name="connsiteX7-39" fmla="*/ 278127 w 406232"/>
                  <a:gd name="connsiteY7-40" fmla="*/ 209845 h 357637"/>
                  <a:gd name="connsiteX8-41" fmla="*/ 211452 w 406232"/>
                  <a:gd name="connsiteY8-42" fmla="*/ 305095 h 357637"/>
                  <a:gd name="connsiteX9-43" fmla="*/ 120964 w 406232"/>
                  <a:gd name="connsiteY9-44" fmla="*/ 355101 h 357637"/>
                  <a:gd name="connsiteX10-45" fmla="*/ 44765 w 406232"/>
                  <a:gd name="connsiteY10-46" fmla="*/ 345576 h 357637"/>
                  <a:gd name="connsiteX11-47" fmla="*/ 6665 w 406232"/>
                  <a:gd name="connsiteY11-48" fmla="*/ 305095 h 357637"/>
                  <a:gd name="connsiteX0-49" fmla="*/ 6665 w 406232"/>
                  <a:gd name="connsiteY0-50" fmla="*/ 305095 h 357637"/>
                  <a:gd name="connsiteX1-51" fmla="*/ 6665 w 406232"/>
                  <a:gd name="connsiteY1-52" fmla="*/ 226514 h 357637"/>
                  <a:gd name="connsiteX2-53" fmla="*/ 73340 w 406232"/>
                  <a:gd name="connsiteY2-54" fmla="*/ 128882 h 357637"/>
                  <a:gd name="connsiteX3-55" fmla="*/ 244790 w 406232"/>
                  <a:gd name="connsiteY3-56" fmla="*/ 43157 h 357637"/>
                  <a:gd name="connsiteX4-57" fmla="*/ 401952 w 406232"/>
                  <a:gd name="connsiteY4-58" fmla="*/ 295 h 357637"/>
                  <a:gd name="connsiteX5-59" fmla="*/ 359090 w 406232"/>
                  <a:gd name="connsiteY5-60" fmla="*/ 26489 h 357637"/>
                  <a:gd name="connsiteX6-61" fmla="*/ 330515 w 406232"/>
                  <a:gd name="connsiteY6-62" fmla="*/ 69351 h 357637"/>
                  <a:gd name="connsiteX7-63" fmla="*/ 278127 w 406232"/>
                  <a:gd name="connsiteY7-64" fmla="*/ 209845 h 357637"/>
                  <a:gd name="connsiteX8-65" fmla="*/ 211452 w 406232"/>
                  <a:gd name="connsiteY8-66" fmla="*/ 305095 h 357637"/>
                  <a:gd name="connsiteX9-67" fmla="*/ 120964 w 406232"/>
                  <a:gd name="connsiteY9-68" fmla="*/ 355101 h 357637"/>
                  <a:gd name="connsiteX10-69" fmla="*/ 44765 w 406232"/>
                  <a:gd name="connsiteY10-70" fmla="*/ 345576 h 357637"/>
                  <a:gd name="connsiteX11-71" fmla="*/ 6665 w 406232"/>
                  <a:gd name="connsiteY11-72" fmla="*/ 305095 h 357637"/>
                  <a:gd name="connsiteX0-73" fmla="*/ 6665 w 406232"/>
                  <a:gd name="connsiteY0-74" fmla="*/ 305095 h 357637"/>
                  <a:gd name="connsiteX1-75" fmla="*/ 6665 w 406232"/>
                  <a:gd name="connsiteY1-76" fmla="*/ 226514 h 357637"/>
                  <a:gd name="connsiteX2-77" fmla="*/ 73340 w 406232"/>
                  <a:gd name="connsiteY2-78" fmla="*/ 128882 h 357637"/>
                  <a:gd name="connsiteX3-79" fmla="*/ 244790 w 406232"/>
                  <a:gd name="connsiteY3-80" fmla="*/ 43157 h 357637"/>
                  <a:gd name="connsiteX4-81" fmla="*/ 401952 w 406232"/>
                  <a:gd name="connsiteY4-82" fmla="*/ 295 h 357637"/>
                  <a:gd name="connsiteX5-83" fmla="*/ 359090 w 406232"/>
                  <a:gd name="connsiteY5-84" fmla="*/ 26489 h 357637"/>
                  <a:gd name="connsiteX6-85" fmla="*/ 330515 w 406232"/>
                  <a:gd name="connsiteY6-86" fmla="*/ 69351 h 357637"/>
                  <a:gd name="connsiteX7-87" fmla="*/ 278127 w 406232"/>
                  <a:gd name="connsiteY7-88" fmla="*/ 209845 h 357637"/>
                  <a:gd name="connsiteX8-89" fmla="*/ 211452 w 406232"/>
                  <a:gd name="connsiteY8-90" fmla="*/ 305095 h 357637"/>
                  <a:gd name="connsiteX9-91" fmla="*/ 120964 w 406232"/>
                  <a:gd name="connsiteY9-92" fmla="*/ 355101 h 357637"/>
                  <a:gd name="connsiteX10-93" fmla="*/ 44765 w 406232"/>
                  <a:gd name="connsiteY10-94" fmla="*/ 345576 h 357637"/>
                  <a:gd name="connsiteX11-95" fmla="*/ 6665 w 406232"/>
                  <a:gd name="connsiteY11-96" fmla="*/ 305095 h 357637"/>
                  <a:gd name="connsiteX0-97" fmla="*/ 6665 w 406232"/>
                  <a:gd name="connsiteY0-98" fmla="*/ 305095 h 357637"/>
                  <a:gd name="connsiteX1-99" fmla="*/ 6665 w 406232"/>
                  <a:gd name="connsiteY1-100" fmla="*/ 226514 h 357637"/>
                  <a:gd name="connsiteX2-101" fmla="*/ 73340 w 406232"/>
                  <a:gd name="connsiteY2-102" fmla="*/ 128882 h 357637"/>
                  <a:gd name="connsiteX3-103" fmla="*/ 244790 w 406232"/>
                  <a:gd name="connsiteY3-104" fmla="*/ 43157 h 357637"/>
                  <a:gd name="connsiteX4-105" fmla="*/ 401952 w 406232"/>
                  <a:gd name="connsiteY4-106" fmla="*/ 295 h 357637"/>
                  <a:gd name="connsiteX5-107" fmla="*/ 359090 w 406232"/>
                  <a:gd name="connsiteY5-108" fmla="*/ 26489 h 357637"/>
                  <a:gd name="connsiteX6-109" fmla="*/ 330515 w 406232"/>
                  <a:gd name="connsiteY6-110" fmla="*/ 69351 h 357637"/>
                  <a:gd name="connsiteX7-111" fmla="*/ 278127 w 406232"/>
                  <a:gd name="connsiteY7-112" fmla="*/ 209845 h 357637"/>
                  <a:gd name="connsiteX8-113" fmla="*/ 211452 w 406232"/>
                  <a:gd name="connsiteY8-114" fmla="*/ 305095 h 357637"/>
                  <a:gd name="connsiteX9-115" fmla="*/ 120964 w 406232"/>
                  <a:gd name="connsiteY9-116" fmla="*/ 355101 h 357637"/>
                  <a:gd name="connsiteX10-117" fmla="*/ 44765 w 406232"/>
                  <a:gd name="connsiteY10-118" fmla="*/ 345576 h 357637"/>
                  <a:gd name="connsiteX11-119" fmla="*/ 6665 w 406232"/>
                  <a:gd name="connsiteY11-120" fmla="*/ 305095 h 357637"/>
                  <a:gd name="connsiteX0-121" fmla="*/ 7668 w 407235"/>
                  <a:gd name="connsiteY0-122" fmla="*/ 305095 h 357637"/>
                  <a:gd name="connsiteX1-123" fmla="*/ 7668 w 407235"/>
                  <a:gd name="connsiteY1-124" fmla="*/ 226514 h 357637"/>
                  <a:gd name="connsiteX2-125" fmla="*/ 74343 w 407235"/>
                  <a:gd name="connsiteY2-126" fmla="*/ 128882 h 357637"/>
                  <a:gd name="connsiteX3-127" fmla="*/ 245793 w 407235"/>
                  <a:gd name="connsiteY3-128" fmla="*/ 43157 h 357637"/>
                  <a:gd name="connsiteX4-129" fmla="*/ 402955 w 407235"/>
                  <a:gd name="connsiteY4-130" fmla="*/ 295 h 357637"/>
                  <a:gd name="connsiteX5-131" fmla="*/ 360093 w 407235"/>
                  <a:gd name="connsiteY5-132" fmla="*/ 26489 h 357637"/>
                  <a:gd name="connsiteX6-133" fmla="*/ 331518 w 407235"/>
                  <a:gd name="connsiteY6-134" fmla="*/ 69351 h 357637"/>
                  <a:gd name="connsiteX7-135" fmla="*/ 279130 w 407235"/>
                  <a:gd name="connsiteY7-136" fmla="*/ 209845 h 357637"/>
                  <a:gd name="connsiteX8-137" fmla="*/ 212455 w 407235"/>
                  <a:gd name="connsiteY8-138" fmla="*/ 305095 h 357637"/>
                  <a:gd name="connsiteX9-139" fmla="*/ 121967 w 407235"/>
                  <a:gd name="connsiteY9-140" fmla="*/ 355101 h 357637"/>
                  <a:gd name="connsiteX10-141" fmla="*/ 45768 w 407235"/>
                  <a:gd name="connsiteY10-142" fmla="*/ 345576 h 357637"/>
                  <a:gd name="connsiteX11-143" fmla="*/ 7668 w 407235"/>
                  <a:gd name="connsiteY11-144" fmla="*/ 305095 h 35763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</a:cxnLst>
                <a:rect l="l" t="t" r="r" b="b"/>
                <a:pathLst>
                  <a:path w="407235" h="357637">
                    <a:moveTo>
                      <a:pt x="7668" y="305095"/>
                    </a:moveTo>
                    <a:cubicBezTo>
                      <a:pt x="1318" y="285251"/>
                      <a:pt x="-5826" y="270170"/>
                      <a:pt x="7668" y="226514"/>
                    </a:cubicBezTo>
                    <a:cubicBezTo>
                      <a:pt x="21162" y="182858"/>
                      <a:pt x="48943" y="149916"/>
                      <a:pt x="74343" y="128882"/>
                    </a:cubicBezTo>
                    <a:cubicBezTo>
                      <a:pt x="99743" y="107848"/>
                      <a:pt x="191024" y="64588"/>
                      <a:pt x="245793" y="43157"/>
                    </a:cubicBezTo>
                    <a:cubicBezTo>
                      <a:pt x="300562" y="21726"/>
                      <a:pt x="383905" y="3073"/>
                      <a:pt x="402955" y="295"/>
                    </a:cubicBezTo>
                    <a:cubicBezTo>
                      <a:pt x="422005" y="-2483"/>
                      <a:pt x="371999" y="14980"/>
                      <a:pt x="360093" y="26489"/>
                    </a:cubicBezTo>
                    <a:cubicBezTo>
                      <a:pt x="348187" y="37998"/>
                      <a:pt x="345012" y="38792"/>
                      <a:pt x="331518" y="69351"/>
                    </a:cubicBezTo>
                    <a:cubicBezTo>
                      <a:pt x="318024" y="99910"/>
                      <a:pt x="298974" y="170554"/>
                      <a:pt x="279130" y="209845"/>
                    </a:cubicBezTo>
                    <a:cubicBezTo>
                      <a:pt x="259286" y="249136"/>
                      <a:pt x="238649" y="280886"/>
                      <a:pt x="212455" y="305095"/>
                    </a:cubicBezTo>
                    <a:cubicBezTo>
                      <a:pt x="186261" y="329304"/>
                      <a:pt x="149748" y="348354"/>
                      <a:pt x="121967" y="355101"/>
                    </a:cubicBezTo>
                    <a:cubicBezTo>
                      <a:pt x="94186" y="361848"/>
                      <a:pt x="64818" y="353910"/>
                      <a:pt x="45768" y="345576"/>
                    </a:cubicBezTo>
                    <a:cubicBezTo>
                      <a:pt x="26718" y="337242"/>
                      <a:pt x="14018" y="324939"/>
                      <a:pt x="7668" y="30509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7" name="淘宝-想搞设计PPT(倒卖必究)-77"/>
              <p:cNvSpPr/>
              <p:nvPr/>
            </p:nvSpPr>
            <p:spPr>
              <a:xfrm>
                <a:off x="10760386" y="4337977"/>
                <a:ext cx="95196" cy="121637"/>
              </a:xfrm>
              <a:custGeom>
                <a:avLst/>
                <a:gdLst>
                  <a:gd name="connsiteX0" fmla="*/ 114303 w 114583"/>
                  <a:gd name="connsiteY0" fmla="*/ 621 h 110589"/>
                  <a:gd name="connsiteX1" fmla="*/ 66678 w 114583"/>
                  <a:gd name="connsiteY1" fmla="*/ 60153 h 110589"/>
                  <a:gd name="connsiteX2" fmla="*/ 40484 w 114583"/>
                  <a:gd name="connsiteY2" fmla="*/ 110159 h 110589"/>
                  <a:gd name="connsiteX3" fmla="*/ 3 w 114583"/>
                  <a:gd name="connsiteY3" fmla="*/ 81584 h 110589"/>
                  <a:gd name="connsiteX4" fmla="*/ 42865 w 114583"/>
                  <a:gd name="connsiteY4" fmla="*/ 33959 h 110589"/>
                  <a:gd name="connsiteX5" fmla="*/ 114303 w 114583"/>
                  <a:gd name="connsiteY5" fmla="*/ 621 h 110589"/>
                  <a:gd name="connsiteX0-1" fmla="*/ 114303 w 114766"/>
                  <a:gd name="connsiteY0-2" fmla="*/ 7143 h 117111"/>
                  <a:gd name="connsiteX1-3" fmla="*/ 66678 w 114766"/>
                  <a:gd name="connsiteY1-4" fmla="*/ 66675 h 117111"/>
                  <a:gd name="connsiteX2-5" fmla="*/ 40484 w 114766"/>
                  <a:gd name="connsiteY2-6" fmla="*/ 116681 h 117111"/>
                  <a:gd name="connsiteX3-7" fmla="*/ 3 w 114766"/>
                  <a:gd name="connsiteY3-8" fmla="*/ 88106 h 117111"/>
                  <a:gd name="connsiteX4-9" fmla="*/ 42865 w 114766"/>
                  <a:gd name="connsiteY4-10" fmla="*/ 40481 h 117111"/>
                  <a:gd name="connsiteX5-11" fmla="*/ 88109 w 114766"/>
                  <a:gd name="connsiteY5-12" fmla="*/ 4762 h 117111"/>
                  <a:gd name="connsiteX6" fmla="*/ 114303 w 114766"/>
                  <a:gd name="connsiteY6" fmla="*/ 7143 h 117111"/>
                  <a:gd name="connsiteX0-13" fmla="*/ 114306 w 114769"/>
                  <a:gd name="connsiteY0-14" fmla="*/ 7143 h 109586"/>
                  <a:gd name="connsiteX1-15" fmla="*/ 66681 w 114769"/>
                  <a:gd name="connsiteY1-16" fmla="*/ 66675 h 109586"/>
                  <a:gd name="connsiteX2-17" fmla="*/ 29099 w 114769"/>
                  <a:gd name="connsiteY2-18" fmla="*/ 108934 h 109586"/>
                  <a:gd name="connsiteX3-19" fmla="*/ 6 w 114769"/>
                  <a:gd name="connsiteY3-20" fmla="*/ 88106 h 109586"/>
                  <a:gd name="connsiteX4-21" fmla="*/ 42868 w 114769"/>
                  <a:gd name="connsiteY4-22" fmla="*/ 40481 h 109586"/>
                  <a:gd name="connsiteX5-23" fmla="*/ 88112 w 114769"/>
                  <a:gd name="connsiteY5-24" fmla="*/ 4762 h 109586"/>
                  <a:gd name="connsiteX6-25" fmla="*/ 114306 w 114769"/>
                  <a:gd name="connsiteY6-26" fmla="*/ 7143 h 109586"/>
                  <a:gd name="connsiteX0-27" fmla="*/ 148467 w 148642"/>
                  <a:gd name="connsiteY0-28" fmla="*/ 2864 h 123382"/>
                  <a:gd name="connsiteX1-29" fmla="*/ 66681 w 148642"/>
                  <a:gd name="connsiteY1-30" fmla="*/ 80472 h 123382"/>
                  <a:gd name="connsiteX2-31" fmla="*/ 29099 w 148642"/>
                  <a:gd name="connsiteY2-32" fmla="*/ 122731 h 123382"/>
                  <a:gd name="connsiteX3-33" fmla="*/ 6 w 148642"/>
                  <a:gd name="connsiteY3-34" fmla="*/ 101903 h 123382"/>
                  <a:gd name="connsiteX4-35" fmla="*/ 42868 w 148642"/>
                  <a:gd name="connsiteY4-36" fmla="*/ 54278 h 123382"/>
                  <a:gd name="connsiteX5-37" fmla="*/ 88112 w 148642"/>
                  <a:gd name="connsiteY5-38" fmla="*/ 18559 h 123382"/>
                  <a:gd name="connsiteX6-39" fmla="*/ 148467 w 148642"/>
                  <a:gd name="connsiteY6-40" fmla="*/ 2864 h 123382"/>
                  <a:gd name="connsiteX0-41" fmla="*/ 148467 w 151739"/>
                  <a:gd name="connsiteY0-42" fmla="*/ 11381 h 131899"/>
                  <a:gd name="connsiteX1-43" fmla="*/ 66681 w 151739"/>
                  <a:gd name="connsiteY1-44" fmla="*/ 88989 h 131899"/>
                  <a:gd name="connsiteX2-45" fmla="*/ 29099 w 151739"/>
                  <a:gd name="connsiteY2-46" fmla="*/ 131248 h 131899"/>
                  <a:gd name="connsiteX3-47" fmla="*/ 6 w 151739"/>
                  <a:gd name="connsiteY3-48" fmla="*/ 110420 h 131899"/>
                  <a:gd name="connsiteX4-49" fmla="*/ 42868 w 151739"/>
                  <a:gd name="connsiteY4-50" fmla="*/ 62795 h 131899"/>
                  <a:gd name="connsiteX5-51" fmla="*/ 129865 w 151739"/>
                  <a:gd name="connsiteY5-52" fmla="*/ 3837 h 131899"/>
                  <a:gd name="connsiteX6-53" fmla="*/ 148467 w 151739"/>
                  <a:gd name="connsiteY6-54" fmla="*/ 11381 h 13189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25" y="connsiteY6-26"/>
                  </a:cxn>
                </a:cxnLst>
                <a:rect l="l" t="t" r="r" b="b"/>
                <a:pathLst>
                  <a:path w="151739" h="131899">
                    <a:moveTo>
                      <a:pt x="148467" y="11381"/>
                    </a:moveTo>
                    <a:cubicBezTo>
                      <a:pt x="137936" y="25573"/>
                      <a:pt x="86576" y="69011"/>
                      <a:pt x="66681" y="88989"/>
                    </a:cubicBezTo>
                    <a:cubicBezTo>
                      <a:pt x="46786" y="108967"/>
                      <a:pt x="40211" y="127676"/>
                      <a:pt x="29099" y="131248"/>
                    </a:cubicBezTo>
                    <a:cubicBezTo>
                      <a:pt x="17987" y="134820"/>
                      <a:pt x="-391" y="123120"/>
                      <a:pt x="6" y="110420"/>
                    </a:cubicBezTo>
                    <a:cubicBezTo>
                      <a:pt x="403" y="97720"/>
                      <a:pt x="21225" y="80559"/>
                      <a:pt x="42868" y="62795"/>
                    </a:cubicBezTo>
                    <a:cubicBezTo>
                      <a:pt x="64511" y="45031"/>
                      <a:pt x="117959" y="9393"/>
                      <a:pt x="129865" y="3837"/>
                    </a:cubicBezTo>
                    <a:cubicBezTo>
                      <a:pt x="141771" y="-1719"/>
                      <a:pt x="158998" y="-2811"/>
                      <a:pt x="148467" y="1138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sp>
          <p:nvSpPr>
            <p:cNvPr id="74" name="淘宝-想搞设计PPT(倒卖必究)-74"/>
            <p:cNvSpPr/>
            <p:nvPr/>
          </p:nvSpPr>
          <p:spPr>
            <a:xfrm rot="21307521">
              <a:off x="5867789" y="4456859"/>
              <a:ext cx="323420" cy="355925"/>
            </a:xfrm>
            <a:custGeom>
              <a:avLst/>
              <a:gdLst>
                <a:gd name="connsiteX0" fmla="*/ 319140 w 323420"/>
                <a:gd name="connsiteY0" fmla="*/ 295 h 355925"/>
                <a:gd name="connsiteX1" fmla="*/ 276278 w 323420"/>
                <a:gd name="connsiteY1" fmla="*/ 26489 h 355925"/>
                <a:gd name="connsiteX2" fmla="*/ 247703 w 323420"/>
                <a:gd name="connsiteY2" fmla="*/ 69351 h 355925"/>
                <a:gd name="connsiteX3" fmla="*/ 195315 w 323420"/>
                <a:gd name="connsiteY3" fmla="*/ 209845 h 355925"/>
                <a:gd name="connsiteX4" fmla="*/ 128640 w 323420"/>
                <a:gd name="connsiteY4" fmla="*/ 305095 h 355925"/>
                <a:gd name="connsiteX5" fmla="*/ 84656 w 323420"/>
                <a:gd name="connsiteY5" fmla="*/ 336177 h 355925"/>
                <a:gd name="connsiteX6" fmla="*/ 36710 w 323420"/>
                <a:gd name="connsiteY6" fmla="*/ 355132 h 355925"/>
                <a:gd name="connsiteX7" fmla="*/ 0 w 323420"/>
                <a:gd name="connsiteY7" fmla="*/ 355925 h 355925"/>
                <a:gd name="connsiteX8" fmla="*/ 82794 w 323420"/>
                <a:gd name="connsiteY8" fmla="*/ 77974 h 355925"/>
                <a:gd name="connsiteX9" fmla="*/ 115655 w 323420"/>
                <a:gd name="connsiteY9" fmla="*/ 62635 h 355925"/>
                <a:gd name="connsiteX10" fmla="*/ 161978 w 323420"/>
                <a:gd name="connsiteY10" fmla="*/ 43157 h 355925"/>
                <a:gd name="connsiteX11" fmla="*/ 319140 w 323420"/>
                <a:gd name="connsiteY11" fmla="*/ 295 h 355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23420" h="355925">
                  <a:moveTo>
                    <a:pt x="319140" y="295"/>
                  </a:moveTo>
                  <a:cubicBezTo>
                    <a:pt x="338190" y="-2483"/>
                    <a:pt x="288184" y="14980"/>
                    <a:pt x="276278" y="26489"/>
                  </a:cubicBezTo>
                  <a:cubicBezTo>
                    <a:pt x="264372" y="37998"/>
                    <a:pt x="261197" y="38792"/>
                    <a:pt x="247703" y="69351"/>
                  </a:cubicBezTo>
                  <a:cubicBezTo>
                    <a:pt x="234209" y="99910"/>
                    <a:pt x="215159" y="170554"/>
                    <a:pt x="195315" y="209845"/>
                  </a:cubicBezTo>
                  <a:cubicBezTo>
                    <a:pt x="175471" y="249136"/>
                    <a:pt x="154834" y="280886"/>
                    <a:pt x="128640" y="305095"/>
                  </a:cubicBezTo>
                  <a:lnTo>
                    <a:pt x="84656" y="336177"/>
                  </a:lnTo>
                  <a:lnTo>
                    <a:pt x="36710" y="355132"/>
                  </a:lnTo>
                  <a:lnTo>
                    <a:pt x="0" y="355925"/>
                  </a:lnTo>
                  <a:lnTo>
                    <a:pt x="82794" y="77974"/>
                  </a:lnTo>
                  <a:lnTo>
                    <a:pt x="115655" y="62635"/>
                  </a:lnTo>
                  <a:cubicBezTo>
                    <a:pt x="132312" y="55237"/>
                    <a:pt x="148286" y="48515"/>
                    <a:pt x="161978" y="43157"/>
                  </a:cubicBezTo>
                  <a:cubicBezTo>
                    <a:pt x="216747" y="21726"/>
                    <a:pt x="300090" y="3073"/>
                    <a:pt x="319140" y="295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5" name="淘宝-想搞设计PPT(倒卖必究)-75"/>
            <p:cNvSpPr/>
            <p:nvPr/>
          </p:nvSpPr>
          <p:spPr>
            <a:xfrm rot="21307521">
              <a:off x="5798491" y="4604436"/>
              <a:ext cx="181927" cy="183765"/>
            </a:xfrm>
            <a:custGeom>
              <a:avLst/>
              <a:gdLst>
                <a:gd name="connsiteX0" fmla="*/ 975 w 178496"/>
                <a:gd name="connsiteY0" fmla="*/ 166776 h 170879"/>
                <a:gd name="connsiteX1" fmla="*/ 91463 w 178496"/>
                <a:gd name="connsiteY1" fmla="*/ 64383 h 170879"/>
                <a:gd name="connsiteX2" fmla="*/ 177188 w 178496"/>
                <a:gd name="connsiteY2" fmla="*/ 89 h 170879"/>
                <a:gd name="connsiteX3" fmla="*/ 136706 w 178496"/>
                <a:gd name="connsiteY3" fmla="*/ 52476 h 170879"/>
                <a:gd name="connsiteX4" fmla="*/ 48600 w 178496"/>
                <a:gd name="connsiteY4" fmla="*/ 138201 h 170879"/>
                <a:gd name="connsiteX5" fmla="*/ 975 w 178496"/>
                <a:gd name="connsiteY5" fmla="*/ 166776 h 170879"/>
                <a:gd name="connsiteX0-1" fmla="*/ 3352 w 180873"/>
                <a:gd name="connsiteY0-2" fmla="*/ 166776 h 173137"/>
                <a:gd name="connsiteX1-3" fmla="*/ 93840 w 180873"/>
                <a:gd name="connsiteY1-4" fmla="*/ 64383 h 173137"/>
                <a:gd name="connsiteX2-5" fmla="*/ 179565 w 180873"/>
                <a:gd name="connsiteY2-6" fmla="*/ 89 h 173137"/>
                <a:gd name="connsiteX3-7" fmla="*/ 139083 w 180873"/>
                <a:gd name="connsiteY3-8" fmla="*/ 52476 h 173137"/>
                <a:gd name="connsiteX4-9" fmla="*/ 50977 w 180873"/>
                <a:gd name="connsiteY4-10" fmla="*/ 138201 h 173137"/>
                <a:gd name="connsiteX5-11" fmla="*/ 22402 w 180873"/>
                <a:gd name="connsiteY5-12" fmla="*/ 159633 h 173137"/>
                <a:gd name="connsiteX6" fmla="*/ 3352 w 180873"/>
                <a:gd name="connsiteY6" fmla="*/ 166776 h 173137"/>
                <a:gd name="connsiteX0-13" fmla="*/ 4789 w 182310"/>
                <a:gd name="connsiteY0-14" fmla="*/ 166776 h 185696"/>
                <a:gd name="connsiteX1-15" fmla="*/ 95277 w 182310"/>
                <a:gd name="connsiteY1-16" fmla="*/ 64383 h 185696"/>
                <a:gd name="connsiteX2-17" fmla="*/ 181002 w 182310"/>
                <a:gd name="connsiteY2-18" fmla="*/ 89 h 185696"/>
                <a:gd name="connsiteX3-19" fmla="*/ 140520 w 182310"/>
                <a:gd name="connsiteY3-20" fmla="*/ 52476 h 185696"/>
                <a:gd name="connsiteX4-21" fmla="*/ 52414 w 182310"/>
                <a:gd name="connsiteY4-22" fmla="*/ 138201 h 185696"/>
                <a:gd name="connsiteX5-23" fmla="*/ 16695 w 182310"/>
                <a:gd name="connsiteY5-24" fmla="*/ 183445 h 185696"/>
                <a:gd name="connsiteX6-25" fmla="*/ 4789 w 182310"/>
                <a:gd name="connsiteY6-26" fmla="*/ 166776 h 185696"/>
                <a:gd name="connsiteX0-27" fmla="*/ 4789 w 181809"/>
                <a:gd name="connsiteY0-28" fmla="*/ 166776 h 185696"/>
                <a:gd name="connsiteX1-29" fmla="*/ 95277 w 181809"/>
                <a:gd name="connsiteY1-30" fmla="*/ 64383 h 185696"/>
                <a:gd name="connsiteX2-31" fmla="*/ 181002 w 181809"/>
                <a:gd name="connsiteY2-32" fmla="*/ 89 h 185696"/>
                <a:gd name="connsiteX3-33" fmla="*/ 133376 w 181809"/>
                <a:gd name="connsiteY3-34" fmla="*/ 52476 h 185696"/>
                <a:gd name="connsiteX4-35" fmla="*/ 52414 w 181809"/>
                <a:gd name="connsiteY4-36" fmla="*/ 138201 h 185696"/>
                <a:gd name="connsiteX5-37" fmla="*/ 16695 w 181809"/>
                <a:gd name="connsiteY5-38" fmla="*/ 183445 h 185696"/>
                <a:gd name="connsiteX6-39" fmla="*/ 4789 w 181809"/>
                <a:gd name="connsiteY6-40" fmla="*/ 166776 h 185696"/>
                <a:gd name="connsiteX0-41" fmla="*/ 4789 w 181809"/>
                <a:gd name="connsiteY0-42" fmla="*/ 166776 h 185696"/>
                <a:gd name="connsiteX1-43" fmla="*/ 95277 w 181809"/>
                <a:gd name="connsiteY1-44" fmla="*/ 64383 h 185696"/>
                <a:gd name="connsiteX2-45" fmla="*/ 181002 w 181809"/>
                <a:gd name="connsiteY2-46" fmla="*/ 89 h 185696"/>
                <a:gd name="connsiteX3-47" fmla="*/ 133376 w 181809"/>
                <a:gd name="connsiteY3-48" fmla="*/ 52476 h 185696"/>
                <a:gd name="connsiteX4-49" fmla="*/ 52414 w 181809"/>
                <a:gd name="connsiteY4-50" fmla="*/ 133439 h 185696"/>
                <a:gd name="connsiteX5-51" fmla="*/ 16695 w 181809"/>
                <a:gd name="connsiteY5-52" fmla="*/ 183445 h 185696"/>
                <a:gd name="connsiteX6-53" fmla="*/ 4789 w 181809"/>
                <a:gd name="connsiteY6-54" fmla="*/ 166776 h 185696"/>
                <a:gd name="connsiteX0-55" fmla="*/ 6892 w 183912"/>
                <a:gd name="connsiteY0-56" fmla="*/ 166776 h 183799"/>
                <a:gd name="connsiteX1-57" fmla="*/ 97380 w 183912"/>
                <a:gd name="connsiteY1-58" fmla="*/ 64383 h 183799"/>
                <a:gd name="connsiteX2-59" fmla="*/ 183105 w 183912"/>
                <a:gd name="connsiteY2-60" fmla="*/ 89 h 183799"/>
                <a:gd name="connsiteX3-61" fmla="*/ 135479 w 183912"/>
                <a:gd name="connsiteY3-62" fmla="*/ 52476 h 183799"/>
                <a:gd name="connsiteX4-63" fmla="*/ 54517 w 183912"/>
                <a:gd name="connsiteY4-64" fmla="*/ 133439 h 183799"/>
                <a:gd name="connsiteX5-65" fmla="*/ 11655 w 183912"/>
                <a:gd name="connsiteY5-66" fmla="*/ 181064 h 183799"/>
                <a:gd name="connsiteX6-67" fmla="*/ 6892 w 183912"/>
                <a:gd name="connsiteY6-68" fmla="*/ 166776 h 183799"/>
                <a:gd name="connsiteX0-69" fmla="*/ 6892 w 183575"/>
                <a:gd name="connsiteY0-70" fmla="*/ 166823 h 183846"/>
                <a:gd name="connsiteX1-71" fmla="*/ 97380 w 183575"/>
                <a:gd name="connsiteY1-72" fmla="*/ 64430 h 183846"/>
                <a:gd name="connsiteX2-73" fmla="*/ 183105 w 183575"/>
                <a:gd name="connsiteY2-74" fmla="*/ 136 h 183846"/>
                <a:gd name="connsiteX3-75" fmla="*/ 128336 w 183575"/>
                <a:gd name="connsiteY3-76" fmla="*/ 50142 h 183846"/>
                <a:gd name="connsiteX4-77" fmla="*/ 54517 w 183575"/>
                <a:gd name="connsiteY4-78" fmla="*/ 133486 h 183846"/>
                <a:gd name="connsiteX5-79" fmla="*/ 11655 w 183575"/>
                <a:gd name="connsiteY5-80" fmla="*/ 181111 h 183846"/>
                <a:gd name="connsiteX6-81" fmla="*/ 6892 w 183575"/>
                <a:gd name="connsiteY6-82" fmla="*/ 166823 h 183846"/>
                <a:gd name="connsiteX0-83" fmla="*/ 6892 w 183417"/>
                <a:gd name="connsiteY0-84" fmla="*/ 166742 h 183765"/>
                <a:gd name="connsiteX1-85" fmla="*/ 97380 w 183417"/>
                <a:gd name="connsiteY1-86" fmla="*/ 64349 h 183765"/>
                <a:gd name="connsiteX2-87" fmla="*/ 183105 w 183417"/>
                <a:gd name="connsiteY2-88" fmla="*/ 55 h 183765"/>
                <a:gd name="connsiteX3-89" fmla="*/ 123574 w 183417"/>
                <a:gd name="connsiteY3-90" fmla="*/ 54824 h 183765"/>
                <a:gd name="connsiteX4-91" fmla="*/ 54517 w 183417"/>
                <a:gd name="connsiteY4-92" fmla="*/ 133405 h 183765"/>
                <a:gd name="connsiteX5-93" fmla="*/ 11655 w 183417"/>
                <a:gd name="connsiteY5-94" fmla="*/ 181030 h 183765"/>
                <a:gd name="connsiteX6-95" fmla="*/ 6892 w 183417"/>
                <a:gd name="connsiteY6-96" fmla="*/ 166742 h 183765"/>
                <a:gd name="connsiteX0-97" fmla="*/ 5402 w 181927"/>
                <a:gd name="connsiteY0-98" fmla="*/ 166742 h 183765"/>
                <a:gd name="connsiteX1-99" fmla="*/ 95890 w 181927"/>
                <a:gd name="connsiteY1-100" fmla="*/ 64349 h 183765"/>
                <a:gd name="connsiteX2-101" fmla="*/ 181615 w 181927"/>
                <a:gd name="connsiteY2-102" fmla="*/ 55 h 183765"/>
                <a:gd name="connsiteX3-103" fmla="*/ 122084 w 181927"/>
                <a:gd name="connsiteY3-104" fmla="*/ 54824 h 183765"/>
                <a:gd name="connsiteX4-105" fmla="*/ 53027 w 181927"/>
                <a:gd name="connsiteY4-106" fmla="*/ 133405 h 183765"/>
                <a:gd name="connsiteX5-107" fmla="*/ 14927 w 181927"/>
                <a:gd name="connsiteY5-108" fmla="*/ 181030 h 183765"/>
                <a:gd name="connsiteX6-109" fmla="*/ 5402 w 181927"/>
                <a:gd name="connsiteY6-110" fmla="*/ 166742 h 18376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25" y="connsiteY6-26"/>
                </a:cxn>
              </a:cxnLst>
              <a:rect l="l" t="t" r="r" b="b"/>
              <a:pathLst>
                <a:path w="181927" h="183765">
                  <a:moveTo>
                    <a:pt x="5402" y="166742"/>
                  </a:moveTo>
                  <a:cubicBezTo>
                    <a:pt x="18896" y="147295"/>
                    <a:pt x="66521" y="92130"/>
                    <a:pt x="95890" y="64349"/>
                  </a:cubicBezTo>
                  <a:cubicBezTo>
                    <a:pt x="125259" y="36568"/>
                    <a:pt x="177249" y="1642"/>
                    <a:pt x="181615" y="55"/>
                  </a:cubicBezTo>
                  <a:cubicBezTo>
                    <a:pt x="185981" y="-1532"/>
                    <a:pt x="143515" y="31805"/>
                    <a:pt x="122084" y="54824"/>
                  </a:cubicBezTo>
                  <a:cubicBezTo>
                    <a:pt x="100653" y="77843"/>
                    <a:pt x="70886" y="112371"/>
                    <a:pt x="53027" y="133405"/>
                  </a:cubicBezTo>
                  <a:cubicBezTo>
                    <a:pt x="35168" y="154439"/>
                    <a:pt x="22865" y="176268"/>
                    <a:pt x="14927" y="181030"/>
                  </a:cubicBezTo>
                  <a:cubicBezTo>
                    <a:pt x="6990" y="185793"/>
                    <a:pt x="-8092" y="186189"/>
                    <a:pt x="5402" y="166742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78" name="淘宝-想搞设计PPT(倒卖必究)-78"/>
          <p:cNvSpPr txBox="1"/>
          <p:nvPr/>
        </p:nvSpPr>
        <p:spPr>
          <a:xfrm>
            <a:off x="6635642" y="3175589"/>
            <a:ext cx="1112696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dirty="0">
                <a:solidFill>
                  <a:srgbClr val="076145"/>
                </a:solidFill>
              </a:rPr>
              <a:t>研究方法</a:t>
            </a:r>
            <a:endParaRPr lang="zh-CN" altLang="en-US" sz="2800" dirty="0">
              <a:solidFill>
                <a:srgbClr val="076145"/>
              </a:solidFill>
            </a:endParaRPr>
          </a:p>
        </p:txBody>
      </p:sp>
      <p:cxnSp>
        <p:nvCxnSpPr>
          <p:cNvPr id="25" name="淘宝-想搞设计PPT(倒卖必究)-25"/>
          <p:cNvCxnSpPr/>
          <p:nvPr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20"/>
          <p:cNvSpPr txBox="1"/>
          <p:nvPr/>
        </p:nvSpPr>
        <p:spPr>
          <a:xfrm>
            <a:off x="2381250" y="1431925"/>
            <a:ext cx="91916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以人群活动为线索，整合行为识别、空间建构与关系分析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009900" y="2736850"/>
            <a:ext cx="29051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概念界定与理论框架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705850" y="2746375"/>
            <a:ext cx="28384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样本观察与空间调研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714625" y="5108575"/>
            <a:ext cx="33813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点云配准与空间特征量化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753475" y="5041900"/>
            <a:ext cx="27908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YOLOv8 + ByteTrack</a:t>
            </a:r>
          </a:p>
        </p:txBody>
      </p:sp>
      <p:sp>
        <p:nvSpPr>
          <p:cNvPr id="26" name="Rectangle 26"/>
          <p:cNvSpPr/>
          <p:nvPr/>
        </p:nvSpPr>
        <p:spPr>
          <a:xfrm>
            <a:off x="2095500" y="5905500"/>
            <a:ext cx="9620250" cy="4762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2266950" y="6010275"/>
            <a:ext cx="92583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方法衔接：活动影像 → 空间投影 → 单元识别 → 特征量化 → 关系模型。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095500" y="6489700"/>
            <a:ext cx="85725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资料：提纲1.4、2.2；1010 Methods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715625" y="6477000"/>
            <a:ext cx="10001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2095500" y="330200"/>
            <a:ext cx="94297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PART 03 / 研究方法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95500" y="701675"/>
            <a:ext cx="971550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活动单元识别：从人群位置到真实活动范围</a:t>
            </a:r>
          </a:p>
        </p:txBody>
      </p:sp>
      <p:sp>
        <p:nvSpPr>
          <p:cNvPr id="4" name="Line 4"/>
          <p:cNvSpPr/>
          <p:nvPr/>
        </p:nvSpPr>
        <p:spPr>
          <a:xfrm>
            <a:off x="2095500" y="1304925"/>
            <a:ext cx="9620250" cy="9525"/>
          </a:xfrm>
          <a:custGeom>
            <a:avLst/>
            <a:gdLst/>
            <a:ahLst/>
            <a:cxnLst/>
            <a:rect l="l" t="t" r="r" b="b"/>
            <a:pathLst>
              <a:path w="9620250" h="9525">
                <a:moveTo>
                  <a:pt x="0" y="0"/>
                </a:moveTo>
                <a:lnTo>
                  <a:pt x="9620250" y="0"/>
                </a:lnTo>
              </a:path>
            </a:pathLst>
          </a:custGeom>
          <a:noFill/>
          <a:ln w="9525">
            <a:solidFill>
              <a:srgbClr val="CADBCF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2181225" y="1676400"/>
            <a:ext cx="1586865" cy="543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8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Rectangle 6"/>
          <p:cNvSpPr/>
          <p:nvPr/>
        </p:nvSpPr>
        <p:spPr>
          <a:xfrm>
            <a:off x="2085975" y="2390775"/>
            <a:ext cx="1777365" cy="209550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2085975" y="2390775"/>
            <a:ext cx="1777365" cy="38100"/>
          </a:xfrm>
          <a:prstGeom prst="rect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228850" y="2603500"/>
            <a:ext cx="14916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检测与跟踪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28850" y="3057525"/>
            <a:ext cx="149161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YOLOv8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28850" y="3486150"/>
            <a:ext cx="149161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ByteTrack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28850" y="3914775"/>
            <a:ext cx="149161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稳定出现 &gt;20s</a:t>
            </a:r>
          </a:p>
        </p:txBody>
      </p:sp>
      <p:sp>
        <p:nvSpPr>
          <p:cNvPr id="12" name="Polygon 12"/>
          <p:cNvSpPr/>
          <p:nvPr/>
        </p:nvSpPr>
        <p:spPr>
          <a:xfrm>
            <a:off x="3901440" y="3352800"/>
            <a:ext cx="95250" cy="133350"/>
          </a:xfrm>
          <a:custGeom>
            <a:avLst/>
            <a:gdLst/>
            <a:ahLst/>
            <a:cxnLst/>
            <a:rect l="l" t="t" r="r" b="b"/>
            <a:pathLst>
              <a:path w="95250" h="133350">
                <a:moveTo>
                  <a:pt x="0" y="0"/>
                </a:moveTo>
                <a:lnTo>
                  <a:pt x="952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076145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149090" y="1676400"/>
            <a:ext cx="1586865" cy="543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8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053840" y="2390775"/>
            <a:ext cx="1777365" cy="209550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4053840" y="2390775"/>
            <a:ext cx="1777365" cy="38100"/>
          </a:xfrm>
          <a:prstGeom prst="rect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196715" y="2603500"/>
            <a:ext cx="14916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空间投影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196715" y="3057525"/>
            <a:ext cx="149161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检测框底中点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88714" y="3486150"/>
            <a:ext cx="12922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控制点单应变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88714" y="3762375"/>
            <a:ext cx="228702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换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96715" y="4191000"/>
            <a:ext cx="149161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GIS米制坐标</a:t>
            </a:r>
          </a:p>
        </p:txBody>
      </p:sp>
      <p:sp>
        <p:nvSpPr>
          <p:cNvPr id="21" name="Polygon 21"/>
          <p:cNvSpPr/>
          <p:nvPr/>
        </p:nvSpPr>
        <p:spPr>
          <a:xfrm>
            <a:off x="5869305" y="3352800"/>
            <a:ext cx="95250" cy="133350"/>
          </a:xfrm>
          <a:custGeom>
            <a:avLst/>
            <a:gdLst/>
            <a:ahLst/>
            <a:cxnLst/>
            <a:rect l="l" t="t" r="r" b="b"/>
            <a:pathLst>
              <a:path w="95250" h="133350">
                <a:moveTo>
                  <a:pt x="0" y="0"/>
                </a:moveTo>
                <a:lnTo>
                  <a:pt x="952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076145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116955" y="1676400"/>
            <a:ext cx="1586865" cy="543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8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021705" y="2390775"/>
            <a:ext cx="1777365" cy="209550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6021705" y="2390775"/>
            <a:ext cx="1777365" cy="38100"/>
          </a:xfrm>
          <a:prstGeom prst="rect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164580" y="2603500"/>
            <a:ext cx="14916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密度聚类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164580" y="3057525"/>
            <a:ext cx="149161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M-DBSCAN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164580" y="3486150"/>
            <a:ext cx="149161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最低4个点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164580" y="3914775"/>
            <a:ext cx="149161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R=6m</a:t>
            </a:r>
          </a:p>
        </p:txBody>
      </p:sp>
      <p:sp>
        <p:nvSpPr>
          <p:cNvPr id="29" name="Polygon 29"/>
          <p:cNvSpPr/>
          <p:nvPr/>
        </p:nvSpPr>
        <p:spPr>
          <a:xfrm>
            <a:off x="7837170" y="3352800"/>
            <a:ext cx="95250" cy="133350"/>
          </a:xfrm>
          <a:custGeom>
            <a:avLst/>
            <a:gdLst/>
            <a:ahLst/>
            <a:cxnLst/>
            <a:rect l="l" t="t" r="r" b="b"/>
            <a:pathLst>
              <a:path w="95250" h="133350">
                <a:moveTo>
                  <a:pt x="0" y="0"/>
                </a:moveTo>
                <a:lnTo>
                  <a:pt x="952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07614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8084820" y="1676400"/>
            <a:ext cx="1586865" cy="543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8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989570" y="2390775"/>
            <a:ext cx="1777365" cy="209550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7989570" y="2390775"/>
            <a:ext cx="1777365" cy="38100"/>
          </a:xfrm>
          <a:prstGeom prst="rect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132445" y="2603500"/>
            <a:ext cx="14916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空间整合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132445" y="3057525"/>
            <a:ext cx="149161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Alpha Shape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132445" y="3486150"/>
            <a:ext cx="149161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边界距离≤2m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132445" y="3914775"/>
            <a:ext cx="149161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归并邻近簇</a:t>
            </a:r>
          </a:p>
        </p:txBody>
      </p:sp>
      <p:sp>
        <p:nvSpPr>
          <p:cNvPr id="37" name="Polygon 37"/>
          <p:cNvSpPr/>
          <p:nvPr/>
        </p:nvSpPr>
        <p:spPr>
          <a:xfrm>
            <a:off x="9805035" y="3352800"/>
            <a:ext cx="95250" cy="133350"/>
          </a:xfrm>
          <a:custGeom>
            <a:avLst/>
            <a:gdLst/>
            <a:ahLst/>
            <a:cxnLst/>
            <a:rect l="l" t="t" r="r" b="b"/>
            <a:pathLst>
              <a:path w="95250" h="133350">
                <a:moveTo>
                  <a:pt x="0" y="0"/>
                </a:moveTo>
                <a:lnTo>
                  <a:pt x="952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07614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0052685" y="1676400"/>
            <a:ext cx="1586865" cy="543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8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9" name="Rectangle 39"/>
          <p:cNvSpPr/>
          <p:nvPr/>
        </p:nvSpPr>
        <p:spPr>
          <a:xfrm>
            <a:off x="9957435" y="2390775"/>
            <a:ext cx="1777365" cy="209550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9957435" y="2390775"/>
            <a:ext cx="1777365" cy="38100"/>
          </a:xfrm>
          <a:prstGeom prst="rect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0100310" y="2603500"/>
            <a:ext cx="14916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边界修正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100310" y="3057525"/>
            <a:ext cx="149161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0.5m格网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100310" y="3486150"/>
            <a:ext cx="149161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0.30m / 2m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100310" y="3914775"/>
            <a:ext cx="149161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连续且不重叠</a:t>
            </a:r>
          </a:p>
        </p:txBody>
      </p:sp>
      <p:sp>
        <p:nvSpPr>
          <p:cNvPr id="45" name="Rectangle 45"/>
          <p:cNvSpPr/>
          <p:nvPr/>
        </p:nvSpPr>
        <p:spPr>
          <a:xfrm>
            <a:off x="2095500" y="5905500"/>
            <a:ext cx="9620250" cy="4762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2266950" y="6010275"/>
            <a:ext cx="92583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以实际活动点形成空间单元；参数源于文稿，敏感性检验完整附录待补。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095500" y="6489700"/>
            <a:ext cx="85725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资料：1010 2.3.1–2.3.4；提纲4.1–4.2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715625" y="6477000"/>
            <a:ext cx="10001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2095500" y="330200"/>
            <a:ext cx="94297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PART 03 / 研究方法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95500" y="701675"/>
            <a:ext cx="971550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空间特征量化：六指标描述二维与三维环境</a:t>
            </a:r>
          </a:p>
        </p:txBody>
      </p:sp>
      <p:sp>
        <p:nvSpPr>
          <p:cNvPr id="4" name="Line 4"/>
          <p:cNvSpPr/>
          <p:nvPr/>
        </p:nvSpPr>
        <p:spPr>
          <a:xfrm>
            <a:off x="2095500" y="1304925"/>
            <a:ext cx="9620250" cy="9525"/>
          </a:xfrm>
          <a:custGeom>
            <a:avLst/>
            <a:gdLst/>
            <a:ahLst/>
            <a:cxnLst/>
            <a:rect l="l" t="t" r="r" b="b"/>
            <a:pathLst>
              <a:path w="9620250" h="9525">
                <a:moveTo>
                  <a:pt x="0" y="0"/>
                </a:moveTo>
                <a:lnTo>
                  <a:pt x="9620250" y="0"/>
                </a:lnTo>
              </a:path>
            </a:pathLst>
          </a:custGeom>
          <a:noFill/>
          <a:ln w="9525">
            <a:solidFill>
              <a:srgbClr val="CADBCF"/>
            </a:solidFill>
          </a:ln>
        </p:spPr>
      </p:sp>
      <p:graphicFrame>
        <p:nvGraphicFramePr>
          <p:cNvPr id="5" name="data-table"/>
          <p:cNvGraphicFramePr>
            <a:graphicFrameLocks noGrp="1"/>
          </p:cNvGraphicFramePr>
          <p:nvPr/>
        </p:nvGraphicFramePr>
        <p:xfrm>
          <a:off x="2085975" y="1743075"/>
          <a:ext cx="9648825" cy="3429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501547"/>
                <a:gridCol w="4169245"/>
                <a:gridCol w="2978033"/>
              </a:tblGrid>
              <a:tr h="452438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07614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计算表达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07614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空间含义／口径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076145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形状指数 SI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l-GR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 / (2√(πA))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边界复杂程度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边界可通行率 BPR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 / P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可通行界面比例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4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可活动空间率 AR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Aact / A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活动面积比例；文字定义待统一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绿化覆盖率 VG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Aveg / A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植被投影面积占比</a:t>
                      </a:r>
                    </a:p>
                  </a:txBody>
                  <a:tcPr anchor="ctr" marL="114300" marR="114300" marT="79534" marB="79534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437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空间围合度 ED</a:t>
                      </a:r>
                    </a:p>
                  </a:txBody>
                  <a:tcPr anchor="ctr" marL="114300" marR="114300" marT="79533" marB="79533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Σ(Lb×W)/P；W=min(Hb/H0,1)</a:t>
                      </a:r>
                    </a:p>
                  </a:txBody>
                  <a:tcPr anchor="ctr" marL="114300" marR="114300" marT="79533" marB="79533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边界长度与高度；H0待补</a:t>
                      </a:r>
                    </a:p>
                  </a:txBody>
                  <a:tcPr anchor="ctr" marL="114300" marR="114300" marT="79533" marB="79533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0F6F3"/>
                    </a:solidFill>
                  </a:tcPr>
                </a:tc>
              </a:tr>
              <a:tr h="452437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局部视域开放率 LIOR</a:t>
                      </a:r>
                    </a:p>
                  </a:txBody>
                  <a:tcPr anchor="ctr" marL="114300" marR="114300" marT="79533" marB="79533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Avis / Avalid</a:t>
                      </a:r>
                    </a:p>
                  </a:txBody>
                  <a:tcPr anchor="ctr" marL="114300" marR="114300" marT="79533" marB="79533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rgbClr val="26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代表点15m内有效可视比例</a:t>
                      </a:r>
                    </a:p>
                  </a:txBody>
                  <a:tcPr anchor="ctr" marL="114300" marR="114300" marT="79533" marB="79533">
                    <a:lnL w="9525">
                      <a:solidFill>
                        <a:srgbClr val="D5E1DB"/>
                      </a:solidFill>
                      <a:prstDash val="solid"/>
                    </a:lnL>
                    <a:lnR w="9525">
                      <a:solidFill>
                        <a:srgbClr val="D5E1DB"/>
                      </a:solidFill>
                      <a:prstDash val="solid"/>
                    </a:lnR>
                    <a:lnT w="9525">
                      <a:solidFill>
                        <a:srgbClr val="D5E1DB"/>
                      </a:solidFill>
                      <a:prstDash val="solid"/>
                    </a:lnT>
                    <a:lnB w="9525">
                      <a:solidFill>
                        <a:srgbClr val="D5E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6"/>
          <p:cNvSpPr/>
          <p:nvPr/>
        </p:nvSpPr>
        <p:spPr>
          <a:xfrm>
            <a:off x="2095500" y="5905500"/>
            <a:ext cx="9620250" cy="4762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266950" y="6010275"/>
            <a:ext cx="92583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AR口径、ED的H0、LIOR代表点选择需复核；不自行补设阈值。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95500" y="6489700"/>
            <a:ext cx="85725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资料：1010表1及原始公式；提纲5.1–5.2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15625" y="6477000"/>
            <a:ext cx="10001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2095500" y="330200"/>
            <a:ext cx="94297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PART 03 / 研究方法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95500" y="701675"/>
            <a:ext cx="971550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解析与验证：两类单元平行NB-GLMM</a:t>
            </a:r>
          </a:p>
        </p:txBody>
      </p:sp>
      <p:sp>
        <p:nvSpPr>
          <p:cNvPr id="4" name="Line 4"/>
          <p:cNvSpPr/>
          <p:nvPr/>
        </p:nvSpPr>
        <p:spPr>
          <a:xfrm>
            <a:off x="2095500" y="1304925"/>
            <a:ext cx="9620250" cy="9525"/>
          </a:xfrm>
          <a:custGeom>
            <a:avLst/>
            <a:gdLst/>
            <a:ahLst/>
            <a:cxnLst/>
            <a:rect l="l" t="t" r="r" b="b"/>
            <a:pathLst>
              <a:path w="9620250" h="9525">
                <a:moveTo>
                  <a:pt x="0" y="0"/>
                </a:moveTo>
                <a:lnTo>
                  <a:pt x="9620250" y="0"/>
                </a:lnTo>
              </a:path>
            </a:pathLst>
          </a:custGeom>
          <a:noFill/>
          <a:ln w="9525">
            <a:solidFill>
              <a:srgbClr val="CADBCF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2085975" y="1762125"/>
            <a:ext cx="2905125" cy="28003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410200" y="1762125"/>
            <a:ext cx="3200400" cy="28003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9020175" y="1762125"/>
            <a:ext cx="2714625" cy="28003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286000" y="1920875"/>
            <a:ext cx="251460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模型输入</a:t>
            </a:r>
          </a:p>
        </p:txBody>
      </p:sp>
      <p:sp>
        <p:nvSpPr>
          <p:cNvPr id="9" name="Ellipse 9"/>
          <p:cNvSpPr/>
          <p:nvPr/>
        </p:nvSpPr>
        <p:spPr>
          <a:xfrm>
            <a:off x="2295525" y="257175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495550" y="2460625"/>
            <a:ext cx="226695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因变量：活动人数</a:t>
            </a:r>
          </a:p>
        </p:txBody>
      </p:sp>
      <p:sp>
        <p:nvSpPr>
          <p:cNvPr id="11" name="Ellipse 11"/>
          <p:cNvSpPr/>
          <p:nvPr/>
        </p:nvSpPr>
        <p:spPr>
          <a:xfrm>
            <a:off x="2295525" y="3049905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495550" y="2938780"/>
            <a:ext cx="226695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固定效应：六项指标</a:t>
            </a:r>
          </a:p>
        </p:txBody>
      </p:sp>
      <p:sp>
        <p:nvSpPr>
          <p:cNvPr id="13" name="Ellipse 13"/>
          <p:cNvSpPr/>
          <p:nvPr/>
        </p:nvSpPr>
        <p:spPr>
          <a:xfrm>
            <a:off x="2295525" y="352806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2495550" y="3416935"/>
            <a:ext cx="226695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两类单元平行建模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38800" y="1908175"/>
            <a:ext cx="276225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NB-GLMM</a:t>
            </a:r>
          </a:p>
        </p:txBody>
      </p:sp>
      <p:sp>
        <p:nvSpPr>
          <p:cNvPr id="16" name="Ellipse 16"/>
          <p:cNvSpPr/>
          <p:nvPr/>
        </p:nvSpPr>
        <p:spPr>
          <a:xfrm>
            <a:off x="5648325" y="257175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848350" y="2460625"/>
            <a:ext cx="255270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负二项计数关系模型</a:t>
            </a:r>
          </a:p>
        </p:txBody>
      </p:sp>
      <p:sp>
        <p:nvSpPr>
          <p:cNvPr id="18" name="Ellipse 18"/>
          <p:cNvSpPr/>
          <p:nvPr/>
        </p:nvSpPr>
        <p:spPr>
          <a:xfrm>
            <a:off x="5648325" y="3049905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848350" y="2938780"/>
            <a:ext cx="255270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公园ID：随机截距</a:t>
            </a:r>
          </a:p>
        </p:txBody>
      </p:sp>
      <p:sp>
        <p:nvSpPr>
          <p:cNvPr id="20" name="Ellipse 20"/>
          <p:cNvSpPr/>
          <p:nvPr/>
        </p:nvSpPr>
        <p:spPr>
          <a:xfrm>
            <a:off x="5648325" y="352806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848350" y="3416935"/>
            <a:ext cx="255270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控制公园间异质性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229725" y="1920875"/>
            <a:ext cx="228600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结果表达</a:t>
            </a:r>
          </a:p>
        </p:txBody>
      </p:sp>
      <p:sp>
        <p:nvSpPr>
          <p:cNvPr id="23" name="Ellipse 23"/>
          <p:cNvSpPr/>
          <p:nvPr/>
        </p:nvSpPr>
        <p:spPr>
          <a:xfrm>
            <a:off x="9239250" y="257175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39275" y="2473325"/>
            <a:ext cx="198120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IRR及95% CI</a:t>
            </a:r>
          </a:p>
        </p:txBody>
      </p:sp>
      <p:sp>
        <p:nvSpPr>
          <p:cNvPr id="25" name="Ellipse 25"/>
          <p:cNvSpPr/>
          <p:nvPr/>
        </p:nvSpPr>
        <p:spPr>
          <a:xfrm>
            <a:off x="9239250" y="303657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439275" y="2938145"/>
            <a:ext cx="198120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IRR&gt;1／&lt;1：方向</a:t>
            </a:r>
          </a:p>
        </p:txBody>
      </p:sp>
      <p:sp>
        <p:nvSpPr>
          <p:cNvPr id="27" name="Ellipse 27"/>
          <p:cNvSpPr/>
          <p:nvPr/>
        </p:nvSpPr>
        <p:spPr>
          <a:xfrm>
            <a:off x="9239250" y="350139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439275" y="3402965"/>
            <a:ext cx="198120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CI不跨1：显著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112239" y="3003550"/>
            <a:ext cx="1768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731739" y="3003550"/>
            <a:ext cx="1768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457450" y="4968875"/>
            <a:ext cx="8763000" cy="4547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l-GR" sz="232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log(μij) = β0 + Σ βk Xk,ij + uj</a:t>
            </a:r>
          </a:p>
        </p:txBody>
      </p:sp>
      <p:sp>
        <p:nvSpPr>
          <p:cNvPr id="32" name="Rectangle 32"/>
          <p:cNvSpPr/>
          <p:nvPr/>
        </p:nvSpPr>
        <p:spPr>
          <a:xfrm>
            <a:off x="2095500" y="5905500"/>
            <a:ext cx="9620250" cy="4762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2266950" y="6010275"/>
            <a:ext cx="92583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一致性与随机分区对照属于验证框架，完整统计待补；模型表达条件关联。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095500" y="6489700"/>
            <a:ext cx="85725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资料：1010模型分析及验证框架；提纲4.4、6.1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715625" y="6477000"/>
            <a:ext cx="10001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TextBox 11"/>
          <p:cNvSpPr txBox="1"/>
          <p:nvPr/>
        </p:nvSpPr>
        <p:spPr>
          <a:xfrm>
            <a:off x="2085975" y="374650"/>
            <a:ext cx="952500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3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PART 04 / 论文提纲</a:t>
            </a:r>
            <a:endParaRPr lang="zh-CN" sz="1420" dirty="0">
              <a:solidFill>
                <a:srgbClr val="63766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085975" y="717550"/>
            <a:ext cx="971550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761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论文提纲：第一至第三章</a:t>
            </a:r>
            <a:endParaRPr lang="zh-CN" sz="2400" b="1" dirty="0">
              <a:solidFill>
                <a:srgbClr val="07614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Line 13"/>
          <p:cNvSpPr/>
          <p:nvPr/>
        </p:nvSpPr>
        <p:spPr>
          <a:xfrm>
            <a:off x="2085975" y="1257300"/>
            <a:ext cx="9648825" cy="9525"/>
          </a:xfrm>
          <a:custGeom>
            <a:avLst/>
            <a:gdLst/>
            <a:ahLst/>
            <a:cxnLst/>
            <a:rect l="l" t="t" r="r" b="b"/>
            <a:pathLst>
              <a:path w="9648825" h="9525">
                <a:moveTo>
                  <a:pt x="0" y="0"/>
                </a:moveTo>
                <a:lnTo>
                  <a:pt x="9648825" y="0"/>
                </a:lnTo>
              </a:path>
            </a:pathLst>
          </a:custGeom>
          <a:noFill/>
          <a:ln w="9525">
            <a:solidFill>
              <a:srgbClr val="BDCEC5"/>
            </a:solidFill>
          </a:ln>
        </p:spPr>
      </p:sp>
      <p:sp>
        <p:nvSpPr>
          <p:cNvPr id="4" name="TextBox 18"/>
          <p:cNvSpPr txBox="1"/>
          <p:nvPr/>
        </p:nvSpPr>
        <p:spPr>
          <a:xfrm>
            <a:off x="2200275" y="1670050"/>
            <a:ext cx="445770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0761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第一章 绪论</a:t>
            </a:r>
            <a:endParaRPr lang="zh-CN" sz="1720" b="1" dirty="0">
              <a:solidFill>
                <a:srgbClr val="07614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TextBox 19"/>
          <p:cNvSpPr txBox="1"/>
          <p:nvPr/>
        </p:nvSpPr>
        <p:spPr>
          <a:xfrm>
            <a:off x="2219325" y="196532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1.1 研究背景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219325" y="2222500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1.2 研究目的与意义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219325" y="247967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1.3 国内外研究综述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219325" y="2736850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1.4 研究内容与方法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200275" y="3308350"/>
            <a:ext cx="445770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0761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第三章 研究区域概况与数据处理</a:t>
            </a:r>
            <a:endParaRPr lang="zh-CN" sz="1720" b="1" dirty="0">
              <a:solidFill>
                <a:srgbClr val="07614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TextBox 24"/>
          <p:cNvSpPr txBox="1"/>
          <p:nvPr/>
        </p:nvSpPr>
        <p:spPr>
          <a:xfrm>
            <a:off x="2219325" y="360362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3.1 研究对象的选取依据与概况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TextBox 25"/>
          <p:cNvSpPr txBox="1"/>
          <p:nvPr/>
        </p:nvSpPr>
        <p:spPr>
          <a:xfrm>
            <a:off x="2219325" y="3860800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3.2 数据来源与处理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" name="TextBox 26"/>
          <p:cNvSpPr txBox="1"/>
          <p:nvPr/>
        </p:nvSpPr>
        <p:spPr>
          <a:xfrm>
            <a:off x="2219325" y="411797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3.3 本章小结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5" name="TextBox 27"/>
          <p:cNvSpPr txBox="1"/>
          <p:nvPr/>
        </p:nvSpPr>
        <p:spPr>
          <a:xfrm>
            <a:off x="7153275" y="1670050"/>
            <a:ext cx="445770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0761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第二章 相关理论基础与研究框架</a:t>
            </a:r>
            <a:endParaRPr lang="zh-CN" sz="1720" b="1" dirty="0">
              <a:solidFill>
                <a:srgbClr val="07614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7" name="TextBox 28"/>
          <p:cNvSpPr txBox="1"/>
          <p:nvPr/>
        </p:nvSpPr>
        <p:spPr>
          <a:xfrm>
            <a:off x="7172325" y="196532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2.1 核心概念界定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8" name="TextBox 29"/>
          <p:cNvSpPr txBox="1"/>
          <p:nvPr/>
        </p:nvSpPr>
        <p:spPr>
          <a:xfrm>
            <a:off x="7172325" y="2222500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2.2 人群活动与绿地空间关系的理论基础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9" name="TextBox 30"/>
          <p:cNvSpPr txBox="1"/>
          <p:nvPr/>
        </p:nvSpPr>
        <p:spPr>
          <a:xfrm>
            <a:off x="7172325" y="247967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2.3 空间特征指标提取及量化基础方法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0" name="TextBox 31"/>
          <p:cNvSpPr txBox="1"/>
          <p:nvPr/>
        </p:nvSpPr>
        <p:spPr>
          <a:xfrm>
            <a:off x="7172325" y="2736850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2.4 研究问题与分析框架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1" name="TextBox 32"/>
          <p:cNvSpPr txBox="1"/>
          <p:nvPr/>
        </p:nvSpPr>
        <p:spPr>
          <a:xfrm>
            <a:off x="7172325" y="299402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2.5 本章小结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TextBox 11"/>
          <p:cNvSpPr txBox="1"/>
          <p:nvPr/>
        </p:nvSpPr>
        <p:spPr>
          <a:xfrm>
            <a:off x="2085975" y="374650"/>
            <a:ext cx="952500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3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PART 04 / 论文提纲</a:t>
            </a:r>
            <a:endParaRPr lang="zh-CN" sz="1420" dirty="0">
              <a:solidFill>
                <a:srgbClr val="63766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085975" y="717550"/>
            <a:ext cx="971550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761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论文提纲：第四至第七章</a:t>
            </a:r>
            <a:endParaRPr lang="zh-CN" sz="2400" b="1" dirty="0">
              <a:solidFill>
                <a:srgbClr val="07614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Line 13"/>
          <p:cNvSpPr/>
          <p:nvPr/>
        </p:nvSpPr>
        <p:spPr>
          <a:xfrm>
            <a:off x="2085975" y="1257300"/>
            <a:ext cx="9648825" cy="9525"/>
          </a:xfrm>
          <a:custGeom>
            <a:avLst/>
            <a:gdLst/>
            <a:ahLst/>
            <a:cxnLst/>
            <a:rect l="l" t="t" r="r" b="b"/>
            <a:pathLst>
              <a:path w="9648825" h="9525">
                <a:moveTo>
                  <a:pt x="0" y="0"/>
                </a:moveTo>
                <a:lnTo>
                  <a:pt x="9648825" y="0"/>
                </a:lnTo>
              </a:path>
            </a:pathLst>
          </a:custGeom>
          <a:noFill/>
          <a:ln w="9525">
            <a:solidFill>
              <a:srgbClr val="BDCEC5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2200275" y="1670050"/>
            <a:ext cx="445770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0761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第四章 基于人群分布的活动单元识别</a:t>
            </a:r>
            <a:endParaRPr lang="zh-CN" sz="1720" b="1" dirty="0">
              <a:solidFill>
                <a:srgbClr val="07614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219325" y="196532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4.1 活动人群识别模型构建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219325" y="2222500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4.2 活动单元识别方法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219325" y="247967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4.3 活动单元结果分析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219325" y="2736850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4.4 活动单元识别有效性验证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219325" y="299402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4.5 活动单元与功能分区的空间差异对比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219325" y="3251200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4.6 本章小结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200275" y="3822700"/>
            <a:ext cx="445770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0761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第五章 社区绿地空间特征的量化与评价</a:t>
            </a:r>
            <a:endParaRPr lang="zh-CN" sz="1720" b="1" dirty="0">
              <a:solidFill>
                <a:srgbClr val="07614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219325" y="411797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5.1 空间特征指标体系构建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219325" y="4375150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5.2 空间特征量化方法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219325" y="463232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5.3 基于活动单元的空间特征量化结果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219325" y="4889500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5.4 本章小结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144512" y="1670050"/>
            <a:ext cx="4258298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0761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第六章 活动单元空间特征解析及社区绿地</a:t>
            </a:r>
            <a:endParaRPr lang="zh-CN" sz="1720" b="1" dirty="0">
              <a:solidFill>
                <a:srgbClr val="07614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7144512" y="1936750"/>
            <a:ext cx="94371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0761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优化策略</a:t>
            </a:r>
            <a:endParaRPr lang="zh-CN" sz="1720" b="1" dirty="0">
              <a:solidFill>
                <a:srgbClr val="07614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7172325" y="223202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6.1 活动模型空间特征与活动人群关系模型构建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7172325" y="2489200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6.2 活动单元空间特征对活动人群的影响分析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7172325" y="274637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6.3 基于活动单元的绿地优化策略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7172325" y="3003550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6.4 本章小结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7153275" y="3575050"/>
            <a:ext cx="445770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0761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第七章 结论与讨论</a:t>
            </a:r>
            <a:endParaRPr lang="zh-CN" sz="1720" b="1" dirty="0">
              <a:solidFill>
                <a:srgbClr val="07614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7172325" y="387032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7.1 结论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7172325" y="4127500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7.2 研究创新点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7172325" y="438467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7.3 研究不足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7172325" y="4641850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7.4 展望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7172325" y="4899025"/>
            <a:ext cx="44005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参考文献</a:t>
            </a:r>
            <a:endParaRPr lang="zh-CN" sz="1500" dirty="0">
              <a:solidFill>
                <a:srgbClr val="263D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2095500" y="330200"/>
            <a:ext cx="94297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PART 05 / 阶段性研究结果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95500" y="701675"/>
            <a:ext cx="971550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识别结果：133个活动单元与四类空间关系</a:t>
            </a:r>
          </a:p>
        </p:txBody>
      </p:sp>
      <p:sp>
        <p:nvSpPr>
          <p:cNvPr id="4" name="Line 4"/>
          <p:cNvSpPr/>
          <p:nvPr/>
        </p:nvSpPr>
        <p:spPr>
          <a:xfrm>
            <a:off x="2095500" y="1304925"/>
            <a:ext cx="9620250" cy="9525"/>
          </a:xfrm>
          <a:custGeom>
            <a:avLst/>
            <a:gdLst/>
            <a:ahLst/>
            <a:cxnLst/>
            <a:rect l="l" t="t" r="r" b="b"/>
            <a:pathLst>
              <a:path w="9620250" h="9525">
                <a:moveTo>
                  <a:pt x="0" y="0"/>
                </a:moveTo>
                <a:lnTo>
                  <a:pt x="9620250" y="0"/>
                </a:lnTo>
              </a:path>
            </a:pathLst>
          </a:custGeom>
          <a:noFill/>
          <a:ln w="9525">
            <a:solidFill>
              <a:srgbClr val="CADBCF"/>
            </a:solidFill>
          </a:ln>
        </p:spPr>
      </p:sp>
      <p:graphicFrame>
        <p:nvGraphicFramePr>
          <p:cNvPr id="5" name="activity-types-chart"/>
          <p:cNvGraphicFramePr>
            <a:graphicFrameLocks noGrp="1"/>
          </p:cNvGraphicFramePr>
          <p:nvPr/>
        </p:nvGraphicFramePr>
        <p:xfrm>
          <a:off x="2276475" y="1724025"/>
          <a:ext cx="9048750" cy="356235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6" name="Rectangle 6"/>
          <p:cNvSpPr/>
          <p:nvPr/>
        </p:nvSpPr>
        <p:spPr>
          <a:xfrm>
            <a:off x="2095500" y="5905500"/>
            <a:ext cx="9620250" cy="4762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266950" y="6010275"/>
            <a:ext cx="92583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31个公园：118个功能分区、133个活动单元；内部多组型75个。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95500" y="6489700"/>
            <a:ext cx="85725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资料：1010 Results 3.1；文稿分类数量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15625" y="6477000"/>
            <a:ext cx="10001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2095500" y="330200"/>
            <a:ext cx="94297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PART 05 / 阶段性研究结果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95500" y="701675"/>
            <a:ext cx="971550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模型结果：活动单元模型的IRR与95%CI</a:t>
            </a:r>
          </a:p>
        </p:txBody>
      </p:sp>
      <p:sp>
        <p:nvSpPr>
          <p:cNvPr id="4" name="Line 4"/>
          <p:cNvSpPr/>
          <p:nvPr/>
        </p:nvSpPr>
        <p:spPr>
          <a:xfrm>
            <a:off x="2095500" y="1304925"/>
            <a:ext cx="9620250" cy="9525"/>
          </a:xfrm>
          <a:custGeom>
            <a:avLst/>
            <a:gdLst/>
            <a:ahLst/>
            <a:cxnLst/>
            <a:rect l="l" t="t" r="r" b="b"/>
            <a:pathLst>
              <a:path w="9620250" h="9525">
                <a:moveTo>
                  <a:pt x="0" y="0"/>
                </a:moveTo>
                <a:lnTo>
                  <a:pt x="9620250" y="0"/>
                </a:lnTo>
              </a:path>
            </a:pathLst>
          </a:custGeom>
          <a:noFill/>
          <a:ln w="9525">
            <a:solidFill>
              <a:srgbClr val="CADBCF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2085975" y="1724025"/>
            <a:ext cx="9648825" cy="3895725"/>
          </a:xfrm>
          <a:prstGeom prst="rect">
            <a:avLst/>
          </a:prstGeom>
          <a:solidFill>
            <a:srgbClr val="F7FAF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314575" y="1793875"/>
            <a:ext cx="15240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5450" y="1793875"/>
            <a:ext cx="22860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IRR（95% CI）</a:t>
            </a:r>
          </a:p>
        </p:txBody>
      </p:sp>
      <p:sp>
        <p:nvSpPr>
          <p:cNvPr id="8" name="Line 8"/>
          <p:cNvSpPr/>
          <p:nvPr/>
        </p:nvSpPr>
        <p:spPr>
          <a:xfrm>
            <a:off x="6569513" y="2124075"/>
            <a:ext cx="9525" cy="3152775"/>
          </a:xfrm>
          <a:custGeom>
            <a:avLst/>
            <a:gdLst/>
            <a:ahLst/>
            <a:cxnLst/>
            <a:rect l="l" t="t" r="r" b="b"/>
            <a:pathLst>
              <a:path w="9525" h="3152775">
                <a:moveTo>
                  <a:pt x="0" y="0"/>
                </a:moveTo>
                <a:lnTo>
                  <a:pt x="0" y="3152775"/>
                </a:lnTo>
              </a:path>
            </a:pathLst>
          </a:custGeom>
          <a:noFill/>
          <a:ln w="19050">
            <a:solidFill>
              <a:srgbClr val="AEBDB5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2324100" y="2219325"/>
            <a:ext cx="171450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SI</a:t>
            </a:r>
          </a:p>
        </p:txBody>
      </p:sp>
      <p:sp>
        <p:nvSpPr>
          <p:cNvPr id="10" name="Line 10"/>
          <p:cNvSpPr/>
          <p:nvPr/>
        </p:nvSpPr>
        <p:spPr>
          <a:xfrm>
            <a:off x="5215062" y="2381250"/>
            <a:ext cx="1144124" cy="9525"/>
          </a:xfrm>
          <a:custGeom>
            <a:avLst/>
            <a:gdLst/>
            <a:ahLst/>
            <a:cxnLst/>
            <a:rect l="l" t="t" r="r" b="b"/>
            <a:pathLst>
              <a:path w="1144124" h="9525">
                <a:moveTo>
                  <a:pt x="0" y="0"/>
                </a:moveTo>
                <a:lnTo>
                  <a:pt x="1144124" y="0"/>
                </a:lnTo>
              </a:path>
            </a:pathLst>
          </a:custGeom>
          <a:noFill/>
          <a:ln w="28575">
            <a:solidFill>
              <a:srgbClr val="076145"/>
            </a:solidFill>
          </a:ln>
        </p:spPr>
      </p:sp>
      <p:sp>
        <p:nvSpPr>
          <p:cNvPr id="11" name="Line 11"/>
          <p:cNvSpPr/>
          <p:nvPr/>
        </p:nvSpPr>
        <p:spPr>
          <a:xfrm>
            <a:off x="5215062" y="23145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076145"/>
            </a:solidFill>
          </a:ln>
        </p:spPr>
      </p:sp>
      <p:sp>
        <p:nvSpPr>
          <p:cNvPr id="12" name="Line 12"/>
          <p:cNvSpPr/>
          <p:nvPr/>
        </p:nvSpPr>
        <p:spPr>
          <a:xfrm>
            <a:off x="6359186" y="23145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076145"/>
            </a:solidFill>
          </a:ln>
        </p:spPr>
      </p:sp>
      <p:sp>
        <p:nvSpPr>
          <p:cNvPr id="13" name="Ellipse 13"/>
          <p:cNvSpPr/>
          <p:nvPr/>
        </p:nvSpPr>
        <p:spPr>
          <a:xfrm>
            <a:off x="5722811" y="2314575"/>
            <a:ext cx="133350" cy="1333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315450" y="2270125"/>
            <a:ext cx="22955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0.641 [0.462, 0.887]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24100" y="2752725"/>
            <a:ext cx="171450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BPR</a:t>
            </a:r>
          </a:p>
        </p:txBody>
      </p:sp>
      <p:sp>
        <p:nvSpPr>
          <p:cNvPr id="16" name="Line 16"/>
          <p:cNvSpPr/>
          <p:nvPr/>
        </p:nvSpPr>
        <p:spPr>
          <a:xfrm>
            <a:off x="4820811" y="2914650"/>
            <a:ext cx="1432408" cy="9525"/>
          </a:xfrm>
          <a:custGeom>
            <a:avLst/>
            <a:gdLst/>
            <a:ahLst/>
            <a:cxnLst/>
            <a:rect l="l" t="t" r="r" b="b"/>
            <a:pathLst>
              <a:path w="1432408" h="9525">
                <a:moveTo>
                  <a:pt x="0" y="0"/>
                </a:moveTo>
                <a:lnTo>
                  <a:pt x="1432408" y="0"/>
                </a:lnTo>
              </a:path>
            </a:pathLst>
          </a:custGeom>
          <a:noFill/>
          <a:ln w="28575">
            <a:solidFill>
              <a:srgbClr val="076145"/>
            </a:solidFill>
          </a:ln>
        </p:spPr>
      </p:sp>
      <p:sp>
        <p:nvSpPr>
          <p:cNvPr id="17" name="Line 17"/>
          <p:cNvSpPr/>
          <p:nvPr/>
        </p:nvSpPr>
        <p:spPr>
          <a:xfrm>
            <a:off x="4820811" y="28479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076145"/>
            </a:solidFill>
          </a:ln>
        </p:spPr>
      </p:sp>
      <p:sp>
        <p:nvSpPr>
          <p:cNvPr id="18" name="Line 18"/>
          <p:cNvSpPr/>
          <p:nvPr/>
        </p:nvSpPr>
        <p:spPr>
          <a:xfrm>
            <a:off x="6253219" y="28479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076145"/>
            </a:solidFill>
          </a:ln>
        </p:spPr>
      </p:sp>
      <p:sp>
        <p:nvSpPr>
          <p:cNvPr id="19" name="Ellipse 19"/>
          <p:cNvSpPr/>
          <p:nvPr/>
        </p:nvSpPr>
        <p:spPr>
          <a:xfrm>
            <a:off x="5470112" y="2847975"/>
            <a:ext cx="133350" cy="1333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315450" y="2803525"/>
            <a:ext cx="22955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0.555 [0.369, 0.835]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324100" y="3286125"/>
            <a:ext cx="171450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AR</a:t>
            </a:r>
          </a:p>
        </p:txBody>
      </p:sp>
      <p:sp>
        <p:nvSpPr>
          <p:cNvPr id="22" name="Line 22"/>
          <p:cNvSpPr/>
          <p:nvPr/>
        </p:nvSpPr>
        <p:spPr>
          <a:xfrm>
            <a:off x="6604248" y="3448050"/>
            <a:ext cx="1607896" cy="9525"/>
          </a:xfrm>
          <a:custGeom>
            <a:avLst/>
            <a:gdLst/>
            <a:ahLst/>
            <a:cxnLst/>
            <a:rect l="l" t="t" r="r" b="b"/>
            <a:pathLst>
              <a:path w="1607896" h="9525">
                <a:moveTo>
                  <a:pt x="0" y="0"/>
                </a:moveTo>
                <a:lnTo>
                  <a:pt x="1607896" y="0"/>
                </a:lnTo>
              </a:path>
            </a:pathLst>
          </a:custGeom>
          <a:noFill/>
          <a:ln w="28575">
            <a:solidFill>
              <a:srgbClr val="076145"/>
            </a:solidFill>
          </a:ln>
        </p:spPr>
      </p:sp>
      <p:sp>
        <p:nvSpPr>
          <p:cNvPr id="23" name="Line 23"/>
          <p:cNvSpPr/>
          <p:nvPr/>
        </p:nvSpPr>
        <p:spPr>
          <a:xfrm>
            <a:off x="6604248" y="33813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076145"/>
            </a:solidFill>
          </a:ln>
        </p:spPr>
      </p:sp>
      <p:sp>
        <p:nvSpPr>
          <p:cNvPr id="24" name="Line 24"/>
          <p:cNvSpPr/>
          <p:nvPr/>
        </p:nvSpPr>
        <p:spPr>
          <a:xfrm>
            <a:off x="8212143" y="33813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076145"/>
            </a:solidFill>
          </a:ln>
        </p:spPr>
      </p:sp>
      <p:sp>
        <p:nvSpPr>
          <p:cNvPr id="25" name="Ellipse 25"/>
          <p:cNvSpPr/>
          <p:nvPr/>
        </p:nvSpPr>
        <p:spPr>
          <a:xfrm>
            <a:off x="7341394" y="3381375"/>
            <a:ext cx="133350" cy="1333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315450" y="3336925"/>
            <a:ext cx="22955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1.613 [1.020, 2.551]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324100" y="3819525"/>
            <a:ext cx="171450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VG</a:t>
            </a:r>
          </a:p>
        </p:txBody>
      </p:sp>
      <p:sp>
        <p:nvSpPr>
          <p:cNvPr id="28" name="Line 28"/>
          <p:cNvSpPr/>
          <p:nvPr/>
        </p:nvSpPr>
        <p:spPr>
          <a:xfrm>
            <a:off x="5772952" y="3981450"/>
            <a:ext cx="1111970" cy="9525"/>
          </a:xfrm>
          <a:custGeom>
            <a:avLst/>
            <a:gdLst/>
            <a:ahLst/>
            <a:cxnLst/>
            <a:rect l="l" t="t" r="r" b="b"/>
            <a:pathLst>
              <a:path w="1111970" h="9525">
                <a:moveTo>
                  <a:pt x="0" y="0"/>
                </a:moveTo>
                <a:lnTo>
                  <a:pt x="1111970" y="0"/>
                </a:lnTo>
              </a:path>
            </a:pathLst>
          </a:custGeom>
          <a:noFill/>
          <a:ln w="28575">
            <a:solidFill>
              <a:srgbClr val="9AA9A2"/>
            </a:solidFill>
          </a:ln>
        </p:spPr>
      </p:sp>
      <p:sp>
        <p:nvSpPr>
          <p:cNvPr id="29" name="Line 29"/>
          <p:cNvSpPr/>
          <p:nvPr/>
        </p:nvSpPr>
        <p:spPr>
          <a:xfrm>
            <a:off x="5772952" y="39147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9AA9A2"/>
            </a:solidFill>
          </a:ln>
        </p:spPr>
      </p:sp>
      <p:sp>
        <p:nvSpPr>
          <p:cNvPr id="30" name="Line 30"/>
          <p:cNvSpPr/>
          <p:nvPr/>
        </p:nvSpPr>
        <p:spPr>
          <a:xfrm>
            <a:off x="6884921" y="39147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9AA9A2"/>
            </a:solidFill>
          </a:ln>
        </p:spPr>
      </p:sp>
      <p:sp>
        <p:nvSpPr>
          <p:cNvPr id="31" name="Ellipse 31"/>
          <p:cNvSpPr/>
          <p:nvPr/>
        </p:nvSpPr>
        <p:spPr>
          <a:xfrm>
            <a:off x="6262592" y="3914775"/>
            <a:ext cx="133350" cy="133350"/>
          </a:xfrm>
          <a:prstGeom prst="ellipse">
            <a:avLst/>
          </a:prstGeom>
          <a:solidFill>
            <a:srgbClr val="9AA9A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315450" y="3870325"/>
            <a:ext cx="22955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0.872 [0.635, 1.197]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324100" y="4352925"/>
            <a:ext cx="171450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ED</a:t>
            </a:r>
          </a:p>
        </p:txBody>
      </p:sp>
      <p:sp>
        <p:nvSpPr>
          <p:cNvPr id="34" name="Line 34"/>
          <p:cNvSpPr/>
          <p:nvPr/>
        </p:nvSpPr>
        <p:spPr>
          <a:xfrm>
            <a:off x="5530426" y="4514850"/>
            <a:ext cx="1080687" cy="9525"/>
          </a:xfrm>
          <a:custGeom>
            <a:avLst/>
            <a:gdLst/>
            <a:ahLst/>
            <a:cxnLst/>
            <a:rect l="l" t="t" r="r" b="b"/>
            <a:pathLst>
              <a:path w="1080687" h="9525">
                <a:moveTo>
                  <a:pt x="0" y="0"/>
                </a:moveTo>
                <a:lnTo>
                  <a:pt x="1080687" y="0"/>
                </a:lnTo>
              </a:path>
            </a:pathLst>
          </a:custGeom>
          <a:noFill/>
          <a:ln w="28575">
            <a:solidFill>
              <a:srgbClr val="9AA9A2"/>
            </a:solidFill>
          </a:ln>
        </p:spPr>
      </p:sp>
      <p:sp>
        <p:nvSpPr>
          <p:cNvPr id="35" name="Line 35"/>
          <p:cNvSpPr/>
          <p:nvPr/>
        </p:nvSpPr>
        <p:spPr>
          <a:xfrm>
            <a:off x="5530426" y="44481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9AA9A2"/>
            </a:solidFill>
          </a:ln>
        </p:spPr>
      </p:sp>
      <p:sp>
        <p:nvSpPr>
          <p:cNvPr id="36" name="Line 36"/>
          <p:cNvSpPr/>
          <p:nvPr/>
        </p:nvSpPr>
        <p:spPr>
          <a:xfrm>
            <a:off x="6611113" y="44481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9AA9A2"/>
            </a:solidFill>
          </a:ln>
        </p:spPr>
      </p:sp>
      <p:sp>
        <p:nvSpPr>
          <p:cNvPr id="37" name="Ellipse 37"/>
          <p:cNvSpPr/>
          <p:nvPr/>
        </p:nvSpPr>
        <p:spPr>
          <a:xfrm>
            <a:off x="6005227" y="4448175"/>
            <a:ext cx="133350" cy="133350"/>
          </a:xfrm>
          <a:prstGeom prst="ellipse">
            <a:avLst/>
          </a:prstGeom>
          <a:solidFill>
            <a:srgbClr val="9AA9A2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315450" y="4403725"/>
            <a:ext cx="22955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0.753 [0.553, 1.024]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324100" y="4886325"/>
            <a:ext cx="171450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LIOR</a:t>
            </a:r>
          </a:p>
        </p:txBody>
      </p:sp>
      <p:sp>
        <p:nvSpPr>
          <p:cNvPr id="40" name="Line 40"/>
          <p:cNvSpPr/>
          <p:nvPr/>
        </p:nvSpPr>
        <p:spPr>
          <a:xfrm>
            <a:off x="6699627" y="5048250"/>
            <a:ext cx="1165416" cy="9525"/>
          </a:xfrm>
          <a:custGeom>
            <a:avLst/>
            <a:gdLst/>
            <a:ahLst/>
            <a:cxnLst/>
            <a:rect l="l" t="t" r="r" b="b"/>
            <a:pathLst>
              <a:path w="1165416" h="9525">
                <a:moveTo>
                  <a:pt x="0" y="0"/>
                </a:moveTo>
                <a:lnTo>
                  <a:pt x="1165416" y="0"/>
                </a:lnTo>
              </a:path>
            </a:pathLst>
          </a:custGeom>
          <a:noFill/>
          <a:ln w="28575">
            <a:solidFill>
              <a:srgbClr val="076145"/>
            </a:solidFill>
          </a:ln>
        </p:spPr>
      </p:sp>
      <p:sp>
        <p:nvSpPr>
          <p:cNvPr id="41" name="Line 41"/>
          <p:cNvSpPr/>
          <p:nvPr/>
        </p:nvSpPr>
        <p:spPr>
          <a:xfrm>
            <a:off x="6699627" y="49815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076145"/>
            </a:solidFill>
          </a:ln>
        </p:spPr>
      </p:sp>
      <p:sp>
        <p:nvSpPr>
          <p:cNvPr id="42" name="Line 42"/>
          <p:cNvSpPr/>
          <p:nvPr/>
        </p:nvSpPr>
        <p:spPr>
          <a:xfrm>
            <a:off x="7865042" y="49815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076145"/>
            </a:solidFill>
          </a:ln>
        </p:spPr>
      </p:sp>
      <p:sp>
        <p:nvSpPr>
          <p:cNvPr id="43" name="Ellipse 43"/>
          <p:cNvSpPr/>
          <p:nvPr/>
        </p:nvSpPr>
        <p:spPr>
          <a:xfrm>
            <a:off x="7215188" y="4981575"/>
            <a:ext cx="133350" cy="1333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9315450" y="4937125"/>
            <a:ext cx="22955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1.501 [1.077, 2.093]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981450" y="5359400"/>
            <a:ext cx="9525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0.3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877457" y="5359400"/>
            <a:ext cx="9525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0.5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093263" y="5359400"/>
            <a:ext cx="9525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309069" y="5359400"/>
            <a:ext cx="9525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524875" y="5359400"/>
            <a:ext cx="9525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133600" y="1425575"/>
            <a:ext cx="95250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对数刻度；竖线IRR=1；深绿色：95% CI不跨1</a:t>
            </a:r>
          </a:p>
        </p:txBody>
      </p:sp>
      <p:sp>
        <p:nvSpPr>
          <p:cNvPr id="51" name="Rectangle 51"/>
          <p:cNvSpPr/>
          <p:nvPr/>
        </p:nvSpPr>
        <p:spPr>
          <a:xfrm>
            <a:off x="2095500" y="5905500"/>
            <a:ext cx="9620250" cy="4762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2266950" y="6010275"/>
            <a:ext cx="92583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SI、BPR负向显著；AR、LIOR正向显著；VG、ED未达显著。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095500" y="6489700"/>
            <a:ext cx="85725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资料：1010表2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715625" y="6477000"/>
            <a:ext cx="10001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2095500" y="330200"/>
            <a:ext cx="94297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PART 05 / 阶段性研究结果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95500" y="701675"/>
            <a:ext cx="971550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模型结果：功能分区模型的IRR与95%CI</a:t>
            </a:r>
          </a:p>
        </p:txBody>
      </p:sp>
      <p:sp>
        <p:nvSpPr>
          <p:cNvPr id="4" name="Line 4"/>
          <p:cNvSpPr/>
          <p:nvPr/>
        </p:nvSpPr>
        <p:spPr>
          <a:xfrm>
            <a:off x="2095500" y="1304925"/>
            <a:ext cx="9620250" cy="9525"/>
          </a:xfrm>
          <a:custGeom>
            <a:avLst/>
            <a:gdLst/>
            <a:ahLst/>
            <a:cxnLst/>
            <a:rect l="l" t="t" r="r" b="b"/>
            <a:pathLst>
              <a:path w="9620250" h="9525">
                <a:moveTo>
                  <a:pt x="0" y="0"/>
                </a:moveTo>
                <a:lnTo>
                  <a:pt x="9620250" y="0"/>
                </a:lnTo>
              </a:path>
            </a:pathLst>
          </a:custGeom>
          <a:noFill/>
          <a:ln w="9525">
            <a:solidFill>
              <a:srgbClr val="CADBCF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2085975" y="1724025"/>
            <a:ext cx="9648825" cy="3895725"/>
          </a:xfrm>
          <a:prstGeom prst="rect">
            <a:avLst/>
          </a:prstGeom>
          <a:solidFill>
            <a:srgbClr val="F7FAF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314575" y="1793875"/>
            <a:ext cx="15240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5450" y="1793875"/>
            <a:ext cx="22860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IRR（95% CI）</a:t>
            </a:r>
          </a:p>
        </p:txBody>
      </p:sp>
      <p:sp>
        <p:nvSpPr>
          <p:cNvPr id="8" name="Line 8"/>
          <p:cNvSpPr/>
          <p:nvPr/>
        </p:nvSpPr>
        <p:spPr>
          <a:xfrm>
            <a:off x="6569513" y="2124075"/>
            <a:ext cx="9525" cy="3152775"/>
          </a:xfrm>
          <a:custGeom>
            <a:avLst/>
            <a:gdLst/>
            <a:ahLst/>
            <a:cxnLst/>
            <a:rect l="l" t="t" r="r" b="b"/>
            <a:pathLst>
              <a:path w="9525" h="3152775">
                <a:moveTo>
                  <a:pt x="0" y="0"/>
                </a:moveTo>
                <a:lnTo>
                  <a:pt x="0" y="3152775"/>
                </a:lnTo>
              </a:path>
            </a:pathLst>
          </a:custGeom>
          <a:noFill/>
          <a:ln w="19050">
            <a:solidFill>
              <a:srgbClr val="AEBDB5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2324100" y="2219325"/>
            <a:ext cx="171450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SI</a:t>
            </a:r>
          </a:p>
        </p:txBody>
      </p:sp>
      <p:sp>
        <p:nvSpPr>
          <p:cNvPr id="10" name="Line 10"/>
          <p:cNvSpPr/>
          <p:nvPr/>
        </p:nvSpPr>
        <p:spPr>
          <a:xfrm>
            <a:off x="6288571" y="2381250"/>
            <a:ext cx="863593" cy="9525"/>
          </a:xfrm>
          <a:custGeom>
            <a:avLst/>
            <a:gdLst/>
            <a:ahLst/>
            <a:cxnLst/>
            <a:rect l="l" t="t" r="r" b="b"/>
            <a:pathLst>
              <a:path w="863593" h="9525">
                <a:moveTo>
                  <a:pt x="0" y="0"/>
                </a:moveTo>
                <a:lnTo>
                  <a:pt x="863593" y="0"/>
                </a:lnTo>
              </a:path>
            </a:pathLst>
          </a:custGeom>
          <a:noFill/>
          <a:ln w="28575">
            <a:solidFill>
              <a:srgbClr val="9AA9A2"/>
            </a:solidFill>
          </a:ln>
        </p:spPr>
      </p:sp>
      <p:sp>
        <p:nvSpPr>
          <p:cNvPr id="11" name="Line 11"/>
          <p:cNvSpPr/>
          <p:nvPr/>
        </p:nvSpPr>
        <p:spPr>
          <a:xfrm>
            <a:off x="6288571" y="23145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9AA9A2"/>
            </a:solidFill>
          </a:ln>
        </p:spPr>
      </p:sp>
      <p:sp>
        <p:nvSpPr>
          <p:cNvPr id="12" name="Line 12"/>
          <p:cNvSpPr/>
          <p:nvPr/>
        </p:nvSpPr>
        <p:spPr>
          <a:xfrm>
            <a:off x="7152164" y="23145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9AA9A2"/>
            </a:solidFill>
          </a:ln>
        </p:spPr>
      </p:sp>
      <p:sp>
        <p:nvSpPr>
          <p:cNvPr id="13" name="Ellipse 13"/>
          <p:cNvSpPr/>
          <p:nvPr/>
        </p:nvSpPr>
        <p:spPr>
          <a:xfrm>
            <a:off x="6653974" y="2314575"/>
            <a:ext cx="133350" cy="133350"/>
          </a:xfrm>
          <a:prstGeom prst="ellipse">
            <a:avLst/>
          </a:prstGeom>
          <a:solidFill>
            <a:srgbClr val="9AA9A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315450" y="2270125"/>
            <a:ext cx="22955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1.090 [0.852, 1.394]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24100" y="2752725"/>
            <a:ext cx="171450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BPR</a:t>
            </a:r>
          </a:p>
        </p:txBody>
      </p:sp>
      <p:sp>
        <p:nvSpPr>
          <p:cNvPr id="16" name="Line 16"/>
          <p:cNvSpPr/>
          <p:nvPr/>
        </p:nvSpPr>
        <p:spPr>
          <a:xfrm>
            <a:off x="5360709" y="2914650"/>
            <a:ext cx="970571" cy="9525"/>
          </a:xfrm>
          <a:custGeom>
            <a:avLst/>
            <a:gdLst/>
            <a:ahLst/>
            <a:cxnLst/>
            <a:rect l="l" t="t" r="r" b="b"/>
            <a:pathLst>
              <a:path w="970571" h="9525">
                <a:moveTo>
                  <a:pt x="0" y="0"/>
                </a:moveTo>
                <a:lnTo>
                  <a:pt x="970571" y="0"/>
                </a:lnTo>
              </a:path>
            </a:pathLst>
          </a:custGeom>
          <a:noFill/>
          <a:ln w="28575">
            <a:solidFill>
              <a:srgbClr val="076145"/>
            </a:solidFill>
          </a:ln>
        </p:spPr>
      </p:sp>
      <p:sp>
        <p:nvSpPr>
          <p:cNvPr id="17" name="Line 17"/>
          <p:cNvSpPr/>
          <p:nvPr/>
        </p:nvSpPr>
        <p:spPr>
          <a:xfrm>
            <a:off x="5360709" y="28479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076145"/>
            </a:solidFill>
          </a:ln>
        </p:spPr>
      </p:sp>
      <p:sp>
        <p:nvSpPr>
          <p:cNvPr id="18" name="Line 18"/>
          <p:cNvSpPr/>
          <p:nvPr/>
        </p:nvSpPr>
        <p:spPr>
          <a:xfrm>
            <a:off x="6331280" y="28479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076145"/>
            </a:solidFill>
          </a:ln>
        </p:spPr>
      </p:sp>
      <p:sp>
        <p:nvSpPr>
          <p:cNvPr id="19" name="Ellipse 19"/>
          <p:cNvSpPr/>
          <p:nvPr/>
        </p:nvSpPr>
        <p:spPr>
          <a:xfrm>
            <a:off x="5779294" y="2847975"/>
            <a:ext cx="133350" cy="1333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315450" y="2803525"/>
            <a:ext cx="22955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0.662 [0.502, 0.873]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324100" y="3286125"/>
            <a:ext cx="171450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AR</a:t>
            </a:r>
          </a:p>
        </p:txBody>
      </p:sp>
      <p:sp>
        <p:nvSpPr>
          <p:cNvPr id="22" name="Line 22"/>
          <p:cNvSpPr/>
          <p:nvPr/>
        </p:nvSpPr>
        <p:spPr>
          <a:xfrm>
            <a:off x="7740011" y="3448050"/>
            <a:ext cx="1152582" cy="9525"/>
          </a:xfrm>
          <a:custGeom>
            <a:avLst/>
            <a:gdLst/>
            <a:ahLst/>
            <a:cxnLst/>
            <a:rect l="l" t="t" r="r" b="b"/>
            <a:pathLst>
              <a:path w="1152582" h="9525">
                <a:moveTo>
                  <a:pt x="0" y="0"/>
                </a:moveTo>
                <a:lnTo>
                  <a:pt x="1152582" y="0"/>
                </a:lnTo>
              </a:path>
            </a:pathLst>
          </a:custGeom>
          <a:noFill/>
          <a:ln w="28575">
            <a:solidFill>
              <a:srgbClr val="076145"/>
            </a:solidFill>
          </a:ln>
        </p:spPr>
      </p:sp>
      <p:sp>
        <p:nvSpPr>
          <p:cNvPr id="23" name="Line 23"/>
          <p:cNvSpPr/>
          <p:nvPr/>
        </p:nvSpPr>
        <p:spPr>
          <a:xfrm>
            <a:off x="7740011" y="33813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076145"/>
            </a:solidFill>
          </a:ln>
        </p:spPr>
      </p:sp>
      <p:sp>
        <p:nvSpPr>
          <p:cNvPr id="24" name="Line 24"/>
          <p:cNvSpPr/>
          <p:nvPr/>
        </p:nvSpPr>
        <p:spPr>
          <a:xfrm>
            <a:off x="8892593" y="33813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076145"/>
            </a:solidFill>
          </a:ln>
        </p:spPr>
      </p:sp>
      <p:sp>
        <p:nvSpPr>
          <p:cNvPr id="25" name="Ellipse 25"/>
          <p:cNvSpPr/>
          <p:nvPr/>
        </p:nvSpPr>
        <p:spPr>
          <a:xfrm>
            <a:off x="8249602" y="3381375"/>
            <a:ext cx="133350" cy="1333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315450" y="3336925"/>
            <a:ext cx="22955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2.707 [1.949, 3.760]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324100" y="3819525"/>
            <a:ext cx="171450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VG</a:t>
            </a:r>
          </a:p>
        </p:txBody>
      </p:sp>
      <p:sp>
        <p:nvSpPr>
          <p:cNvPr id="28" name="Line 28"/>
          <p:cNvSpPr/>
          <p:nvPr/>
        </p:nvSpPr>
        <p:spPr>
          <a:xfrm>
            <a:off x="6219282" y="3981450"/>
            <a:ext cx="936653" cy="9525"/>
          </a:xfrm>
          <a:custGeom>
            <a:avLst/>
            <a:gdLst/>
            <a:ahLst/>
            <a:cxnLst/>
            <a:rect l="l" t="t" r="r" b="b"/>
            <a:pathLst>
              <a:path w="936653" h="9525">
                <a:moveTo>
                  <a:pt x="0" y="0"/>
                </a:moveTo>
                <a:lnTo>
                  <a:pt x="936653" y="0"/>
                </a:lnTo>
              </a:path>
            </a:pathLst>
          </a:custGeom>
          <a:noFill/>
          <a:ln w="28575">
            <a:solidFill>
              <a:srgbClr val="9AA9A2"/>
            </a:solidFill>
          </a:ln>
        </p:spPr>
      </p:sp>
      <p:sp>
        <p:nvSpPr>
          <p:cNvPr id="29" name="Line 29"/>
          <p:cNvSpPr/>
          <p:nvPr/>
        </p:nvSpPr>
        <p:spPr>
          <a:xfrm>
            <a:off x="6219282" y="39147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9AA9A2"/>
            </a:solidFill>
          </a:ln>
        </p:spPr>
      </p:sp>
      <p:sp>
        <p:nvSpPr>
          <p:cNvPr id="30" name="Line 30"/>
          <p:cNvSpPr/>
          <p:nvPr/>
        </p:nvSpPr>
        <p:spPr>
          <a:xfrm>
            <a:off x="7155935" y="39147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9AA9A2"/>
            </a:solidFill>
          </a:ln>
        </p:spPr>
      </p:sp>
      <p:sp>
        <p:nvSpPr>
          <p:cNvPr id="31" name="Ellipse 31"/>
          <p:cNvSpPr/>
          <p:nvPr/>
        </p:nvSpPr>
        <p:spPr>
          <a:xfrm>
            <a:off x="6621494" y="3914775"/>
            <a:ext cx="133350" cy="133350"/>
          </a:xfrm>
          <a:prstGeom prst="ellipse">
            <a:avLst/>
          </a:prstGeom>
          <a:solidFill>
            <a:srgbClr val="9AA9A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315450" y="3870325"/>
            <a:ext cx="22955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1.070 [0.819, 1.397]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324100" y="4352925"/>
            <a:ext cx="171450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ED</a:t>
            </a:r>
          </a:p>
        </p:txBody>
      </p:sp>
      <p:sp>
        <p:nvSpPr>
          <p:cNvPr id="34" name="Line 34"/>
          <p:cNvSpPr/>
          <p:nvPr/>
        </p:nvSpPr>
        <p:spPr>
          <a:xfrm>
            <a:off x="5880102" y="4514850"/>
            <a:ext cx="906887" cy="9525"/>
          </a:xfrm>
          <a:custGeom>
            <a:avLst/>
            <a:gdLst/>
            <a:ahLst/>
            <a:cxnLst/>
            <a:rect l="l" t="t" r="r" b="b"/>
            <a:pathLst>
              <a:path w="906887" h="9525">
                <a:moveTo>
                  <a:pt x="0" y="0"/>
                </a:moveTo>
                <a:lnTo>
                  <a:pt x="906887" y="0"/>
                </a:lnTo>
              </a:path>
            </a:pathLst>
          </a:custGeom>
          <a:noFill/>
          <a:ln w="28575">
            <a:solidFill>
              <a:srgbClr val="9AA9A2"/>
            </a:solidFill>
          </a:ln>
        </p:spPr>
      </p:sp>
      <p:sp>
        <p:nvSpPr>
          <p:cNvPr id="35" name="Line 35"/>
          <p:cNvSpPr/>
          <p:nvPr/>
        </p:nvSpPr>
        <p:spPr>
          <a:xfrm>
            <a:off x="5880102" y="44481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9AA9A2"/>
            </a:solidFill>
          </a:ln>
        </p:spPr>
      </p:sp>
      <p:sp>
        <p:nvSpPr>
          <p:cNvPr id="36" name="Line 36"/>
          <p:cNvSpPr/>
          <p:nvPr/>
        </p:nvSpPr>
        <p:spPr>
          <a:xfrm>
            <a:off x="6786989" y="44481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9AA9A2"/>
            </a:solidFill>
          </a:ln>
        </p:spPr>
      </p:sp>
      <p:sp>
        <p:nvSpPr>
          <p:cNvPr id="37" name="Ellipse 37"/>
          <p:cNvSpPr/>
          <p:nvPr/>
        </p:nvSpPr>
        <p:spPr>
          <a:xfrm>
            <a:off x="6266593" y="4448175"/>
            <a:ext cx="133350" cy="133350"/>
          </a:xfrm>
          <a:prstGeom prst="ellipse">
            <a:avLst/>
          </a:prstGeom>
          <a:solidFill>
            <a:srgbClr val="9AA9A2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315450" y="4403725"/>
            <a:ext cx="22955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0.874 [0.675, 1.132]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324100" y="4886325"/>
            <a:ext cx="171450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LIOR</a:t>
            </a:r>
          </a:p>
        </p:txBody>
      </p:sp>
      <p:sp>
        <p:nvSpPr>
          <p:cNvPr id="40" name="Line 40"/>
          <p:cNvSpPr/>
          <p:nvPr/>
        </p:nvSpPr>
        <p:spPr>
          <a:xfrm>
            <a:off x="6038992" y="5048250"/>
            <a:ext cx="822326" cy="9525"/>
          </a:xfrm>
          <a:custGeom>
            <a:avLst/>
            <a:gdLst/>
            <a:ahLst/>
            <a:cxnLst/>
            <a:rect l="l" t="t" r="r" b="b"/>
            <a:pathLst>
              <a:path w="822326" h="9525">
                <a:moveTo>
                  <a:pt x="0" y="0"/>
                </a:moveTo>
                <a:lnTo>
                  <a:pt x="822326" y="0"/>
                </a:lnTo>
              </a:path>
            </a:pathLst>
          </a:custGeom>
          <a:noFill/>
          <a:ln w="28575">
            <a:solidFill>
              <a:srgbClr val="9AA9A2"/>
            </a:solidFill>
          </a:ln>
        </p:spPr>
      </p:sp>
      <p:sp>
        <p:nvSpPr>
          <p:cNvPr id="41" name="Line 41"/>
          <p:cNvSpPr/>
          <p:nvPr/>
        </p:nvSpPr>
        <p:spPr>
          <a:xfrm>
            <a:off x="6038992" y="49815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9AA9A2"/>
            </a:solidFill>
          </a:ln>
        </p:spPr>
      </p:sp>
      <p:sp>
        <p:nvSpPr>
          <p:cNvPr id="42" name="Line 42"/>
          <p:cNvSpPr/>
          <p:nvPr/>
        </p:nvSpPr>
        <p:spPr>
          <a:xfrm>
            <a:off x="6861317" y="49815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9AA9A2"/>
            </a:solidFill>
          </a:ln>
        </p:spPr>
      </p:sp>
      <p:sp>
        <p:nvSpPr>
          <p:cNvPr id="43" name="Ellipse 43"/>
          <p:cNvSpPr/>
          <p:nvPr/>
        </p:nvSpPr>
        <p:spPr>
          <a:xfrm>
            <a:off x="6384988" y="4981575"/>
            <a:ext cx="133350" cy="133350"/>
          </a:xfrm>
          <a:prstGeom prst="ellipse">
            <a:avLst/>
          </a:prstGeom>
          <a:solidFill>
            <a:srgbClr val="9AA9A2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9315450" y="4937125"/>
            <a:ext cx="22955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0.935 [0.739, 1.181]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981450" y="5359400"/>
            <a:ext cx="9525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0.3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877457" y="5359400"/>
            <a:ext cx="9525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0.5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093263" y="5359400"/>
            <a:ext cx="9525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309069" y="5359400"/>
            <a:ext cx="9525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524875" y="5359400"/>
            <a:ext cx="9525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133600" y="1425575"/>
            <a:ext cx="95250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对数刻度；竖线IRR=1；深绿色：95% CI不跨1</a:t>
            </a:r>
          </a:p>
        </p:txBody>
      </p:sp>
      <p:sp>
        <p:nvSpPr>
          <p:cNvPr id="51" name="Rectangle 51"/>
          <p:cNvSpPr/>
          <p:nvPr/>
        </p:nvSpPr>
        <p:spPr>
          <a:xfrm>
            <a:off x="2095500" y="5905500"/>
            <a:ext cx="9620250" cy="4762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2266950" y="6010275"/>
            <a:ext cx="92583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BPR负向显著，AR正向显著；其他四项指标未达显著。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095500" y="6489700"/>
            <a:ext cx="85725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资料：1010表3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715625" y="6477000"/>
            <a:ext cx="10001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2095500" y="330200"/>
            <a:ext cx="94297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PART 05 / 阶段性研究结果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95500" y="701675"/>
            <a:ext cx="971550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阶段发现：两类单元表达不同的空间—活动关系</a:t>
            </a:r>
          </a:p>
        </p:txBody>
      </p:sp>
      <p:sp>
        <p:nvSpPr>
          <p:cNvPr id="4" name="Line 4"/>
          <p:cNvSpPr/>
          <p:nvPr/>
        </p:nvSpPr>
        <p:spPr>
          <a:xfrm>
            <a:off x="2095500" y="1304925"/>
            <a:ext cx="9620250" cy="9525"/>
          </a:xfrm>
          <a:custGeom>
            <a:avLst/>
            <a:gdLst/>
            <a:ahLst/>
            <a:cxnLst/>
            <a:rect l="l" t="t" r="r" b="b"/>
            <a:pathLst>
              <a:path w="9620250" h="9525">
                <a:moveTo>
                  <a:pt x="0" y="0"/>
                </a:moveTo>
                <a:lnTo>
                  <a:pt x="9620250" y="0"/>
                </a:lnTo>
              </a:path>
            </a:pathLst>
          </a:custGeom>
          <a:noFill/>
          <a:ln w="9525">
            <a:solidFill>
              <a:srgbClr val="CADBCF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2095500" y="1762125"/>
            <a:ext cx="4648200" cy="35242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067550" y="1762125"/>
            <a:ext cx="4648200" cy="3524250"/>
          </a:xfrm>
          <a:prstGeom prst="rect">
            <a:avLst/>
          </a:prstGeom>
          <a:solidFill>
            <a:srgbClr val="F4F6F5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295525" y="1984375"/>
            <a:ext cx="424815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共同关系</a:t>
            </a:r>
          </a:p>
        </p:txBody>
      </p:sp>
      <p:sp>
        <p:nvSpPr>
          <p:cNvPr id="8" name="Ellipse 8"/>
          <p:cNvSpPr/>
          <p:nvPr/>
        </p:nvSpPr>
        <p:spPr>
          <a:xfrm>
            <a:off x="2305050" y="2676525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505075" y="2552700"/>
            <a:ext cx="403860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BPR在两类单元中均负向显著</a:t>
            </a:r>
          </a:p>
        </p:txBody>
      </p:sp>
      <p:sp>
        <p:nvSpPr>
          <p:cNvPr id="10" name="Ellipse 10"/>
          <p:cNvSpPr/>
          <p:nvPr/>
        </p:nvSpPr>
        <p:spPr>
          <a:xfrm>
            <a:off x="2305050" y="320040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505075" y="3076575"/>
            <a:ext cx="403860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AR在两类单元中均正向显著</a:t>
            </a:r>
          </a:p>
        </p:txBody>
      </p:sp>
      <p:sp>
        <p:nvSpPr>
          <p:cNvPr id="12" name="Ellipse 12"/>
          <p:cNvSpPr/>
          <p:nvPr/>
        </p:nvSpPr>
        <p:spPr>
          <a:xfrm>
            <a:off x="2305050" y="3724275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505075" y="3600450"/>
            <a:ext cx="403860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VG与ED均未达显著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67575" y="1984375"/>
            <a:ext cx="424815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划分敏感的指标</a:t>
            </a:r>
          </a:p>
        </p:txBody>
      </p:sp>
      <p:sp>
        <p:nvSpPr>
          <p:cNvPr id="15" name="Ellipse 15"/>
          <p:cNvSpPr/>
          <p:nvPr/>
        </p:nvSpPr>
        <p:spPr>
          <a:xfrm>
            <a:off x="7277100" y="2676525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477125" y="2552700"/>
            <a:ext cx="403860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SI：活动单元负向显著</a:t>
            </a:r>
          </a:p>
        </p:txBody>
      </p:sp>
      <p:sp>
        <p:nvSpPr>
          <p:cNvPr id="17" name="Ellipse 17"/>
          <p:cNvSpPr/>
          <p:nvPr/>
        </p:nvSpPr>
        <p:spPr>
          <a:xfrm>
            <a:off x="7277100" y="320040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477125" y="3076575"/>
            <a:ext cx="403860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LIOR：活动单元正向显著</a:t>
            </a:r>
          </a:p>
        </p:txBody>
      </p:sp>
      <p:sp>
        <p:nvSpPr>
          <p:cNvPr id="19" name="Ellipse 19"/>
          <p:cNvSpPr/>
          <p:nvPr/>
        </p:nvSpPr>
        <p:spPr>
          <a:xfrm>
            <a:off x="7277100" y="3724275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477125" y="3600450"/>
            <a:ext cx="403860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功能分区中二者均未达显著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219325" y="5426075"/>
            <a:ext cx="933450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空间划分可补充局部使用刻画；不显著不等于无作用。</a:t>
            </a:r>
          </a:p>
        </p:txBody>
      </p:sp>
      <p:sp>
        <p:nvSpPr>
          <p:cNvPr id="22" name="Rectangle 22"/>
          <p:cNvSpPr/>
          <p:nvPr/>
        </p:nvSpPr>
        <p:spPr>
          <a:xfrm>
            <a:off x="2095500" y="5905500"/>
            <a:ext cx="9620250" cy="4762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2266950" y="6010275"/>
            <a:ext cx="92583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两模型显著性不同不等于系数差异显著；不能推断因果，优化效果尚待验证。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95500" y="6489700"/>
            <a:ext cx="85725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资料：1010 Results 3.2–3.3、Discussion 4.2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715625" y="6477000"/>
            <a:ext cx="10001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5" name="淘宝-想搞设计PPT(倒卖必究)-25"/>
          <p:cNvCxnSpPr/>
          <p:nvPr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3"/>
          <p:cNvSpPr txBox="1"/>
          <p:nvPr/>
        </p:nvSpPr>
        <p:spPr>
          <a:xfrm>
            <a:off x="2095500" y="330200"/>
            <a:ext cx="94297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PART 06 / 未来工作安排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95500" y="701675"/>
            <a:ext cx="971550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未来研究方向：深化解析与空间优化</a:t>
            </a:r>
          </a:p>
        </p:txBody>
      </p:sp>
      <p:sp>
        <p:nvSpPr>
          <p:cNvPr id="5" name="Line 5"/>
          <p:cNvSpPr/>
          <p:nvPr/>
        </p:nvSpPr>
        <p:spPr>
          <a:xfrm>
            <a:off x="2095500" y="1304925"/>
            <a:ext cx="9620250" cy="9525"/>
          </a:xfrm>
          <a:custGeom>
            <a:avLst/>
            <a:gdLst/>
            <a:ahLst/>
            <a:cxnLst/>
            <a:rect l="l" t="t" r="r" b="b"/>
            <a:pathLst>
              <a:path w="9620250" h="9525">
                <a:moveTo>
                  <a:pt x="0" y="0"/>
                </a:moveTo>
                <a:lnTo>
                  <a:pt x="9620250" y="0"/>
                </a:lnTo>
              </a:path>
            </a:pathLst>
          </a:custGeom>
          <a:noFill/>
          <a:ln w="9525">
            <a:solidFill>
              <a:srgbClr val="CADBCF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2181225" y="1619250"/>
            <a:ext cx="2898775" cy="543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8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Rectangle 7"/>
          <p:cNvSpPr/>
          <p:nvPr/>
        </p:nvSpPr>
        <p:spPr>
          <a:xfrm>
            <a:off x="2085975" y="2333625"/>
            <a:ext cx="3089275" cy="209550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2085975" y="2333625"/>
            <a:ext cx="3089275" cy="38100"/>
          </a:xfrm>
          <a:prstGeom prst="rect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228850" y="2546350"/>
            <a:ext cx="28035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深化活动单元研究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28850" y="3000375"/>
            <a:ext cx="280352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完善空间识别结果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28850" y="3429000"/>
            <a:ext cx="280352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丰富空间对应分析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28850" y="3857625"/>
            <a:ext cx="280352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拓展典型案例解释</a:t>
            </a:r>
          </a:p>
        </p:txBody>
      </p:sp>
      <p:sp>
        <p:nvSpPr>
          <p:cNvPr id="13" name="Polygon 13"/>
          <p:cNvSpPr/>
          <p:nvPr/>
        </p:nvSpPr>
        <p:spPr>
          <a:xfrm>
            <a:off x="5213350" y="3295650"/>
            <a:ext cx="95250" cy="133350"/>
          </a:xfrm>
          <a:custGeom>
            <a:avLst/>
            <a:gdLst/>
            <a:ahLst/>
            <a:cxnLst/>
            <a:rect l="l" t="t" r="r" b="b"/>
            <a:pathLst>
              <a:path w="95250" h="133350">
                <a:moveTo>
                  <a:pt x="0" y="0"/>
                </a:moveTo>
                <a:lnTo>
                  <a:pt x="952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07614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461000" y="1619250"/>
            <a:ext cx="2898775" cy="543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8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365750" y="2333625"/>
            <a:ext cx="3089275" cy="209550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365750" y="2333625"/>
            <a:ext cx="3089275" cy="38100"/>
          </a:xfrm>
          <a:prstGeom prst="rect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508625" y="2546350"/>
            <a:ext cx="28035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深化空间—活动关系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08625" y="3000375"/>
            <a:ext cx="280352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完善指标评价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08625" y="3429000"/>
            <a:ext cx="280352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深化模型结果讨论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08625" y="3857625"/>
            <a:ext cx="280352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关注人群与季节差异</a:t>
            </a:r>
          </a:p>
        </p:txBody>
      </p:sp>
      <p:sp>
        <p:nvSpPr>
          <p:cNvPr id="21" name="Polygon 21"/>
          <p:cNvSpPr/>
          <p:nvPr/>
        </p:nvSpPr>
        <p:spPr>
          <a:xfrm>
            <a:off x="8493125" y="3295650"/>
            <a:ext cx="95250" cy="133350"/>
          </a:xfrm>
          <a:custGeom>
            <a:avLst/>
            <a:gdLst/>
            <a:ahLst/>
            <a:cxnLst/>
            <a:rect l="l" t="t" r="r" b="b"/>
            <a:pathLst>
              <a:path w="95250" h="133350">
                <a:moveTo>
                  <a:pt x="0" y="0"/>
                </a:moveTo>
                <a:lnTo>
                  <a:pt x="952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076145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740775" y="1619250"/>
            <a:ext cx="2898775" cy="543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8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Rectangle 23"/>
          <p:cNvSpPr/>
          <p:nvPr/>
        </p:nvSpPr>
        <p:spPr>
          <a:xfrm>
            <a:off x="8645525" y="2333625"/>
            <a:ext cx="3089275" cy="209550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8645525" y="2333625"/>
            <a:ext cx="3089275" cy="38100"/>
          </a:xfrm>
          <a:prstGeom prst="rect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788400" y="2546350"/>
            <a:ext cx="28035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形成空间优化策略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788400" y="3000375"/>
            <a:ext cx="280352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回应实际活动需求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788400" y="3429000"/>
            <a:ext cx="280352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提炼局部更新方向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788400" y="3857625"/>
            <a:ext cx="280352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开展方案表达与论证</a:t>
            </a:r>
          </a:p>
        </p:txBody>
      </p:sp>
      <p:sp>
        <p:nvSpPr>
          <p:cNvPr id="30" name="Rectangle 30"/>
          <p:cNvSpPr/>
          <p:nvPr/>
        </p:nvSpPr>
        <p:spPr>
          <a:xfrm>
            <a:off x="2095500" y="5905500"/>
            <a:ext cx="9620250" cy="4762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2266950" y="6010275"/>
            <a:ext cx="92583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拟开展研究：沿“识别—解析—优化”主线深化，形成有依据的社区绿地更新方向。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095500" y="6489700"/>
            <a:ext cx="85725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资料：大论文提纲4–6；1010 Discussion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715625" y="6477000"/>
            <a:ext cx="10001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5" name="淘宝-想搞设计PPT(倒卖必究)-25"/>
          <p:cNvCxnSpPr/>
          <p:nvPr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3"/>
          <p:cNvSpPr txBox="1"/>
          <p:nvPr/>
        </p:nvSpPr>
        <p:spPr>
          <a:xfrm>
            <a:off x="2095500" y="330200"/>
            <a:ext cx="94297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PART 06 / 未来工作安排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95500" y="701675"/>
            <a:ext cx="971550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未来论文工作：整合成果与完善表达</a:t>
            </a:r>
          </a:p>
        </p:txBody>
      </p:sp>
      <p:sp>
        <p:nvSpPr>
          <p:cNvPr id="5" name="Line 5"/>
          <p:cNvSpPr/>
          <p:nvPr/>
        </p:nvSpPr>
        <p:spPr>
          <a:xfrm>
            <a:off x="2095500" y="1304925"/>
            <a:ext cx="9620250" cy="9525"/>
          </a:xfrm>
          <a:custGeom>
            <a:avLst/>
            <a:gdLst/>
            <a:ahLst/>
            <a:cxnLst/>
            <a:rect l="l" t="t" r="r" b="b"/>
            <a:pathLst>
              <a:path w="9620250" h="9525">
                <a:moveTo>
                  <a:pt x="0" y="0"/>
                </a:moveTo>
                <a:lnTo>
                  <a:pt x="9620250" y="0"/>
                </a:lnTo>
              </a:path>
            </a:pathLst>
          </a:custGeom>
          <a:noFill/>
          <a:ln w="9525">
            <a:solidFill>
              <a:srgbClr val="CADBCF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2085975" y="1743075"/>
            <a:ext cx="3076575" cy="3524250"/>
          </a:xfrm>
          <a:prstGeom prst="rect">
            <a:avLst/>
          </a:prstGeom>
          <a:solidFill>
            <a:srgbClr val="F3F7F5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2085975" y="1743075"/>
            <a:ext cx="3076575" cy="47625"/>
          </a:xfrm>
          <a:prstGeom prst="rect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276475" y="1962150"/>
            <a:ext cx="2695575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成果整合</a:t>
            </a:r>
          </a:p>
        </p:txBody>
      </p:sp>
      <p:sp>
        <p:nvSpPr>
          <p:cNvPr id="9" name="Ellipse 9"/>
          <p:cNvSpPr/>
          <p:nvPr/>
        </p:nvSpPr>
        <p:spPr>
          <a:xfrm>
            <a:off x="2286000" y="260985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486025" y="2498725"/>
            <a:ext cx="2486025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串联数据、方法与结果</a:t>
            </a:r>
          </a:p>
        </p:txBody>
      </p:sp>
      <p:sp>
        <p:nvSpPr>
          <p:cNvPr id="11" name="Ellipse 11"/>
          <p:cNvSpPr/>
          <p:nvPr/>
        </p:nvSpPr>
        <p:spPr>
          <a:xfrm>
            <a:off x="2286000" y="3049905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486025" y="2938780"/>
            <a:ext cx="2486025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完善研究讨论与结论</a:t>
            </a:r>
          </a:p>
        </p:txBody>
      </p:sp>
      <p:sp>
        <p:nvSpPr>
          <p:cNvPr id="13" name="Ellipse 13"/>
          <p:cNvSpPr/>
          <p:nvPr/>
        </p:nvSpPr>
        <p:spPr>
          <a:xfrm>
            <a:off x="2286000" y="348996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2486025" y="3378835"/>
            <a:ext cx="2486025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明确创新点与研究边界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372100" y="1743075"/>
            <a:ext cx="3076575" cy="3524250"/>
          </a:xfrm>
          <a:prstGeom prst="rect">
            <a:avLst/>
          </a:prstGeom>
          <a:solidFill>
            <a:srgbClr val="F3F7F5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372100" y="1743075"/>
            <a:ext cx="3076575" cy="47625"/>
          </a:xfrm>
          <a:prstGeom prst="rect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562600" y="1962150"/>
            <a:ext cx="2695575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论文完善</a:t>
            </a:r>
          </a:p>
        </p:txBody>
      </p:sp>
      <p:sp>
        <p:nvSpPr>
          <p:cNvPr id="18" name="Ellipse 18"/>
          <p:cNvSpPr/>
          <p:nvPr/>
        </p:nvSpPr>
        <p:spPr>
          <a:xfrm>
            <a:off x="5572125" y="260985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772150" y="2498725"/>
            <a:ext cx="2486025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按七章框架推进写作</a:t>
            </a:r>
          </a:p>
        </p:txBody>
      </p:sp>
      <p:sp>
        <p:nvSpPr>
          <p:cNvPr id="20" name="Ellipse 20"/>
          <p:cNvSpPr/>
          <p:nvPr/>
        </p:nvSpPr>
        <p:spPr>
          <a:xfrm>
            <a:off x="5572125" y="3049905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772150" y="2938780"/>
            <a:ext cx="2486025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统一图表、术语与引用</a:t>
            </a:r>
          </a:p>
        </p:txBody>
      </p:sp>
      <p:sp>
        <p:nvSpPr>
          <p:cNvPr id="22" name="Ellipse 22"/>
          <p:cNvSpPr/>
          <p:nvPr/>
        </p:nvSpPr>
        <p:spPr>
          <a:xfrm>
            <a:off x="5572125" y="348996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772150" y="3378835"/>
            <a:ext cx="2486025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结合导师意见修改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658225" y="1743075"/>
            <a:ext cx="3076575" cy="3524250"/>
          </a:xfrm>
          <a:prstGeom prst="rect">
            <a:avLst/>
          </a:prstGeom>
          <a:solidFill>
            <a:srgbClr val="F3F7F5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8658225" y="1743075"/>
            <a:ext cx="3076575" cy="47625"/>
          </a:xfrm>
          <a:prstGeom prst="rect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848725" y="1962150"/>
            <a:ext cx="2695575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学术表达</a:t>
            </a:r>
          </a:p>
        </p:txBody>
      </p:sp>
      <p:sp>
        <p:nvSpPr>
          <p:cNvPr id="28" name="Ellipse 28"/>
          <p:cNvSpPr/>
          <p:nvPr/>
        </p:nvSpPr>
        <p:spPr>
          <a:xfrm>
            <a:off x="8858250" y="260985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058275" y="2498725"/>
            <a:ext cx="2486025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补充真实空间图件</a:t>
            </a:r>
          </a:p>
        </p:txBody>
      </p:sp>
      <p:sp>
        <p:nvSpPr>
          <p:cNvPr id="30" name="Ellipse 30"/>
          <p:cNvSpPr/>
          <p:nvPr/>
        </p:nvSpPr>
        <p:spPr>
          <a:xfrm>
            <a:off x="8858250" y="3049905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058275" y="2938780"/>
            <a:ext cx="2486025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形成清晰的案例表达</a:t>
            </a:r>
          </a:p>
        </p:txBody>
      </p:sp>
      <p:sp>
        <p:nvSpPr>
          <p:cNvPr id="32" name="Ellipse 32"/>
          <p:cNvSpPr/>
          <p:nvPr/>
        </p:nvSpPr>
        <p:spPr>
          <a:xfrm>
            <a:off x="8858250" y="3489960"/>
            <a:ext cx="57150" cy="57150"/>
          </a:xfrm>
          <a:prstGeom prst="ellipse">
            <a:avLst/>
          </a:prstGeom>
          <a:solidFill>
            <a:srgbClr val="076145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058275" y="3378835"/>
            <a:ext cx="2486025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263D35"/>
                </a:solidFill>
                <a:latin typeface="Microsoft YaHei"/>
                <a:ea typeface="Microsoft YaHei"/>
                <a:cs typeface="Microsoft YaHei"/>
              </a:rPr>
              <a:t>完善论文与答辩汇报</a:t>
            </a:r>
          </a:p>
        </p:txBody>
      </p:sp>
      <p:sp>
        <p:nvSpPr>
          <p:cNvPr id="34" name="Rectangle 34"/>
          <p:cNvSpPr/>
          <p:nvPr/>
        </p:nvSpPr>
        <p:spPr>
          <a:xfrm>
            <a:off x="2095500" y="5905500"/>
            <a:ext cx="9620250" cy="476250"/>
          </a:xfrm>
          <a:prstGeom prst="rect">
            <a:avLst/>
          </a:prstGeom>
          <a:solidFill>
            <a:srgbClr val="EAF3E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2266950" y="6010275"/>
            <a:ext cx="92583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076145"/>
                </a:solidFill>
                <a:latin typeface="Microsoft YaHei"/>
                <a:ea typeface="Microsoft YaHei"/>
                <a:cs typeface="Microsoft YaHei"/>
              </a:rPr>
              <a:t>以研究深化、策略形成和论文完善为后续方向，按学校与导师要求推进。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095500" y="6489700"/>
            <a:ext cx="85725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资料：大论文提纲6–7；研究材料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715625" y="6477000"/>
            <a:ext cx="10001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3766E"/>
                </a:solidFill>
                <a:latin typeface="Microsoft YaHei"/>
                <a:ea typeface="Microsoft YaHei"/>
                <a:cs typeface="Microsoft YaHe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淘宝-想搞设计PPT(倒卖必究)-21"/>
          <p:cNvSpPr txBox="1"/>
          <p:nvPr/>
        </p:nvSpPr>
        <p:spPr>
          <a:xfrm>
            <a:off x="1846580" y="2503805"/>
            <a:ext cx="8955405" cy="1229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400" b="1" dirty="0">
                <a:solidFill>
                  <a:srgbClr val="0761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敬请老师批评指正</a:t>
            </a:r>
            <a:endParaRPr lang="zh-CN" altLang="en-US" sz="7400" b="1" dirty="0">
              <a:solidFill>
                <a:srgbClr val="07614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0" name="Picture 59" descr="南京林业大学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0950" y="631699"/>
            <a:ext cx="3941994" cy="992083"/>
          </a:xfrm>
          <a:prstGeom prst="rect">
            <a:avLst/>
          </a:prstGeom>
        </p:spPr>
      </p:pic>
      <p:sp>
        <p:nvSpPr>
          <p:cNvPr id="2" name="淘宝-想搞设计PPT(倒卖必究)-6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p>
            <a:fld id="{BD451D52-2092-47CA-95C8-A980C030BF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淘宝-想搞设计PPT(倒卖必究)-4"/>
          <p:cNvSpPr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D4EEEE-F59F-4B6D-B007-3B73B55D0A51}" type="slidenum">
              <a:rPr lang="zh-CN" altLang="en-US" smtClean="0"/>
            </a:fld>
            <a:endParaRPr lang="zh-CN" altLang="en-US"/>
          </a:p>
        </p:txBody>
      </p:sp>
      <p:sp>
        <p:nvSpPr>
          <p:cNvPr id="17" name="淘宝-想搞设计PPT(倒卖必究)-17"/>
          <p:cNvSpPr/>
          <p:nvPr/>
        </p:nvSpPr>
        <p:spPr>
          <a:xfrm>
            <a:off x="-444500" y="4914265"/>
            <a:ext cx="13081000" cy="2680335"/>
          </a:xfrm>
          <a:prstGeom prst="rect">
            <a:avLst/>
          </a:prstGeom>
          <a:solidFill>
            <a:srgbClr val="055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淘宝-想搞设计PPT(倒卖必究)-25"/>
          <p:cNvSpPr txBox="1"/>
          <p:nvPr>
            <p:custDataLst>
              <p:tags r:id="rId2"/>
            </p:custDataLst>
          </p:nvPr>
        </p:nvSpPr>
        <p:spPr>
          <a:xfrm>
            <a:off x="337820" y="5957570"/>
            <a:ext cx="26733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院：风景园林学院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淘宝-想搞设计PPT(倒卖必究)-25"/>
          <p:cNvSpPr txBox="1"/>
          <p:nvPr>
            <p:custDataLst>
              <p:tags r:id="rId3"/>
            </p:custDataLst>
          </p:nvPr>
        </p:nvSpPr>
        <p:spPr>
          <a:xfrm>
            <a:off x="3647440" y="5957570"/>
            <a:ext cx="22682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业：风景园林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淘宝-想搞设计PPT(倒卖必究)-25"/>
          <p:cNvSpPr txBox="1"/>
          <p:nvPr>
            <p:custDataLst>
              <p:tags r:id="rId4"/>
            </p:custDataLst>
          </p:nvPr>
        </p:nvSpPr>
        <p:spPr>
          <a:xfrm>
            <a:off x="6551930" y="5957570"/>
            <a:ext cx="22682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答辩人：汤若堃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淘宝-想搞设计PPT(倒卖必究)-25"/>
          <p:cNvSpPr txBox="1"/>
          <p:nvPr>
            <p:custDataLst>
              <p:tags r:id="rId5"/>
            </p:custDataLst>
          </p:nvPr>
        </p:nvSpPr>
        <p:spPr>
          <a:xfrm>
            <a:off x="9281795" y="5957570"/>
            <a:ext cx="25253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师：陈硕蕾老师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  <p:bldLst>
      <p:bldP spid="21" grpId="0"/>
    </p:bldLst>
  </p:timing>
</p:sld>
</file>

<file path=ppt/tags/tag1_tf1.xml><?xml version="1.0" encoding="utf-8"?>
<p:tagLst xmlns:p="http://schemas.openxmlformats.org/presentationml/2006/main">
  <p:tag name="KSO_WM_DIAGRAM_VIRTUALLY_FRAME" val="{&quot;height&quot;:63.13236220472445,&quot;left&quot;:263.9999212598425,&quot;top&quot;:434.8676377952755,&quot;width&quot;:421.0500787401576}"/>
</p:tagLst>
</file>

<file path=ppt/tags/tag2_tf1.xml><?xml version="1.0" encoding="utf-8"?>
<p:tagLst xmlns:p="http://schemas.openxmlformats.org/presentationml/2006/main">
  <p:tag name="KSO_WM_DIAGRAM_VIRTUALLY_FRAME" val="{&quot;height&quot;:63.13236220472445,&quot;left&quot;:263.9999212598425,&quot;top&quot;:434.8676377952755,&quot;width&quot;:421.0500787401576}"/>
</p:tagLst>
</file>

<file path=ppt/tags/tag3_tf1.xml><?xml version="1.0" encoding="utf-8"?>
<p:tagLst xmlns:p="http://schemas.openxmlformats.org/presentationml/2006/main">
  <p:tag name="KSO_WM_DIAGRAM_VIRTUALLY_FRAME" val="{&quot;height&quot;:63.13236220472445,&quot;left&quot;:263.9999212598425,&quot;top&quot;:434.8676377952755,&quot;width&quot;:421.0500787401576}"/>
</p:tagLst>
</file>

<file path=ppt/tags/tag4_tf1.xml><?xml version="1.0" encoding="utf-8"?>
<p:tagLst xmlns:p="http://schemas.openxmlformats.org/presentationml/2006/main">
  <p:tag name="KSO_WM_DIAGRAM_VIRTUALLY_FRAME" val="{&quot;height&quot;:63.13236220472445,&quot;left&quot;:263.9999212598425,&quot;top&quot;:434.8676377952755,&quot;width&quot;:421.0500787401576}"/>
</p:tagLst>
</file>

<file path=ppt/tags/tag5_tf1.xml><?xml version="1.0" encoding="utf-8"?>
<p:tagLst xmlns:p="http://schemas.openxmlformats.org/presentationml/2006/main">
  <p:tag name="KSO_WM_DIAGRAM_VIRTUALLY_FRAME" val="{&quot;height&quot;:333.75,&quot;left&quot;:300.50346456692915,&quot;top&quot;:140.3,&quot;width&quot;:651.5465354330709}"/>
</p:tagLst>
</file>

<file path=ppt/tags/tag6_tf1.xml><?xml version="1.0" encoding="utf-8"?>
<p:tagLst xmlns:p="http://schemas.openxmlformats.org/presentationml/2006/main">
  <p:tag name="KSO_WM_DIAGRAM_VIRTUALLY_FRAME" val="{&quot;height&quot;:333.75,&quot;left&quot;:300.50346456692915,&quot;top&quot;:140.3,&quot;width&quot;:651.5465354330709}"/>
</p:tagLst>
</file>

<file path=ppt/tags/tag7_tf1.xml><?xml version="1.0" encoding="utf-8"?>
<p:tagLst xmlns:p="http://schemas.openxmlformats.org/presentationml/2006/main">
  <p:tag name="KSO_WM_DIAGRAM_VIRTUALLY_FRAME" val="{&quot;height&quot;:333.75,&quot;left&quot;:300.50346456692915,&quot;top&quot;:140.3,&quot;width&quot;:651.5465354330709}"/>
</p:tagLst>
</file>

<file path=ppt/tags/tag8_tf1.xml><?xml version="1.0" encoding="utf-8"?>
<p:tagLst xmlns:p="http://schemas.openxmlformats.org/presentationml/2006/main">
  <p:tag name="KSO_WM_DIAGRAM_VIRTUALLY_FRAME" val="{&quot;height&quot;:333.75,&quot;left&quot;:300.50346456692915,&quot;top&quot;:140.3,&quot;width&quot;:651.5465354330709}"/>
</p:tagLst>
</file>

<file path=ppt/tags/tag9_tf1.xml><?xml version="1.0" encoding="utf-8"?>
<p:tagLst xmlns:p="http://schemas.openxmlformats.org/presentationml/2006/main">
  <p:tag name="KSO_WM_DIAGRAM_VIRTUALLY_FRAME" val="{&quot;height&quot;:333.75,&quot;left&quot;:300.50346456692915,&quot;top&quot;:140.3,&quot;width&quot;:651.5465354330709}"/>
</p:tagLst>
</file>

<file path=ppt/tags/tag10_tf1.xml><?xml version="1.0" encoding="utf-8"?>
<p:tagLst xmlns:p="http://schemas.openxmlformats.org/presentationml/2006/main">
  <p:tag name="KSO_WM_DIAGRAM_VIRTUALLY_FRAME" val="{&quot;height&quot;:333.75,&quot;left&quot;:300.50346456692915,&quot;top&quot;:140.3,&quot;width&quot;:651.5465354330709}"/>
</p:tagLst>
</file>

<file path=ppt/tags/tag11_tf1.xml><?xml version="1.0" encoding="utf-8"?>
<p:tagLst xmlns:p="http://schemas.openxmlformats.org/presentationml/2006/main">
  <p:tag name="KSO_WM_DIAGRAM_VIRTUALLY_FRAME" val="{&quot;height&quot;:333.75,&quot;left&quot;:300.50346456692915,&quot;top&quot;:140.3,&quot;width&quot;:651.5465354330709}"/>
</p:tagLst>
</file>

<file path=ppt/tags/tag12_tf1.xml><?xml version="1.0" encoding="utf-8"?>
<p:tagLst xmlns:p="http://schemas.openxmlformats.org/presentationml/2006/main">
  <p:tag name="KSO_WM_DIAGRAM_VIRTUALLY_FRAME" val="{&quot;height&quot;:333.75,&quot;left&quot;:300.50346456692915,&quot;top&quot;:140.3,&quot;width&quot;:651.5465354330709}"/>
</p:tagLst>
</file>

<file path=ppt/tags/tag13_tf1.xml><?xml version="1.0" encoding="utf-8"?>
<p:tagLst xmlns:p="http://schemas.openxmlformats.org/presentationml/2006/main">
  <p:tag name="KSO_WM_DIAGRAM_VIRTUALLY_FRAME" val="{&quot;height&quot;:333.75,&quot;left&quot;:300.50346456692915,&quot;top&quot;:140.3,&quot;width&quot;:651.5465354330709}"/>
</p:tagLst>
</file>

<file path=ppt/tags/tag14_tf1.xml><?xml version="1.0" encoding="utf-8"?>
<p:tagLst xmlns:p="http://schemas.openxmlformats.org/presentationml/2006/main">
  <p:tag name="KSO_WM_DIAGRAM_VIRTUALLY_FRAME" val="{&quot;height&quot;:333.75,&quot;left&quot;:300.50346456692915,&quot;top&quot;:140.3,&quot;width&quot;:651.5465354330709}"/>
</p:tagLst>
</file>

<file path=ppt/tags/tag15_tf1.xml><?xml version="1.0" encoding="utf-8"?>
<p:tagLst xmlns:p="http://schemas.openxmlformats.org/presentationml/2006/main">
  <p:tag name="KSO_WM_DIAGRAM_VIRTUALLY_FRAME" val="{&quot;height&quot;:333.75,&quot;left&quot;:300.50346456692915,&quot;top&quot;:140.3,&quot;width&quot;:651.5465354330709}"/>
</p:tagLst>
</file>

<file path=ppt/tags/tag16_tf1.xml><?xml version="1.0" encoding="utf-8"?>
<p:tagLst xmlns:p="http://schemas.openxmlformats.org/presentationml/2006/main">
  <p:tag name="KSO_WM_DIAGRAM_VIRTUALLY_FRAME" val="{&quot;height&quot;:333.75,&quot;left&quot;:300.50346456692915,&quot;top&quot;:140.3,&quot;width&quot;:651.5465354330709}"/>
</p:tagLst>
</file>

<file path=ppt/tags/tag17_tf1.xml><?xml version="1.0" encoding="utf-8"?>
<p:tagLst xmlns:p="http://schemas.openxmlformats.org/presentationml/2006/main">
  <p:tag name="KSO_WM_DIAGRAM_VIRTUALLY_FRAME" val="{&quot;height&quot;:497.3632283464567,&quot;left&quot;:-82.40141732283465,&quot;top&quot;:66.38086614173228,&quot;width&quot;:987.875748031496}"/>
</p:tagLst>
</file>

<file path=ppt/tags/tag17_tf2.xml><?xml version="1.0" encoding="utf-8"?>
<p:tagLst xmlns:p="http://schemas.openxmlformats.org/presentationml/2006/main">
  <p:tag name="KSO_WM_DIAGRAM_VIRTUALLY_FRAME" val="{&quot;height&quot;:497.3632283464567,&quot;left&quot;:-82.40141732283465,&quot;top&quot;:66.38086614173228,&quot;width&quot;:987.875748031496}"/>
</p:tagLst>
</file>

<file path=ppt/tags/tag18_tf1.xml><?xml version="1.0" encoding="utf-8"?>
<p:tagLst xmlns:p="http://schemas.openxmlformats.org/presentationml/2006/main">
  <p:tag name="KSO_WM_DIAGRAM_VIRTUALLY_FRAME" val="{&quot;height&quot;:497.3632283464567,&quot;left&quot;:-82.40141732283465,&quot;top&quot;:66.38086614173228,&quot;width&quot;:987.875748031496}"/>
</p:tagLst>
</file>

<file path=ppt/tags/tag18_tf2.xml><?xml version="1.0" encoding="utf-8"?>
<p:tagLst xmlns:p="http://schemas.openxmlformats.org/presentationml/2006/main">
  <p:tag name="KSO_WM_DIAGRAM_VIRTUALLY_FRAME" val="{&quot;height&quot;:497.3632283464567,&quot;left&quot;:-82.40141732283465,&quot;top&quot;:66.38086614173228,&quot;width&quot;:987.875748031496}"/>
</p:tagLst>
</file>

<file path=ppt/tags/tag19_tf1.xml><?xml version="1.0" encoding="utf-8"?>
<p:tagLst xmlns:p="http://schemas.openxmlformats.org/presentationml/2006/main">
  <p:tag name="KSO_WM_DIAGRAM_VIRTUALLY_FRAME" val="{&quot;height&quot;:497.3632283464567,&quot;left&quot;:-82.40141732283465,&quot;top&quot;:66.38086614173228,&quot;width&quot;:987.875748031496}"/>
</p:tagLst>
</file>

<file path=ppt/tags/tag19_tf2.xml><?xml version="1.0" encoding="utf-8"?>
<p:tagLst xmlns:p="http://schemas.openxmlformats.org/presentationml/2006/main">
  <p:tag name="KSO_WM_DIAGRAM_VIRTUALLY_FRAME" val="{&quot;height&quot;:497.3632283464567,&quot;left&quot;:-82.40141732283465,&quot;top&quot;:66.38086614173228,&quot;width&quot;:987.875748031496}"/>
</p:tagLst>
</file>

<file path=ppt/tags/tag20_tf1.xml><?xml version="1.0" encoding="utf-8"?>
<p:tagLst xmlns:p="http://schemas.openxmlformats.org/presentationml/2006/main">
  <p:tag name="KSO_WM_DIAGRAM_VIRTUALLY_FRAME" val="{&quot;height&quot;:497.3632283464567,&quot;left&quot;:-82.40141732283465,&quot;top&quot;:66.38086614173228,&quot;width&quot;:987.875748031496}"/>
</p:tagLst>
</file>

<file path=ppt/tags/tag20_tf2.xml><?xml version="1.0" encoding="utf-8"?>
<p:tagLst xmlns:p="http://schemas.openxmlformats.org/presentationml/2006/main">
  <p:tag name="KSO_WM_DIAGRAM_VIRTUALLY_FRAME" val="{&quot;height&quot;:497.3632283464567,&quot;left&quot;:-82.40141732283465,&quot;top&quot;:66.38086614173228,&quot;width&quot;:987.875748031496}"/>
</p:tagLst>
</file>

<file path=ppt/tags/tag21_tf1.xml><?xml version="1.0" encoding="utf-8"?>
<p:tagLst xmlns:p="http://schemas.openxmlformats.org/presentationml/2006/main">
  <p:tag name="KSO_WM_DIAGRAM_VIRTUALLY_FRAME" val="{&quot;height&quot;:497.3632283464567,&quot;left&quot;:-82.40141732283465,&quot;top&quot;:66.38086614173228,&quot;width&quot;:987.875748031496}"/>
</p:tagLst>
</file>

<file path=ppt/tags/tag21_tf2.xml><?xml version="1.0" encoding="utf-8"?>
<p:tagLst xmlns:p="http://schemas.openxmlformats.org/presentationml/2006/main">
  <p:tag name="KSO_WM_DIAGRAM_VIRTUALLY_FRAME" val="{&quot;height&quot;:497.3632283464567,&quot;left&quot;:-82.40141732283465,&quot;top&quot;:66.38086614173228,&quot;width&quot;:987.875748031496}"/>
</p:tagLst>
</file>

<file path=ppt/tags/tag22_tf1.xml><?xml version="1.0" encoding="utf-8"?>
<p:tagLst xmlns:p="http://schemas.openxmlformats.org/presentationml/2006/main">
  <p:tag name="KSO_WM_DIAGRAM_VIRTUALLY_FRAME" val="{&quot;height&quot;:497.3632283464567,&quot;left&quot;:-82.40141732283465,&quot;top&quot;:66.38086614173228,&quot;width&quot;:987.875748031496}"/>
</p:tagLst>
</file>

<file path=ppt/tags/tag22_tf2.xml><?xml version="1.0" encoding="utf-8"?>
<p:tagLst xmlns:p="http://schemas.openxmlformats.org/presentationml/2006/main">
  <p:tag name="KSO_WM_DIAGRAM_VIRTUALLY_FRAME" val="{&quot;height&quot;:497.3632283464567,&quot;left&quot;:-82.40141732283465,&quot;top&quot;:66.38086614173228,&quot;width&quot;:987.875748031496}"/>
</p:tagLst>
</file>

<file path=ppt/tags/tag23_tf1.xml><?xml version="1.0" encoding="utf-8"?>
<p:tagLst xmlns:p="http://schemas.openxmlformats.org/presentationml/2006/main">
  <p:tag name="KSO_WM_DIAGRAM_VIRTUALLY_FRAME" val="{&quot;height&quot;:497.3632283464567,&quot;left&quot;:-82.40141732283465,&quot;top&quot;:66.38086614173228,&quot;width&quot;:987.875748031496}"/>
</p:tagLst>
</file>

<file path=ppt/tags/tag23_tf2.xml><?xml version="1.0" encoding="utf-8"?>
<p:tagLst xmlns:p="http://schemas.openxmlformats.org/presentationml/2006/main">
  <p:tag name="KSO_WM_DIAGRAM_VIRTUALLY_FRAME" val="{&quot;height&quot;:497.3632283464567,&quot;left&quot;:-82.40141732283465,&quot;top&quot;:66.38086614173228,&quot;width&quot;:987.875748031496}"/>
</p:tagLst>
</file>

<file path=ppt/tags/tag24_tf1.xml><?xml version="1.0" encoding="utf-8"?>
<p:tagLst xmlns:p="http://schemas.openxmlformats.org/presentationml/2006/main">
  <p:tag name="KSO_WM_DIAGRAM_VIRTUALLY_FRAME" val="{&quot;height&quot;:497.3632283464567,&quot;left&quot;:-82.40141732283465,&quot;top&quot;:66.38086614173228,&quot;width&quot;:987.875748031496}"/>
</p:tagLst>
</file>

<file path=ppt/tags/tag24_tf2.xml><?xml version="1.0" encoding="utf-8"?>
<p:tagLst xmlns:p="http://schemas.openxmlformats.org/presentationml/2006/main">
  <p:tag name="KSO_WM_DIAGRAM_VIRTUALLY_FRAME" val="{&quot;height&quot;:497.3632283464567,&quot;left&quot;:-82.40141732283465,&quot;top&quot;:66.38086614173228,&quot;width&quot;:987.875748031496}"/>
</p:tagLst>
</file>

<file path=ppt/tags/tag25_tf1.xml><?xml version="1.0" encoding="utf-8"?>
<p:tagLst xmlns:p="http://schemas.openxmlformats.org/presentationml/2006/main">
  <p:tag name="KSO_WM_DIAGRAM_VIRTUALLY_FRAME" val="{&quot;height&quot;:497.3632283464567,&quot;left&quot;:-82.40141732283465,&quot;top&quot;:66.38086614173228,&quot;width&quot;:987.875748031496}"/>
</p:tagLst>
</file>

<file path=ppt/tags/tag25_tf2.xml><?xml version="1.0" encoding="utf-8"?>
<p:tagLst xmlns:p="http://schemas.openxmlformats.org/presentationml/2006/main">
  <p:tag name="KSO_WM_DIAGRAM_VIRTUALLY_FRAME" val="{&quot;height&quot;:497.3632283464567,&quot;left&quot;:-82.40141732283465,&quot;top&quot;:66.38086614173228,&quot;width&quot;:987.875748031496}"/>
</p:tagLst>
</file>

<file path=ppt/tags/tag26_tf1.xml><?xml version="1.0" encoding="utf-8"?>
<p:tagLst xmlns:p="http://schemas.openxmlformats.org/presentationml/2006/main">
  <p:tag name="KSO_WM_DIAGRAM_VIRTUALLY_FRAME" val="{&quot;height&quot;:63.13236220472445,&quot;left&quot;:263.9999212598425,&quot;top&quot;:434.8676377952755,&quot;width&quot;:421.0500787401576}"/>
</p:tagLst>
</file>

<file path=ppt/tags/tag27_tf1.xml><?xml version="1.0" encoding="utf-8"?>
<p:tagLst xmlns:p="http://schemas.openxmlformats.org/presentationml/2006/main">
  <p:tag name="KSO_WM_DIAGRAM_VIRTUALLY_FRAME" val="{&quot;height&quot;:63.13236220472445,&quot;left&quot;:263.9999212598425,&quot;top&quot;:434.8676377952755,&quot;width&quot;:421.0500787401576}"/>
</p:tagLst>
</file>

<file path=ppt/tags/tag28_tf1.xml><?xml version="1.0" encoding="utf-8"?>
<p:tagLst xmlns:p="http://schemas.openxmlformats.org/presentationml/2006/main">
  <p:tag name="KSO_WM_DIAGRAM_VIRTUALLY_FRAME" val="{&quot;height&quot;:63.13236220472445,&quot;left&quot;:263.9999212598425,&quot;top&quot;:434.8676377952755,&quot;width&quot;:421.0500787401576}"/>
</p:tagLst>
</file>

<file path=ppt/tags/tag29_tf1.xml><?xml version="1.0" encoding="utf-8"?>
<p:tagLst xmlns:p="http://schemas.openxmlformats.org/presentationml/2006/main">
  <p:tag name="KSO_WM_DIAGRAM_VIRTUALLY_FRAME" val="{&quot;height&quot;:63.13236220472445,&quot;left&quot;:263.9999212598425,&quot;top&quot;:434.8676377952755,&quot;width&quot;:421.0500787401576}"/>
</p:tagLst>
</file>

<file path=ppt/tags/tag30.xml><?xml version="1.0" encoding="utf-8"?>
<p:tagLst xmlns:p="http://schemas.openxmlformats.org/presentationml/2006/main">
  <p:tag name="COMMONDATA" val="eyJoZGlkIjoiYjNkNDYxMmIwNmM5NTY2OTdkODYxNGM2OGY2YmI2OG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1031</ns0:Words>
  <ns0:Application>WPS 演示</ns0:Application>
  <ns0:PresentationFormat>宽屏</ns0:PresentationFormat>
  <ns0:Paragraphs>196</ns0:Paragraphs>
  <ns0:Slides>18</ns0:Slides>
  <ns0:Notes>17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14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11</ns1:i4>
      </ns1:variant>
    </ns1:vector>
  </ns0:HeadingPairs>
  <ns0:TitlesOfParts>
    <ns1:vector size="26" baseType="lpstr">
      <ns1:lpstr>Arial</ns1:lpstr>
      <ns1:lpstr>宋体</ns1:lpstr>
      <ns1:lpstr>Wingdings</ns1:lpstr>
      <ns1:lpstr>微软雅黑</ns1:lpstr>
      <ns1:lpstr>仿宋_GB2312</ns1:lpstr>
      <ns1:lpstr>仿宋</ns1:lpstr>
      <ns1:lpstr>华文隶书</ns1:lpstr>
      <ns1:lpstr>Impact</ns1:lpstr>
      <ns1:lpstr>Aharoni</ns1:lpstr>
      <ns1:lpstr>Yu Gothic UI Semibold</ns1:lpstr>
      <ns1:lpstr>等线</ns1:lpstr>
      <ns1:lpstr>Arial Unicode MS</ns1:lpstr>
      <ns1:lpstr>等线 Light</ns1:lpstr>
      <ns1:lpstr>Calibri</ns1:lpstr>
      <ns1:lpstr>Office 主题​​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MLOONG</dc:creator>
  <cp:lastModifiedBy>汤若堃</cp:lastModifiedBy>
  <cp:revision>298</cp:revision>
  <dcterms:created xsi:type="dcterms:W3CDTF">2019-03-06T05:17:00Z</dcterms:created>
  <dcterms:modified xsi:type="dcterms:W3CDTF">2026-10-11T14:15:34Z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2D3F3C877DDC442C9DAF184B3BA0216D_13</vt:lpwstr>
  </property>
  <property fmtid="{D5CDD505-2E9C-101B-9397-08002B2CF9AE}" pid="3" name="KSOProductBuildVer">
    <vt:lpwstr>2052-12.1.0.28043</vt:lpwstr>
  </property>
</Properties>
</file>