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gs/tag4_tf1.xml" ContentType="application/vnd.openxmlformats-officedocument.presentationml.tags+xml"/>
  <Override PartName="/ppt/tags/tag3_tf1.xml" ContentType="application/vnd.openxmlformats-officedocument.presentationml.tags+xml"/>
  <Override PartName="/ppt/tags/tag2_tf1.xml" ContentType="application/vnd.openxmlformats-officedocument.presentationml.tags+xml"/>
  <Override PartName="/ppt/tags/tag1_tf1.xml" ContentType="application/vnd.openxmlformats-officedocument.presentationml.tags+xml"/>
  <Override PartName="/ppt/tags/tag13_tf1.xml" ContentType="application/vnd.openxmlformats-officedocument.presentationml.tags+xml"/>
  <Override PartName="/ppt/tags/tag12_tf1.xml" ContentType="application/vnd.openxmlformats-officedocument.presentationml.tags+xml"/>
  <Override PartName="/ppt/tags/tag11_tf1.xml" ContentType="application/vnd.openxmlformats-officedocument.presentationml.tags+xml"/>
  <Override PartName="/ppt/tags/tag10_tf1.xml" ContentType="application/vnd.openxmlformats-officedocument.presentationml.tags+xml"/>
  <Override PartName="/ppt/tags/tag9_tf1.xml" ContentType="application/vnd.openxmlformats-officedocument.presentationml.tags+xml"/>
  <Override PartName="/ppt/tags/tag8_tf1.xml" ContentType="application/vnd.openxmlformats-officedocument.presentationml.tags+xml"/>
  <Override PartName="/ppt/tags/tag7_tf1.xml" ContentType="application/vnd.openxmlformats-officedocument.presentationml.tags+xml"/>
  <Override PartName="/ppt/tags/tag6_tf1.xml" ContentType="application/vnd.openxmlformats-officedocument.presentationml.tags+xml"/>
  <Override PartName="/ppt/tags/tag16_tf1.xml" ContentType="application/vnd.openxmlformats-officedocument.presentationml.tags+xml"/>
  <Override PartName="/ppt/tags/tag15_tf1.xml" ContentType="application/vnd.openxmlformats-officedocument.presentationml.tags+xml"/>
  <Override PartName="/ppt/tags/tag14_tf1.xml" ContentType="application/vnd.openxmlformats-officedocument.presentationml.tags+xml"/>
  <Override PartName="/ppt/tags/tag5_tf1.xml" ContentType="application/vnd.openxmlformats-officedocument.presentationml.tag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_tf1.xml" ContentType="application/vnd.openxmlformats-officedocument.presentationml.notesSlide+xml"/>
  <Override PartName="/ppt/tags/tag20_tf1.xml" ContentType="application/vnd.openxmlformats-officedocument.presentationml.tags+xml"/>
  <Override PartName="/ppt/tags/tag19_tf1.xml" ContentType="application/vnd.openxmlformats-officedocument.presentationml.tags+xml"/>
  <Override PartName="/ppt/tags/tag18_tf1.xml" ContentType="application/vnd.openxmlformats-officedocument.presentationml.tags+xml"/>
  <Override PartName="/ppt/tags/tag17_tf1.xml" ContentType="application/vnd.openxmlformats-officedocument.presentationml.tags+xml"/>
  <Override PartName="/ppt/slides/slide18.xml" ContentType="application/vnd.openxmlformats-officedocument.presentationml.slide+xml"/>
  <Override PartName="/ppt/charts/chart120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76145"/>
    <a:srgbClr val="7F7F7F"/>
    <a:srgbClr val="D9D9D9"/>
    <a:srgbClr val="055E40"/>
    <a:srgbClr val="071F65"/>
    <a:srgbClr val="0B10CF"/>
    <a:srgbClr val="7B8FC7"/>
    <a:srgbClr val="3C518C"/>
    <a:srgbClr val="4C6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4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" Type="http://schemas.openxmlformats.org/officeDocument/2006/relationships/theme" Target="theme/theme1.xml" /><Relationship Id="rId17" Type="http://schemas.openxmlformats.org/officeDocument/2006/relationships/tags" Target="tags/tag21.xml" /><Relationship Id="rId16" Type="http://schemas.openxmlformats.org/officeDocument/2006/relationships/tableStyles" Target="tableStyles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3" Type="http://schemas.openxmlformats.org/officeDocument/2006/relationships/handoutMaster" Target="handoutMasters/handoutMaster1.xml" /><Relationship Id="rId1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8" Type="http://schemas.openxmlformats.org/officeDocument/2006/relationships/slide" Target="slides/slide1.xml" /><Relationship Id="rId19" Type="http://schemas.openxmlformats.org/officeDocument/2006/relationships/slide" Target="slides/slide2.xml" /><Relationship Id="rId20" Type="http://schemas.openxmlformats.org/officeDocument/2006/relationships/slide" Target="slides/slide3.xml" /><Relationship Id="rId21" Type="http://schemas.openxmlformats.org/officeDocument/2006/relationships/slide" Target="slides/slide4.xml" /><Relationship Id="rId22" Type="http://schemas.openxmlformats.org/officeDocument/2006/relationships/slide" Target="slides/slide5.xml" /><Relationship Id="rId23" Type="http://schemas.openxmlformats.org/officeDocument/2006/relationships/slide" Target="slides/slide6.xml" /><Relationship Id="rId24" Type="http://schemas.openxmlformats.org/officeDocument/2006/relationships/slide" Target="slides/slide7.xml" /><Relationship Id="rId25" Type="http://schemas.openxmlformats.org/officeDocument/2006/relationships/slide" Target="slides/slide8.xml" /><Relationship Id="rId26" Type="http://schemas.openxmlformats.org/officeDocument/2006/relationships/slide" Target="slides/slide9.xml" /><Relationship Id="rId27" Type="http://schemas.openxmlformats.org/officeDocument/2006/relationships/slide" Target="slides/slide10.xml" /><Relationship Id="rId28" Type="http://schemas.openxmlformats.org/officeDocument/2006/relationships/slide" Target="slides/slide11.xml" /><Relationship Id="rId29" Type="http://schemas.openxmlformats.org/officeDocument/2006/relationships/slide" Target="slides/slide12.xml" /><Relationship Id="rId30" Type="http://schemas.openxmlformats.org/officeDocument/2006/relationships/slide" Target="slides/slide13.xml" /><Relationship Id="rId31" Type="http://schemas.openxmlformats.org/officeDocument/2006/relationships/slide" Target="slides/slide14.xml" /><Relationship Id="rId32" Type="http://schemas.openxmlformats.org/officeDocument/2006/relationships/slide" Target="slides/slide15.xml" /><Relationship Id="rId33" Type="http://schemas.openxmlformats.org/officeDocument/2006/relationships/slide" Target="slides/slide16.xml" /><Relationship Id="rId34" Type="http://schemas.openxmlformats.org/officeDocument/2006/relationships/slide" Target="slides/slide17.xml" /><Relationship Id="rId35" Type="http://schemas.openxmlformats.org/officeDocument/2006/relationships/slide" Target="slides/slide18.xml" />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活动单元数量</c:v>
                </c:pt>
              </c:strCache>
            </c:strRef>
          </c:tx>
          <c:spPr>
            <a:solidFill>
              <a:srgbClr val="076145"/>
            </a:solidFill>
            <a:ln>
              <a:solidFill>
                <a:srgbClr val="076145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独立对应型</c:v>
                </c:pt>
                <c:pt idx="1">
                  <c:v>内部多组型</c:v>
                </c:pt>
                <c:pt idx="2">
                  <c:v>独立跨界型</c:v>
                </c:pt>
                <c:pt idx="3">
                  <c:v>复合对应型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75</c:v>
                </c:pt>
                <c:pt idx="2">
                  <c:v>22</c:v>
                </c:pt>
                <c:pt idx="3">
                  <c:v>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650">
                  <a:solidFill>
                    <a:srgbClr val="263D35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AFC5B9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0"/>
          <c:min val="0"/>
        </c:scaling>
        <c:delete val="0"/>
        <c:axPos val="b"/>
        <c:majorGridlines>
          <c:spPr>
            <a:ln w="6350" cap="flat" cmpd="sng" algn="ctr">
              <a:solidFill>
                <a:srgbClr val="DCE8E1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AFC5B9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2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650">
          <a:solidFill>
            <a:srgbClr val="263D3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18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sp>
        <p:nvSpPr>
          <p:cNvPr id="51" name="淘宝-想搞设计PPT(倒卖必究)-51"/>
          <p:cNvSpPr/>
          <p:nvPr userDrawn="1"/>
        </p:nvSpPr>
        <p:spPr bwMode="auto">
          <a:xfrm>
            <a:off x="5439205" y="1302963"/>
            <a:ext cx="493392" cy="1683242"/>
          </a:xfrm>
          <a:custGeom>
            <a:avLst/>
            <a:gdLst>
              <a:gd name="T0" fmla="*/ 697 w 697"/>
              <a:gd name="T1" fmla="*/ 2372 h 2372"/>
              <a:gd name="T2" fmla="*/ 0 w 697"/>
              <a:gd name="T3" fmla="*/ 2372 h 2372"/>
              <a:gd name="T4" fmla="*/ 0 w 697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97" h="2372">
                <a:moveTo>
                  <a:pt x="697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sp>
        <p:nvSpPr>
          <p:cNvPr id="52" name="淘宝-想搞设计PPT(倒卖必究)-52"/>
          <p:cNvSpPr/>
          <p:nvPr userDrawn="1"/>
        </p:nvSpPr>
        <p:spPr bwMode="auto">
          <a:xfrm>
            <a:off x="8756507" y="1302963"/>
            <a:ext cx="523534" cy="1683242"/>
          </a:xfrm>
          <a:custGeom>
            <a:avLst/>
            <a:gdLst>
              <a:gd name="T0" fmla="*/ 741 w 741"/>
              <a:gd name="T1" fmla="*/ 2372 h 2372"/>
              <a:gd name="T2" fmla="*/ 0 w 741"/>
              <a:gd name="T3" fmla="*/ 2372 h 2372"/>
              <a:gd name="T4" fmla="*/ 0 w 74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41" h="2372">
                <a:moveTo>
                  <a:pt x="74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95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4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95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5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4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5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184">
        <p:random/>
      </p:transition>
    </mc:Choice>
    <mc:Fallback>
      <p:transition spd="slow" advTm="6184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184">
        <p:random/>
      </p:transition>
    </mc:Choice>
    <mc:Fallback>
      <p:transition spd="slow" advTm="6184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6" Type="http://schemas.openxmlformats.org/officeDocument/2006/relationships/slideLayout" Target="../slideLayouts/slideLayout1.xml" /><Relationship Id="rId5" Type="http://schemas.openxmlformats.org/officeDocument/2006/relationships/tags" Target="../tags/tag4_tf1.xml" /><Relationship Id="rId4" Type="http://schemas.openxmlformats.org/officeDocument/2006/relationships/tags" Target="../tags/tag3_tf1.xml" /><Relationship Id="rId3" Type="http://schemas.openxmlformats.org/officeDocument/2006/relationships/tags" Target="../tags/tag2_tf1.xml" /><Relationship Id="rId2" Type="http://schemas.openxmlformats.org/officeDocument/2006/relationships/image" Target="../media/image2.png" /><Relationship Id="rId1" Type="http://schemas.openxmlformats.org/officeDocument/2006/relationships/tags" Target="../tags/tag1_tf1.xml" /></Relationships>
</file>

<file path=ppt/slides/_rels/slide2.xml.rels><?xml version='1.0' encoding='utf-8'?>
<Relationships xmlns="http://schemas.openxmlformats.org/package/2006/relationships"><Relationship Id="rId9" Type="http://schemas.openxmlformats.org/officeDocument/2006/relationships/tags" Target="../tags/tag13_tf1.xml" /><Relationship Id="rId8" Type="http://schemas.openxmlformats.org/officeDocument/2006/relationships/tags" Target="../tags/tag12_tf1.xml" /><Relationship Id="rId7" Type="http://schemas.openxmlformats.org/officeDocument/2006/relationships/tags" Target="../tags/tag11_tf1.xml" /><Relationship Id="rId6" Type="http://schemas.openxmlformats.org/officeDocument/2006/relationships/tags" Target="../tags/tag10_tf1.xml" /><Relationship Id="rId5" Type="http://schemas.openxmlformats.org/officeDocument/2006/relationships/tags" Target="../tags/tag9_tf1.xml" /><Relationship Id="rId4" Type="http://schemas.openxmlformats.org/officeDocument/2006/relationships/tags" Target="../tags/tag8_tf1.xml" /><Relationship Id="rId3" Type="http://schemas.openxmlformats.org/officeDocument/2006/relationships/tags" Target="../tags/tag7_tf1.xml" /><Relationship Id="rId2" Type="http://schemas.openxmlformats.org/officeDocument/2006/relationships/tags" Target="../tags/tag6_tf1.xml" /><Relationship Id="rId14" Type="http://schemas.openxmlformats.org/officeDocument/2006/relationships/slideLayout" Target="../slideLayouts/slideLayout15.xml" /><Relationship Id="rId13" Type="http://schemas.openxmlformats.org/officeDocument/2006/relationships/tags" Target="../tags/tag16_tf1.xml" /><Relationship Id="rId12" Type="http://schemas.openxmlformats.org/officeDocument/2006/relationships/tags" Target="../tags/tag15_tf1.xml" /><Relationship Id="rId11" Type="http://schemas.openxmlformats.org/officeDocument/2006/relationships/image" Target="../media/image1.png" /><Relationship Id="rId10" Type="http://schemas.openxmlformats.org/officeDocument/2006/relationships/tags" Target="../tags/tag14_tf1.xml" /><Relationship Id="rId1" Type="http://schemas.openxmlformats.org/officeDocument/2006/relationships/tags" Target="../tags/tag5_tf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chart" Target="../charts/chart120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'1.0' encoding='utf-8'?>
<Relationships xmlns="http://schemas.openxmlformats.org/package/2006/relationships"><Relationship Id="rId7" Type="http://schemas.openxmlformats.org/officeDocument/2006/relationships/notesSlide" Target="../notesSlides/notesSlide1_tf1.xml" /><Relationship Id="rId6" Type="http://schemas.openxmlformats.org/officeDocument/2006/relationships/slideLayout" Target="../slideLayouts/slideLayout1.xml" /><Relationship Id="rId5" Type="http://schemas.openxmlformats.org/officeDocument/2006/relationships/tags" Target="../tags/tag20_tf1.xml" /><Relationship Id="rId4" Type="http://schemas.openxmlformats.org/officeDocument/2006/relationships/tags" Target="../tags/tag19_tf1.xml" /><Relationship Id="rId3" Type="http://schemas.openxmlformats.org/officeDocument/2006/relationships/tags" Target="../tags/tag18_tf1.xml" /><Relationship Id="rId2" Type="http://schemas.openxmlformats.org/officeDocument/2006/relationships/tags" Target="../tags/tag17_tf1.xml" /><Relationship Id="rId1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-想搞设计PPT(倒卖必究)-6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淘宝-想搞设计PPT(倒卖必究)-5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淘宝-想搞设计PPT(倒卖必究)-4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-444500" y="4914265"/>
            <a:ext cx="13081000" cy="2680335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淘宝-想搞设计PPT(倒卖必究)-21"/>
          <p:cNvSpPr/>
          <p:nvPr/>
        </p:nvSpPr>
        <p:spPr>
          <a:xfrm>
            <a:off x="549307" y="1929098"/>
            <a:ext cx="11006423" cy="1231297"/>
          </a:xfrm>
          <a:prstGeom prst="rect">
            <a:avLst/>
          </a:prstGeom>
          <a:noFill/>
          <a:ln>
            <a:noFill/>
          </a:ln>
        </p:spPr>
        <p:txBody>
          <a:bodyPr wrap="none" lIns="0" tIns="116210" rIns="667" bIns="0" anchor="t" anchorCtr="0">
            <a:noAutofit/>
          </a:bodyPr>
          <a:lstStyle/>
          <a:p>
            <a:pPr algn="ctr">
              <a:lnSpc>
                <a:spcPts val="4200"/>
              </a:lnSpc>
            </a:pPr>
            <a:r>
              <a:rPr lang="zh-CN" sz="32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基于活动人群的高密度社区绿地</a:t>
            </a:r>
            <a:br/>
            <a:r>
              <a:rPr lang="zh-CN" sz="32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空间特征识别与优化</a:t>
            </a: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1099185" y="3134392"/>
            <a:ext cx="9906000" cy="706755"/>
          </a:xfrm>
          <a:prstGeom prst="rect">
            <a:avLst/>
          </a:prstGeom>
          <a:noFill/>
          <a:ln>
            <a:noFill/>
          </a:ln>
        </p:spPr>
        <p:txBody>
          <a:bodyPr wrap="none" lIns="0" tIns="154881" rIns="0" bIns="0" anchor="t" anchorCtr="0">
            <a:noAutofit/>
          </a:bodyPr>
          <a:lstStyle/>
          <a:p>
            <a:pPr algn="ctr"/>
            <a:r>
              <a:rPr lang="zh-CN" sz="20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硕士学位论文中期检查汇报</a:t>
            </a:r>
          </a:p>
        </p:txBody>
      </p:sp>
      <p:sp>
        <p:nvSpPr>
          <p:cNvPr id="25" name="淘宝-想搞设计PPT(倒卖必究)-25"/>
          <p:cNvSpPr txBox="1"/>
          <p:nvPr>
            <p:custDataLst>
              <p:tags r:id="rId1"/>
            </p:custDataLst>
          </p:nvPr>
        </p:nvSpPr>
        <p:spPr>
          <a:xfrm>
            <a:off x="337820" y="5957570"/>
            <a:ext cx="2673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院：风景园林学院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56" descr="南京林业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28" y="701655"/>
            <a:ext cx="3380740" cy="850832"/>
          </a:xfrm>
          <a:prstGeom prst="rect">
            <a:avLst/>
          </a:prstGeom>
        </p:spPr>
      </p:pic>
      <p:sp>
        <p:nvSpPr>
          <p:cNvPr id="2" name="淘宝-想搞设计PPT(倒卖必究)-25"/>
          <p:cNvSpPr txBox="1"/>
          <p:nvPr>
            <p:custDataLst>
              <p:tags r:id="rId3"/>
            </p:custDataLst>
          </p:nvPr>
        </p:nvSpPr>
        <p:spPr>
          <a:xfrm>
            <a:off x="364744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业：风景园林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淘宝-想搞设计PPT(倒卖必究)-25"/>
          <p:cNvSpPr txBox="1"/>
          <p:nvPr>
            <p:custDataLst>
              <p:tags r:id="rId4"/>
            </p:custDataLst>
          </p:nvPr>
        </p:nvSpPr>
        <p:spPr>
          <a:xfrm>
            <a:off x="655193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答辩人：汤若堃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淘宝-想搞设计PPT(倒卖必究)-25"/>
          <p:cNvSpPr txBox="1"/>
          <p:nvPr>
            <p:custDataLst>
              <p:tags r:id="rId5"/>
            </p:custDataLst>
          </p:nvPr>
        </p:nvSpPr>
        <p:spPr>
          <a:xfrm>
            <a:off x="9281795" y="5957570"/>
            <a:ext cx="252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师：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陈硕蕾老师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3" name="淘宝-想搞设计PPT(倒卖必究)-215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6394" y="1874145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1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4" name="淘宝-想搞设计PPT(倒卖必究)-215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50684" y="3510467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2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5" name="淘宝-想搞设计PPT(倒卖必究)-215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6394" y="5107419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3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6" name="淘宝-想搞设计PPT(倒卖必究)-2151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8839" y="1873926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4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7" name="淘宝-想搞设计PPT(倒卖必究)-215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173129" y="3510248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5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2" name="淘宝-想搞设计PPT(倒卖必究)-923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772025" y="3395980"/>
            <a:ext cx="297180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数据采集情况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3" name="淘宝-想搞设计PPT(倒卖必究)-923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737735" y="1781810"/>
            <a:ext cx="254952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总体</a:t>
            </a:r>
            <a:r>
              <a:rPr lang="zh-CN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研究进度</a:t>
            </a:r>
            <a:endParaRPr lang="zh-CN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4" name="淘宝-想搞设计PPT(倒卖必究)-923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737735" y="5010785"/>
            <a:ext cx="330327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研究方法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5" name="淘宝-想搞设计PPT(倒卖必究)-923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80830" y="1783080"/>
            <a:ext cx="220980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论文提纲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6" name="淘宝-想搞设计PPT(倒卖必究)-923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215120" y="3396615"/>
            <a:ext cx="287591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阶段性研究结果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 rot="16200000">
            <a:off x="-5406906" y="1330569"/>
            <a:ext cx="13081000" cy="4196862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37" name="淘宝-想搞设计PPT(倒卖必究)-9237"/>
          <p:cNvSpPr txBox="1">
            <a:spLocks noChangeArrowheads="1"/>
          </p:cNvSpPr>
          <p:nvPr/>
        </p:nvSpPr>
        <p:spPr bwMode="auto">
          <a:xfrm>
            <a:off x="660527" y="3036376"/>
            <a:ext cx="1791065" cy="60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目</a:t>
            </a:r>
            <a:endParaRPr lang="en-US" altLang="zh-CN" sz="8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录</a:t>
            </a:r>
            <a:endParaRPr lang="zh-CN" altLang="en-US" sz="8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8" name="淘宝-想搞设计PPT(倒卖必究)-9238"/>
          <p:cNvSpPr txBox="1">
            <a:spLocks noChangeArrowheads="1"/>
          </p:cNvSpPr>
          <p:nvPr/>
        </p:nvSpPr>
        <p:spPr bwMode="auto">
          <a:xfrm>
            <a:off x="436031" y="5497448"/>
            <a:ext cx="19723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</a:rPr>
              <a:t>ontents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淘宝-想搞设计PPT(倒卖必究)-2"/>
          <p:cNvSpPr/>
          <p:nvPr/>
        </p:nvSpPr>
        <p:spPr>
          <a:xfrm>
            <a:off x="5162162" y="523505"/>
            <a:ext cx="1130107" cy="1130107"/>
          </a:xfrm>
          <a:prstGeom prst="ellipse">
            <a:avLst/>
          </a:prstGeom>
          <a:noFill/>
          <a:ln>
            <a:noFill/>
          </a:ln>
          <a:effectLst>
            <a:innerShdw blurRad="114300">
              <a:srgbClr val="447A8D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520" name="Picture 21519" descr="南京林业大学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960" y="855720"/>
            <a:ext cx="2749901" cy="692068"/>
          </a:xfrm>
          <a:prstGeom prst="rect">
            <a:avLst/>
          </a:prstGeom>
        </p:spPr>
      </p:pic>
      <p:sp>
        <p:nvSpPr>
          <p:cNvPr id="3" name="淘宝-想搞设计PPT(倒卖必究)-215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139474" y="5108543"/>
            <a:ext cx="85153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</a:t>
            </a:r>
            <a:r>
              <a:rPr lang="en-US" altLang="zh-CN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6</a:t>
            </a:r>
            <a:endParaRPr lang="en-US" altLang="zh-CN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淘宝-想搞设计PPT(倒卖必究)-923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181465" y="5010785"/>
            <a:ext cx="269938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未来工作安排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  <p:bldLst>
      <p:bldP spid="21513" grpId="0"/>
      <p:bldP spid="21514" grpId="0"/>
      <p:bldP spid="21515" grpId="0"/>
      <p:bldP spid="21516" grpId="0"/>
      <p:bldP spid="21517" grpId="0"/>
      <p:bldP spid="9232" grpId="0"/>
      <p:bldP spid="9233" grpId="0"/>
      <p:bldP spid="9234" grpId="0"/>
      <p:bldP spid="9235" grpId="0"/>
      <p:bldP spid="9236" grpId="0"/>
      <p:bldP spid="26" grpId="0" bldLvl="0" animBg="1"/>
      <p:bldP spid="9237" grpId="0"/>
      <p:bldP spid="9238" grpId="0"/>
    </p:bldLst>
  </p:timing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209675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01 / 总体研究进度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研究目标与总体进度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目标：识别活动单元、解析空间—活动关系、支撑精细化更新；进度按证据状态表达。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Methods、Results、Discussion；提纲4–7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350043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1547"/>
                <a:gridCol w="4169245"/>
                <a:gridCol w="2978033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研究任务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材料已有证据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汇报状态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数据采集与处理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31个样本；约81.7小时视频；地图与点云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文稿已报告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活动单元识别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检测、投影、聚类、边界修正；133个单元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文稿已报告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空间特征与关系模型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六指标；两组NB-GLMM结果表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文稿已报告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有效性与参数检验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框架、检验思路及参数；完整统计未附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证据待补齐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优化策略与论文整合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初步诊断建议；完整图件与实施效果未附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拟完善／拟验证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2001679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02 / 数据采集情况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研究样本与三类数据采集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三类数据共同支持行为识别与空间量化；功能分区在活动单元识别前独立划定。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Study areas、Data collection；提纲3.1–3.2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3238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1547"/>
                <a:gridCol w="4169245"/>
                <a:gridCol w="2978033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数据类别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已采集／处理内容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规模与状态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研究对象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南京老城区口袋公园；邻近居住区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31个；0.4–1.2公顷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活动影像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冬春两季；工作日与周末；固定机位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累计约81.7小时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地图数据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百度地图影像；ArcGIS矢量化；独立划区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118个功能分区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三维点云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Trimble RealWorks配准；植物等五类赋码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31个样本扫描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证据缺项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样本坐标、区位图、真实点云截图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待补充，不虚构图件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2001679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02 / 数据采集情况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视频采集：两季、多时段与固定机位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已采集冬春行为数据；夏秋未纳入，不能宣称四季代表性。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资料：1010数据采集；Discussion 4.4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271462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824413"/>
                <a:gridCol w="4824412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采集条件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材料记录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季节与日期类型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冬季、春季；工作日与周末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每日观察窗口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08:00–11:00／14:00–17:00／18:00–21:00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设备与视频规格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机位高度1.60m；1920×1080；30帧/s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单段与总体规模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每段约3–4分钟；累计约81.7小时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采集环境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晴朗天气；固定、开阔机位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2793682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技术路线：识别、验证与空间特征解析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同一行为数据与空间基准，连接活动单元识别、检验和两类单元模型比较。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资料：1010分析框架、内嵌图2；提纲1.4.3、2.4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85975" y="1676400"/>
            <a:ext cx="9648825" cy="113347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247900" y="1765300"/>
            <a:ext cx="4000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01 活动单元识别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286000" y="218122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314575" y="226695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视频检测与跟踪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77893" y="226377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619625" y="218122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48200" y="226695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脚点空间投影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11518" y="226377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953250" y="218122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981825" y="226695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密度聚类与整合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5143" y="226377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286875" y="218122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15450" y="226695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点云边界约束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085975" y="3000375"/>
            <a:ext cx="9648825" cy="113347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247900" y="3089275"/>
            <a:ext cx="4000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02 空间检验与验证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286000" y="3505200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314575" y="3590925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功能分区双向叠置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77893" y="3587750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619625" y="3505200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48200" y="3590925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统一格网一致性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11518" y="3587750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3505200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981825" y="3590925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随机分区零模型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5143" y="3587750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286875" y="3505200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15450" y="3590925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检验统计待补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085975" y="4324350"/>
            <a:ext cx="9648825" cy="113347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247900" y="4413250"/>
            <a:ext cx="4000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03 空间特征与解析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2286000" y="482917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314575" y="491490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六指标空间量化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77893" y="491172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619625" y="482917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648200" y="491490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两组NB-GLMM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811518" y="491172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953250" y="482917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981825" y="491490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关系模式比较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45143" y="4911725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286875" y="4829175"/>
            <a:ext cx="21621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15450" y="4914900"/>
            <a:ext cx="20955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初步更新策略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2793682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活动单元识别：从人群检测到边界修正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参数源于1010；敏感性附录及识别、定位误差核查待补齐，不能宣称已全面验证。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2.3.1–2.3.4；提纲4.1–4.2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81225" y="1533525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085975" y="2247900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085975" y="2247900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228850" y="2460625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检测与跟踪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28850" y="29146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YOLOv8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28850" y="33432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ByteTrack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28850" y="377190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稳定出现 &gt;20s</a:t>
            </a:r>
          </a:p>
        </p:txBody>
      </p:sp>
      <p:sp>
        <p:nvSpPr>
          <p:cNvPr id="25" name="Polygon 25"/>
          <p:cNvSpPr/>
          <p:nvPr/>
        </p:nvSpPr>
        <p:spPr>
          <a:xfrm>
            <a:off x="3901440" y="32099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149090" y="1533525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053840" y="2247900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053840" y="2247900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196715" y="2460625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空间投影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96715" y="29146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检测框底中点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88714" y="3343275"/>
            <a:ext cx="12922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控制点单应变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88714" y="3619500"/>
            <a:ext cx="228702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96715" y="40481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GIS米制坐标</a:t>
            </a:r>
          </a:p>
        </p:txBody>
      </p:sp>
      <p:sp>
        <p:nvSpPr>
          <p:cNvPr id="34" name="Polygon 34"/>
          <p:cNvSpPr/>
          <p:nvPr/>
        </p:nvSpPr>
        <p:spPr>
          <a:xfrm>
            <a:off x="5869305" y="32099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116955" y="1533525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21705" y="2247900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021705" y="2247900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164580" y="2460625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密度聚类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64580" y="29146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M-DBSCAN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4580" y="33432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最低4个点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64580" y="377190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R=6m</a:t>
            </a:r>
          </a:p>
        </p:txBody>
      </p:sp>
      <p:sp>
        <p:nvSpPr>
          <p:cNvPr id="42" name="Polygon 42"/>
          <p:cNvSpPr/>
          <p:nvPr/>
        </p:nvSpPr>
        <p:spPr>
          <a:xfrm>
            <a:off x="7837170" y="32099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084820" y="1533525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989570" y="2247900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989570" y="2247900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132445" y="2460625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空间整合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32445" y="29146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Alpha Shape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132445" y="33432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边界距离≤2m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2445" y="377190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归并相邻簇</a:t>
            </a:r>
          </a:p>
        </p:txBody>
      </p:sp>
      <p:sp>
        <p:nvSpPr>
          <p:cNvPr id="50" name="Polygon 50"/>
          <p:cNvSpPr/>
          <p:nvPr/>
        </p:nvSpPr>
        <p:spPr>
          <a:xfrm>
            <a:off x="9805035" y="32099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052685" y="1533525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957435" y="2247900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9957435" y="2247900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100310" y="2460625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边界修正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100310" y="29146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点云格网0.5m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100310" y="33432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0.30m / 2m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100310" y="377190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连续且不重叠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2793682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空间特征量化：六项指标与计算口径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指标由二维形态拓展至三维围合与视域；AR、H0及代表点选择须复核。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资料：1010表1与原始公式；提纲5.1–5.2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3429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1547"/>
                <a:gridCol w="4169245"/>
                <a:gridCol w="2978033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计算表达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空间含义／口径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形状指数 SI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l-GR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(2√(πA))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边界复杂程度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边界可通行率 BPR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 / P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可通行界面比例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4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可活动空间率 AR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Aact / A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活动面积比例；文字定义待统一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绿化覆盖率 VG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Aveg / A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植被投影面积占比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空间围合度 ED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Σ(Lb×W)/P；W=min(Hb/H0,1)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边界长度与高度；H0待补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局部视域开放率 LIOR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Avis / Avalid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代表点15m内有效可视比例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2793682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关系模型：两组平行NB-GLMM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两类单元平行建模：活动人数为因变量，六指标为固定效应，公园ID为随机截距；解释关联。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资料：1010人群活动相关空间特征解析；提纲6.1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85975" y="1762125"/>
            <a:ext cx="2905125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410200" y="1762125"/>
            <a:ext cx="3200400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9020175" y="1762125"/>
            <a:ext cx="2714625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286000" y="1920875"/>
            <a:ext cx="25146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模型输入</a:t>
            </a:r>
          </a:p>
        </p:txBody>
      </p:sp>
      <p:sp>
        <p:nvSpPr>
          <p:cNvPr id="22" name="Ellipse 22"/>
          <p:cNvSpPr/>
          <p:nvPr/>
        </p:nvSpPr>
        <p:spPr>
          <a:xfrm>
            <a:off x="2295525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495550" y="2460625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因变量：活动人数</a:t>
            </a:r>
          </a:p>
        </p:txBody>
      </p:sp>
      <p:sp>
        <p:nvSpPr>
          <p:cNvPr id="24" name="Ellipse 24"/>
          <p:cNvSpPr/>
          <p:nvPr/>
        </p:nvSpPr>
        <p:spPr>
          <a:xfrm>
            <a:off x="2295525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495550" y="2938780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固定效应：六项指标</a:t>
            </a:r>
          </a:p>
        </p:txBody>
      </p:sp>
      <p:sp>
        <p:nvSpPr>
          <p:cNvPr id="26" name="Ellipse 26"/>
          <p:cNvSpPr/>
          <p:nvPr/>
        </p:nvSpPr>
        <p:spPr>
          <a:xfrm>
            <a:off x="2295525" y="35280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495550" y="3416935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两类单元平行建模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38800" y="1908175"/>
            <a:ext cx="2762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NB-GLMM</a:t>
            </a:r>
          </a:p>
        </p:txBody>
      </p:sp>
      <p:sp>
        <p:nvSpPr>
          <p:cNvPr id="29" name="Ellipse 29"/>
          <p:cNvSpPr/>
          <p:nvPr/>
        </p:nvSpPr>
        <p:spPr>
          <a:xfrm>
            <a:off x="5648325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848350" y="2460625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负二项计数关系模型</a:t>
            </a:r>
          </a:p>
        </p:txBody>
      </p:sp>
      <p:sp>
        <p:nvSpPr>
          <p:cNvPr id="31" name="Ellipse 31"/>
          <p:cNvSpPr/>
          <p:nvPr/>
        </p:nvSpPr>
        <p:spPr>
          <a:xfrm>
            <a:off x="5648325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848350" y="2938780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公园ID：随机截距</a:t>
            </a:r>
          </a:p>
        </p:txBody>
      </p:sp>
      <p:sp>
        <p:nvSpPr>
          <p:cNvPr id="33" name="Ellipse 33"/>
          <p:cNvSpPr/>
          <p:nvPr/>
        </p:nvSpPr>
        <p:spPr>
          <a:xfrm>
            <a:off x="5648325" y="35280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48350" y="3416935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控制公园间异质性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29725" y="1920875"/>
            <a:ext cx="22860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36" name="Ellipse 36"/>
          <p:cNvSpPr/>
          <p:nvPr/>
        </p:nvSpPr>
        <p:spPr>
          <a:xfrm>
            <a:off x="9239250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439275" y="247332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IRR及95% CI</a:t>
            </a:r>
          </a:p>
        </p:txBody>
      </p:sp>
      <p:sp>
        <p:nvSpPr>
          <p:cNvPr id="38" name="Ellipse 38"/>
          <p:cNvSpPr/>
          <p:nvPr/>
        </p:nvSpPr>
        <p:spPr>
          <a:xfrm>
            <a:off x="9239250" y="303657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439275" y="293814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IRR&gt;1／&lt;1：方向</a:t>
            </a:r>
          </a:p>
        </p:txBody>
      </p:sp>
      <p:sp>
        <p:nvSpPr>
          <p:cNvPr id="40" name="Ellipse 40"/>
          <p:cNvSpPr/>
          <p:nvPr/>
        </p:nvSpPr>
        <p:spPr>
          <a:xfrm>
            <a:off x="9239250" y="350139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439275" y="340296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CI不跨1：显著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12239" y="300355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31739" y="300355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457450" y="4968875"/>
            <a:ext cx="8763000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23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log(μij) = β0 + Σ βk Xk,ij + uj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0" y="3585686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04 / 论文提纲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论文提纲：第一至第三章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严格保留原章名和二级节名；三级标题完整保留于随附《论文完整提纲》，不改动研究框架。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资料：大论文提纲全部章节；完整层级见随附文档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00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第一章 绪论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19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1.1 研究背景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19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1.2 研究目的与意义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9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1.3 国内外研究综述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19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1.4 研究内容与方法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0275" y="33083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第三章 研究区域概况与数据处理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9325" y="36036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3.1 研究对象的选取依据与概况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19325" y="38608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3.2 数据来源与处理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9325" y="41179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3.3 本章小结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53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第二章 相关理论基础与研究框架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72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2.1 核心概念界定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72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2.2 人群活动与绿地空间关系的理论基础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72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2.3 空间特征指标提取及量化基础方法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72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2.4 研究问题与分析框架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72325" y="2994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2.5 本章小结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0" y="3585686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04 / 论文提纲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论文提纲：第四至第七章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严格保留原章名和二级节名；三级标题完整保留于随附《论文完整提纲》，不改动研究框架。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资料：大论文提纲全部章节；完整层级见随附文档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00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第四章 基于人群分布的活动单元识别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19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4.1 活动人群识别模型构建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19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4.2 活动单元识别方法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9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4.3 活动单元结果分析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19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4.4 活动单元识别有效性验证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19325" y="2994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4.5 活动单元与功能分区的空间差异对比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9325" y="32512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4.6 本章小结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00275" y="382270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第五章 社区绿地空间特征的量化与评价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9325" y="41179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5.1 空间特征指标体系构建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19325" y="43751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5.2 空间特征量化方法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19325" y="4632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5.3 基于活动单元的空间特征量化结果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19325" y="4889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5.4 本章小结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44512" y="1670050"/>
            <a:ext cx="425829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第六章 活动单元空间特征解析及社区绿地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44512" y="1936750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优化策略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72325" y="2232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6.1 活动模型空间特征与活动人群关系模型构建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72325" y="24892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6.2 活动单元空间特征对活动人群的影响分析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2325" y="27463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6.3 基于活动单元的绿地优化策略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72325" y="30035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6.4 本章小结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53275" y="3575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第七章 结论与讨论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72325" y="3870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7.1 结论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72325" y="4127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7.2 研究创新点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72325" y="4384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7.3 研究不足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72325" y="4641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7.4 展望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72325" y="4899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4377690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识别结果：133个活动单元与四类空间关系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31个公园：118个功能分区、133个活动单元；内部多组型75个，划区与实际使用不完全一致。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Results 3.2；11+75+22+25=133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18" name="activity-types-chart"/>
          <p:cNvGraphicFramePr>
            <a:graphicFrameLocks noGrp="1"/>
          </p:cNvGraphicFramePr>
          <p:nvPr/>
        </p:nvGraphicFramePr>
        <p:xfrm>
          <a:off x="2276475" y="1724025"/>
          <a:ext cx="9048750" cy="356235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4377690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结果三：活动单元模型的IRR与95%CI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SI、BPR呈负向关联；AR、LIOR呈正向关联；VG、ED未达显著。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资料：1010表2；P值按原表类别呈现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85975" y="1724025"/>
            <a:ext cx="9648825" cy="3895725"/>
          </a:xfrm>
          <a:prstGeom prst="rect">
            <a:avLst/>
          </a:prstGeom>
          <a:solidFill>
            <a:srgbClr val="F7FA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314575" y="1793875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5450" y="1793875"/>
            <a:ext cx="2286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IRR（95% CI）</a:t>
            </a:r>
          </a:p>
        </p:txBody>
      </p:sp>
      <p:sp>
        <p:nvSpPr>
          <p:cNvPr id="21" name="Line 21"/>
          <p:cNvSpPr/>
          <p:nvPr/>
        </p:nvSpPr>
        <p:spPr>
          <a:xfrm>
            <a:off x="6569513" y="2124075"/>
            <a:ext cx="9525" cy="3152775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19050">
            <a:solidFill>
              <a:srgbClr val="AEBDB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324100" y="2219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SI</a:t>
            </a:r>
          </a:p>
        </p:txBody>
      </p:sp>
      <p:sp>
        <p:nvSpPr>
          <p:cNvPr id="23" name="Line 23"/>
          <p:cNvSpPr/>
          <p:nvPr/>
        </p:nvSpPr>
        <p:spPr>
          <a:xfrm>
            <a:off x="5215062" y="2381250"/>
            <a:ext cx="1144124" cy="9525"/>
          </a:xfrm>
          <a:custGeom>
            <a:avLst/>
            <a:gdLst/>
            <a:ahLst/>
            <a:cxnLst/>
            <a:rect l="l" t="t" r="r" b="b"/>
            <a:pathLst>
              <a:path w="1144124" h="9525">
                <a:moveTo>
                  <a:pt x="0" y="0"/>
                </a:moveTo>
                <a:lnTo>
                  <a:pt x="1144124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24" name="Line 24"/>
          <p:cNvSpPr/>
          <p:nvPr/>
        </p:nvSpPr>
        <p:spPr>
          <a:xfrm>
            <a:off x="5215062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5" name="Line 25"/>
          <p:cNvSpPr/>
          <p:nvPr/>
        </p:nvSpPr>
        <p:spPr>
          <a:xfrm>
            <a:off x="6359186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5722811" y="23145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15450" y="2270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0.641 [0.462, 0.887]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24100" y="27527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BPR</a:t>
            </a:r>
          </a:p>
        </p:txBody>
      </p:sp>
      <p:sp>
        <p:nvSpPr>
          <p:cNvPr id="29" name="Line 29"/>
          <p:cNvSpPr/>
          <p:nvPr/>
        </p:nvSpPr>
        <p:spPr>
          <a:xfrm>
            <a:off x="4820811" y="2914650"/>
            <a:ext cx="1432408" cy="9525"/>
          </a:xfrm>
          <a:custGeom>
            <a:avLst/>
            <a:gdLst/>
            <a:ahLst/>
            <a:cxnLst/>
            <a:rect l="l" t="t" r="r" b="b"/>
            <a:pathLst>
              <a:path w="1432408" h="9525">
                <a:moveTo>
                  <a:pt x="0" y="0"/>
                </a:moveTo>
                <a:lnTo>
                  <a:pt x="1432408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30" name="Line 30"/>
          <p:cNvSpPr/>
          <p:nvPr/>
        </p:nvSpPr>
        <p:spPr>
          <a:xfrm>
            <a:off x="4820811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1" name="Line 31"/>
          <p:cNvSpPr/>
          <p:nvPr/>
        </p:nvSpPr>
        <p:spPr>
          <a:xfrm>
            <a:off x="6253219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5470112" y="28479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15450" y="28035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0.555 [0.369, 0.835]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24100" y="32861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AR</a:t>
            </a:r>
          </a:p>
        </p:txBody>
      </p:sp>
      <p:sp>
        <p:nvSpPr>
          <p:cNvPr id="35" name="Line 35"/>
          <p:cNvSpPr/>
          <p:nvPr/>
        </p:nvSpPr>
        <p:spPr>
          <a:xfrm>
            <a:off x="6604248" y="3448050"/>
            <a:ext cx="1607896" cy="9525"/>
          </a:xfrm>
          <a:custGeom>
            <a:avLst/>
            <a:gdLst/>
            <a:ahLst/>
            <a:cxnLst/>
            <a:rect l="l" t="t" r="r" b="b"/>
            <a:pathLst>
              <a:path w="1607896" h="9525">
                <a:moveTo>
                  <a:pt x="0" y="0"/>
                </a:moveTo>
                <a:lnTo>
                  <a:pt x="1607896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36" name="Line 36"/>
          <p:cNvSpPr/>
          <p:nvPr/>
        </p:nvSpPr>
        <p:spPr>
          <a:xfrm>
            <a:off x="6604248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7" name="Line 37"/>
          <p:cNvSpPr/>
          <p:nvPr/>
        </p:nvSpPr>
        <p:spPr>
          <a:xfrm>
            <a:off x="8212143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7341394" y="33813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15450" y="33369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1.613 [1.020, 2.551]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24100" y="38195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VG</a:t>
            </a:r>
          </a:p>
        </p:txBody>
      </p:sp>
      <p:sp>
        <p:nvSpPr>
          <p:cNvPr id="41" name="Line 41"/>
          <p:cNvSpPr/>
          <p:nvPr/>
        </p:nvSpPr>
        <p:spPr>
          <a:xfrm>
            <a:off x="5772952" y="3981450"/>
            <a:ext cx="1111970" cy="9525"/>
          </a:xfrm>
          <a:custGeom>
            <a:avLst/>
            <a:gdLst/>
            <a:ahLst/>
            <a:cxnLst/>
            <a:rect l="l" t="t" r="r" b="b"/>
            <a:pathLst>
              <a:path w="1111970" h="9525">
                <a:moveTo>
                  <a:pt x="0" y="0"/>
                </a:moveTo>
                <a:lnTo>
                  <a:pt x="1111970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42" name="Line 42"/>
          <p:cNvSpPr/>
          <p:nvPr/>
        </p:nvSpPr>
        <p:spPr>
          <a:xfrm>
            <a:off x="5772952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3" name="Line 43"/>
          <p:cNvSpPr/>
          <p:nvPr/>
        </p:nvSpPr>
        <p:spPr>
          <a:xfrm>
            <a:off x="6884921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6262592" y="39147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315450" y="38703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0.872 [0.635, 1.197]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24100" y="43529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ED</a:t>
            </a:r>
          </a:p>
        </p:txBody>
      </p:sp>
      <p:sp>
        <p:nvSpPr>
          <p:cNvPr id="47" name="Line 47"/>
          <p:cNvSpPr/>
          <p:nvPr/>
        </p:nvSpPr>
        <p:spPr>
          <a:xfrm>
            <a:off x="5530426" y="4514850"/>
            <a:ext cx="1080687" cy="9525"/>
          </a:xfrm>
          <a:custGeom>
            <a:avLst/>
            <a:gdLst/>
            <a:ahLst/>
            <a:cxnLst/>
            <a:rect l="l" t="t" r="r" b="b"/>
            <a:pathLst>
              <a:path w="1080687" h="9525">
                <a:moveTo>
                  <a:pt x="0" y="0"/>
                </a:moveTo>
                <a:lnTo>
                  <a:pt x="1080687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48" name="Line 48"/>
          <p:cNvSpPr/>
          <p:nvPr/>
        </p:nvSpPr>
        <p:spPr>
          <a:xfrm>
            <a:off x="5530426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9" name="Line 49"/>
          <p:cNvSpPr/>
          <p:nvPr/>
        </p:nvSpPr>
        <p:spPr>
          <a:xfrm>
            <a:off x="6611113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6005227" y="44481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315450" y="44037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0.753 [0.553, 1.024]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24100" y="4886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LIOR</a:t>
            </a:r>
          </a:p>
        </p:txBody>
      </p:sp>
      <p:sp>
        <p:nvSpPr>
          <p:cNvPr id="53" name="Line 53"/>
          <p:cNvSpPr/>
          <p:nvPr/>
        </p:nvSpPr>
        <p:spPr>
          <a:xfrm>
            <a:off x="6699627" y="5048250"/>
            <a:ext cx="1165416" cy="9525"/>
          </a:xfrm>
          <a:custGeom>
            <a:avLst/>
            <a:gdLst/>
            <a:ahLst/>
            <a:cxnLst/>
            <a:rect l="l" t="t" r="r" b="b"/>
            <a:pathLst>
              <a:path w="1165416" h="9525">
                <a:moveTo>
                  <a:pt x="0" y="0"/>
                </a:moveTo>
                <a:lnTo>
                  <a:pt x="1165416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54" name="Line 54"/>
          <p:cNvSpPr/>
          <p:nvPr/>
        </p:nvSpPr>
        <p:spPr>
          <a:xfrm>
            <a:off x="6699627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55" name="Line 55"/>
          <p:cNvSpPr/>
          <p:nvPr/>
        </p:nvSpPr>
        <p:spPr>
          <a:xfrm>
            <a:off x="7865042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7215188" y="49815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9315450" y="4937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1.501 [1.077, 2.093]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981450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77457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93263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09069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524875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133600" y="1425575"/>
            <a:ext cx="95250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对数刻度；竖线IRR=1；深绿色：95% CI不跨1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4377690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结果四：功能分区模型的IRR与95%CI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BPR呈负向关联、AR呈正向关联；SI、VG、ED与LIOR均未达显著。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资料：1010表3；P值按原表类别呈现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85975" y="1724025"/>
            <a:ext cx="9648825" cy="3895725"/>
          </a:xfrm>
          <a:prstGeom prst="rect">
            <a:avLst/>
          </a:prstGeom>
          <a:solidFill>
            <a:srgbClr val="F7FA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314575" y="1793875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5450" y="1793875"/>
            <a:ext cx="2286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IRR（95% CI）</a:t>
            </a:r>
          </a:p>
        </p:txBody>
      </p:sp>
      <p:sp>
        <p:nvSpPr>
          <p:cNvPr id="21" name="Line 21"/>
          <p:cNvSpPr/>
          <p:nvPr/>
        </p:nvSpPr>
        <p:spPr>
          <a:xfrm>
            <a:off x="6569513" y="2124075"/>
            <a:ext cx="9525" cy="3152775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19050">
            <a:solidFill>
              <a:srgbClr val="AEBDB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324100" y="2219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SI</a:t>
            </a:r>
          </a:p>
        </p:txBody>
      </p:sp>
      <p:sp>
        <p:nvSpPr>
          <p:cNvPr id="23" name="Line 23"/>
          <p:cNvSpPr/>
          <p:nvPr/>
        </p:nvSpPr>
        <p:spPr>
          <a:xfrm>
            <a:off x="6288571" y="2381250"/>
            <a:ext cx="863593" cy="9525"/>
          </a:xfrm>
          <a:custGeom>
            <a:avLst/>
            <a:gdLst/>
            <a:ahLst/>
            <a:cxnLst/>
            <a:rect l="l" t="t" r="r" b="b"/>
            <a:pathLst>
              <a:path w="863593" h="9525">
                <a:moveTo>
                  <a:pt x="0" y="0"/>
                </a:moveTo>
                <a:lnTo>
                  <a:pt x="863593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24" name="Line 24"/>
          <p:cNvSpPr/>
          <p:nvPr/>
        </p:nvSpPr>
        <p:spPr>
          <a:xfrm>
            <a:off x="6288571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25" name="Line 25"/>
          <p:cNvSpPr/>
          <p:nvPr/>
        </p:nvSpPr>
        <p:spPr>
          <a:xfrm>
            <a:off x="7152164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6653974" y="23145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15450" y="2270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1.090 [0.852, 1.394]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24100" y="27527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BPR</a:t>
            </a:r>
          </a:p>
        </p:txBody>
      </p:sp>
      <p:sp>
        <p:nvSpPr>
          <p:cNvPr id="29" name="Line 29"/>
          <p:cNvSpPr/>
          <p:nvPr/>
        </p:nvSpPr>
        <p:spPr>
          <a:xfrm>
            <a:off x="5360709" y="2914650"/>
            <a:ext cx="970571" cy="9525"/>
          </a:xfrm>
          <a:custGeom>
            <a:avLst/>
            <a:gdLst/>
            <a:ahLst/>
            <a:cxnLst/>
            <a:rect l="l" t="t" r="r" b="b"/>
            <a:pathLst>
              <a:path w="970571" h="9525">
                <a:moveTo>
                  <a:pt x="0" y="0"/>
                </a:moveTo>
                <a:lnTo>
                  <a:pt x="970571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30" name="Line 30"/>
          <p:cNvSpPr/>
          <p:nvPr/>
        </p:nvSpPr>
        <p:spPr>
          <a:xfrm>
            <a:off x="5360709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1" name="Line 31"/>
          <p:cNvSpPr/>
          <p:nvPr/>
        </p:nvSpPr>
        <p:spPr>
          <a:xfrm>
            <a:off x="6331280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5779294" y="28479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15450" y="28035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0.662 [0.502, 0.873]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24100" y="32861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AR</a:t>
            </a:r>
          </a:p>
        </p:txBody>
      </p:sp>
      <p:sp>
        <p:nvSpPr>
          <p:cNvPr id="35" name="Line 35"/>
          <p:cNvSpPr/>
          <p:nvPr/>
        </p:nvSpPr>
        <p:spPr>
          <a:xfrm>
            <a:off x="7740011" y="3448050"/>
            <a:ext cx="1152582" cy="9525"/>
          </a:xfrm>
          <a:custGeom>
            <a:avLst/>
            <a:gdLst/>
            <a:ahLst/>
            <a:cxnLst/>
            <a:rect l="l" t="t" r="r" b="b"/>
            <a:pathLst>
              <a:path w="1152582" h="9525">
                <a:moveTo>
                  <a:pt x="0" y="0"/>
                </a:moveTo>
                <a:lnTo>
                  <a:pt x="1152582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36" name="Line 36"/>
          <p:cNvSpPr/>
          <p:nvPr/>
        </p:nvSpPr>
        <p:spPr>
          <a:xfrm>
            <a:off x="7740011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7" name="Line 37"/>
          <p:cNvSpPr/>
          <p:nvPr/>
        </p:nvSpPr>
        <p:spPr>
          <a:xfrm>
            <a:off x="8892593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8249602" y="33813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15450" y="33369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2.707 [1.949, 3.760]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24100" y="38195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VG</a:t>
            </a:r>
          </a:p>
        </p:txBody>
      </p:sp>
      <p:sp>
        <p:nvSpPr>
          <p:cNvPr id="41" name="Line 41"/>
          <p:cNvSpPr/>
          <p:nvPr/>
        </p:nvSpPr>
        <p:spPr>
          <a:xfrm>
            <a:off x="6219282" y="3981450"/>
            <a:ext cx="936653" cy="9525"/>
          </a:xfrm>
          <a:custGeom>
            <a:avLst/>
            <a:gdLst/>
            <a:ahLst/>
            <a:cxnLst/>
            <a:rect l="l" t="t" r="r" b="b"/>
            <a:pathLst>
              <a:path w="936653" h="9525">
                <a:moveTo>
                  <a:pt x="0" y="0"/>
                </a:moveTo>
                <a:lnTo>
                  <a:pt x="936653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42" name="Line 42"/>
          <p:cNvSpPr/>
          <p:nvPr/>
        </p:nvSpPr>
        <p:spPr>
          <a:xfrm>
            <a:off x="6219282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3" name="Line 43"/>
          <p:cNvSpPr/>
          <p:nvPr/>
        </p:nvSpPr>
        <p:spPr>
          <a:xfrm>
            <a:off x="7155935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6621494" y="39147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315450" y="38703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1.070 [0.819, 1.397]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24100" y="43529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ED</a:t>
            </a:r>
          </a:p>
        </p:txBody>
      </p:sp>
      <p:sp>
        <p:nvSpPr>
          <p:cNvPr id="47" name="Line 47"/>
          <p:cNvSpPr/>
          <p:nvPr/>
        </p:nvSpPr>
        <p:spPr>
          <a:xfrm>
            <a:off x="5880102" y="4514850"/>
            <a:ext cx="906887" cy="9525"/>
          </a:xfrm>
          <a:custGeom>
            <a:avLst/>
            <a:gdLst/>
            <a:ahLst/>
            <a:cxnLst/>
            <a:rect l="l" t="t" r="r" b="b"/>
            <a:pathLst>
              <a:path w="906887" h="9525">
                <a:moveTo>
                  <a:pt x="0" y="0"/>
                </a:moveTo>
                <a:lnTo>
                  <a:pt x="906887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48" name="Line 48"/>
          <p:cNvSpPr/>
          <p:nvPr/>
        </p:nvSpPr>
        <p:spPr>
          <a:xfrm>
            <a:off x="5880102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9" name="Line 49"/>
          <p:cNvSpPr/>
          <p:nvPr/>
        </p:nvSpPr>
        <p:spPr>
          <a:xfrm>
            <a:off x="6786989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6266593" y="44481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315450" y="44037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0.874 [0.675, 1.132]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24100" y="4886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LIOR</a:t>
            </a:r>
          </a:p>
        </p:txBody>
      </p:sp>
      <p:sp>
        <p:nvSpPr>
          <p:cNvPr id="53" name="Line 53"/>
          <p:cNvSpPr/>
          <p:nvPr/>
        </p:nvSpPr>
        <p:spPr>
          <a:xfrm>
            <a:off x="6038992" y="5048250"/>
            <a:ext cx="822326" cy="9525"/>
          </a:xfrm>
          <a:custGeom>
            <a:avLst/>
            <a:gdLst/>
            <a:ahLst/>
            <a:cxnLst/>
            <a:rect l="l" t="t" r="r" b="b"/>
            <a:pathLst>
              <a:path w="822326" h="9525">
                <a:moveTo>
                  <a:pt x="0" y="0"/>
                </a:moveTo>
                <a:lnTo>
                  <a:pt x="822326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54" name="Line 54"/>
          <p:cNvSpPr/>
          <p:nvPr/>
        </p:nvSpPr>
        <p:spPr>
          <a:xfrm>
            <a:off x="6038992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55" name="Line 55"/>
          <p:cNvSpPr/>
          <p:nvPr/>
        </p:nvSpPr>
        <p:spPr>
          <a:xfrm>
            <a:off x="6861317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6384988" y="49815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9315450" y="4937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0.935 [0.739, 1.181]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981450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77457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93263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09069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524875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133600" y="1425575"/>
            <a:ext cx="95250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对数刻度；竖线IRR=1；深绿色：95% CI不跨1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4377690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结果五：划分方式的影响具有指标差异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SI、LIOR显著性随划分方式改变；不等于两组系数差异已显著。结果为关联，优化效果尚待验证。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资料：1010表2–3；Discussion 4.2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35280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16250"/>
                <a:gridCol w="2043281"/>
                <a:gridCol w="3405467"/>
                <a:gridCol w="2383827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活动单元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功能分区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阶段性发现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负向显著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边界形态可能对划分敏感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BPR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负向显著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负向显著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两类单元关联方向一致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两类单元关联方向一致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VG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未发现总体显著关联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不能把不显著等同于无作用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en-US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LIOR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不显著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局部视觉条件可能对位置敏感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0" y="5169694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06 / 未来工作安排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未来任务：优先补齐关键证据链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以可复核数据和图件为完成标志；扩展采集视时间与资源安排开展。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资料：提纲4–7；1010局限与缺项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18" name="data-table"/>
          <p:cNvGraphicFramePr>
            <a:graphicFrameLocks noGrp="1"/>
          </p:cNvGraphicFramePr>
          <p:nvPr/>
        </p:nvGraphicFramePr>
        <p:xfrm>
          <a:off x="2085975" y="1743075"/>
          <a:ext cx="9648825" cy="33070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1547"/>
                <a:gridCol w="4169245"/>
                <a:gridCol w="2978033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具体任务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可检查的交付物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补齐一致性及随机对照检验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检验统计表、方法说明、结果图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复核参数与指标计算口径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R/D敏感性附录；AR统一定义</a:t>
                      </a:r>
                    </a:p>
                  </a:txBody>
                  <a:tcPr anchor="ctr" marL="114300" marR="114300" marT="76200" marB="762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完善全量数据与真实空间图件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单元指标/人数表；区位/边界/案例图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完善策略与论文七章写作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策略论证、章节稿、图表与引用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条件允许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补充季节及群体差异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夏秋观测；年龄/活动类型分析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active-navigation"/>
          <p:cNvGrpSpPr/>
          <p:nvPr/>
        </p:nvGrpSpPr>
        <p:grpSpPr>
          <a:xfrm>
            <a:off x="0" y="1076325"/>
            <a:ext cx="1691640" cy="5143500"/>
            <a:chOff x="0" y="1076325"/>
            <a:chExt cx="1691640" cy="5143500"/>
          </a:xfrm>
        </p:grpSpPr>
        <p:sp>
          <p:nvSpPr>
            <p:cNvPr id="2" name="Rectangle 2"/>
            <p:cNvSpPr/>
            <p:nvPr/>
          </p:nvSpPr>
          <p:spPr>
            <a:xfrm>
              <a:off x="0" y="1076325"/>
              <a:ext cx="1691640" cy="5143500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720" y="1327150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总体研究进度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720" y="2119154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数据采集情况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" y="2911158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研究方法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720" y="3703161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论文提纲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20" y="4495165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阶段性研究结果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0" y="5169694"/>
              <a:ext cx="169164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720" y="5287169"/>
              <a:ext cx="1600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6145"/>
                  </a:solidFill>
                  <a:latin typeface="Microsoft YaHei"/>
                  <a:ea typeface="Microsoft YaHei"/>
                  <a:cs typeface="Microsoft YaHei"/>
                </a:rPr>
                <a:t>未来工作安排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06 / 未来工作安排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建议时间安排：按交付物推进</a:t>
            </a: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963025" y="400050"/>
            <a:ext cx="276225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A47D34"/>
                </a:solidFill>
                <a:latin typeface="Microsoft YaHei"/>
                <a:ea typeface="Microsoft YaHei"/>
                <a:cs typeface="Microsoft YaHei"/>
              </a:rPr>
              <a:t>建议计划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85975" y="5800725"/>
            <a:ext cx="9648825" cy="5905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238375" y="5889625"/>
            <a:ext cx="93345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建议计划：T为中期检查后启动日；正式日期需结合学校节点与导师意见确定。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85975" y="6470650"/>
            <a:ext cx="897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资料：基于材料缺项拟定的后续计划（非既定日程）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7050" y="6467475"/>
            <a:ext cx="104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00275" y="1520825"/>
            <a:ext cx="93345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建议相对时间轴（未提供学校固定截止日期）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85975" y="2009775"/>
            <a:ext cx="1638300" cy="6572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109788" y="2203450"/>
            <a:ext cx="1590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T+1–2周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886200" y="2009775"/>
            <a:ext cx="7848600" cy="65722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076700" y="2070100"/>
            <a:ext cx="7048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证据与口径核查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76700" y="2365375"/>
            <a:ext cx="7143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验证统计／敏感性附录／AR口径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085975" y="2886075"/>
            <a:ext cx="1638300" cy="6572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09788" y="3079750"/>
            <a:ext cx="1590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T+3–4周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886200" y="2886075"/>
            <a:ext cx="7848600" cy="65722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076700" y="2946400"/>
            <a:ext cx="7048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空间图件与指标复核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76700" y="3241675"/>
            <a:ext cx="7143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样本与单元图／人数和指标表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085975" y="3762375"/>
            <a:ext cx="1638300" cy="6572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109788" y="3956050"/>
            <a:ext cx="1590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T+5–6周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86200" y="3762375"/>
            <a:ext cx="7848600" cy="65722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076700" y="3822700"/>
            <a:ext cx="7048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模型解释与策略完善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076700" y="4117975"/>
            <a:ext cx="7143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诊断案例／模型报告／策略论证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085975" y="4638675"/>
            <a:ext cx="1638300" cy="6572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109788" y="4832350"/>
            <a:ext cx="1590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T+7–8周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886200" y="4638675"/>
            <a:ext cx="7848600" cy="657225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076700" y="4699000"/>
            <a:ext cx="7048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论文整合与修改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76700" y="4994275"/>
            <a:ext cx="7143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七章初稿／图表引用／导师反馈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淘宝-想搞设计PPT(倒卖必究)-21"/>
          <p:cNvSpPr txBox="1"/>
          <p:nvPr/>
        </p:nvSpPr>
        <p:spPr>
          <a:xfrm>
            <a:off x="1846580" y="2503805"/>
            <a:ext cx="895540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4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敬请老师批评指正</a:t>
            </a:r>
            <a:endParaRPr lang="zh-CN" altLang="en-US" sz="74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Picture 59" descr="南京林业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950" y="631699"/>
            <a:ext cx="3941994" cy="992083"/>
          </a:xfrm>
          <a:prstGeom prst="rect">
            <a:avLst/>
          </a:prstGeom>
        </p:spPr>
      </p:pic>
      <p:sp>
        <p:nvSpPr>
          <p:cNvPr id="2" name="淘宝-想搞设计PPT(倒卖必究)-6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淘宝-想搞设计PPT(倒卖必究)-4"/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-444500" y="4914265"/>
            <a:ext cx="13081000" cy="2680335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淘宝-想搞设计PPT(倒卖必究)-25"/>
          <p:cNvSpPr txBox="1"/>
          <p:nvPr>
            <p:custDataLst>
              <p:tags r:id="rId2"/>
            </p:custDataLst>
          </p:nvPr>
        </p:nvSpPr>
        <p:spPr>
          <a:xfrm>
            <a:off x="337820" y="5957570"/>
            <a:ext cx="2673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院：风景园林学院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淘宝-想搞设计PPT(倒卖必究)-25"/>
          <p:cNvSpPr txBox="1"/>
          <p:nvPr>
            <p:custDataLst>
              <p:tags r:id="rId3"/>
            </p:custDataLst>
          </p:nvPr>
        </p:nvSpPr>
        <p:spPr>
          <a:xfrm>
            <a:off x="364744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业：风景园林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淘宝-想搞设计PPT(倒卖必究)-25"/>
          <p:cNvSpPr txBox="1"/>
          <p:nvPr>
            <p:custDataLst>
              <p:tags r:id="rId4"/>
            </p:custDataLst>
          </p:nvPr>
        </p:nvSpPr>
        <p:spPr>
          <a:xfrm>
            <a:off x="655193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答辩人：汤若堃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淘宝-想搞设计PPT(倒卖必究)-25"/>
          <p:cNvSpPr txBox="1"/>
          <p:nvPr>
            <p:custDataLst>
              <p:tags r:id="rId5"/>
            </p:custDataLst>
          </p:nvPr>
        </p:nvSpPr>
        <p:spPr>
          <a:xfrm>
            <a:off x="9281795" y="5957570"/>
            <a:ext cx="252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师：陈硕蕾老师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  <p:bldLst>
      <p:bldP spid="21" grpId="0"/>
    </p:bldLst>
  </p:timing>
</p:sld>
</file>

<file path=ppt/tags/tag1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3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4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5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6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7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8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9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0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1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2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3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4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5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6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7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18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19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0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1.xml><?xml version="1.0" encoding="utf-8"?>
<p:tagLst xmlns:p="http://schemas.openxmlformats.org/presentationml/2006/main">
  <p:tag name="COMMONDATA" val="eyJoZGlkIjoiYjNkNDYxMmIwNmM5NTY2OTdkODYxNGM2OGY2YmI2OG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304</ns0:Words>
  <ns0:Application>WPS 演示</ns0:Application>
  <ns0:PresentationFormat>宽屏</ns0:PresentationFormat>
  <ns0:Paragraphs>60</ns0:Paragraphs>
  <ns0:Slides>18</ns0:Slides>
  <ns0:Notes>17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9</ns1:i4>
      </ns1:variant>
    </ns1:vector>
  </ns0:HeadingPairs>
  <ns0:TitlesOfParts>
    <ns1:vector size="24" baseType="lpstr">
      <ns1:lpstr>Arial</ns1:lpstr>
      <ns1:lpstr>宋体</ns1:lpstr>
      <ns1:lpstr>Wingdings</ns1:lpstr>
      <ns1:lpstr>微软雅黑</ns1:lpstr>
      <ns1:lpstr>仿宋_GB2312</ns1:lpstr>
      <ns1:lpstr>仿宋</ns1:lpstr>
      <ns1:lpstr>华文隶书</ns1:lpstr>
      <ns1:lpstr>Impact</ns1:lpstr>
      <ns1:lpstr>Aharoni</ns1:lpstr>
      <ns1:lpstr>Yu Gothic UI Semibold</ns1:lpstr>
      <ns1:lpstr>等线</ns1:lpstr>
      <ns1:lpstr>Arial Unicode MS</ns1:lpstr>
      <ns1:lpstr>等线 Light</ns1:lpstr>
      <ns1:lpstr>Calibri</ns1:lpstr>
      <ns1:lpstr>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汤若堃</cp:lastModifiedBy>
  <cp:revision>297</cp:revision>
  <dcterms:created xsi:type="dcterms:W3CDTF">2019-03-06T05:17:00Z</dcterms:created>
  <dcterms:modified xsi:type="dcterms:W3CDTF">2026-10-11T12:41:05Z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2D3F3C877DDC442C9DAF184B3BA0216D_13</vt:lpwstr>
  </property>
  <property fmtid="{D5CDD505-2E9C-101B-9397-08002B2CF9AE}" pid="3" name="KSOProductBuildVer">
    <vt:lpwstr>2052-12.1.0.28043</vt:lpwstr>
  </property>
</Properties>
</file>